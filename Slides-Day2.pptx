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0" r:id="rId3"/>
    <p:sldId id="263" r:id="rId4"/>
    <p:sldId id="264" r:id="rId5"/>
    <p:sldId id="265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64" d="100"/>
          <a:sy n="64" d="100"/>
        </p:scale>
        <p:origin x="177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30E2BB-20E6-0956-B616-F8614FD3E2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96F44E-2110-E3ED-1204-3FF28E5B81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BF0E85-5CA9-8FB6-67A5-41AC48F5E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08682-F225-87A0-C1D4-379BBF5411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A1E74-1940-6F7C-D67B-4B6D0AAC31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4007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5B07B-D227-A285-7724-DA284819B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D2E3F-0726-2B54-DC8B-3742FD053E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7F692-BC87-A235-493D-DFC63A187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88A945-E39C-E88B-2976-99A570A4E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ED4097-DD67-9F00-913A-13A3A0E3FF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4604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9F9BA-8650-5EC6-0F29-C8DB70A82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B02C07-032F-BBDC-2E2A-3CC2F162C8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00128-E977-C08D-8116-39D9A67F03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F61D3D-BD60-96D3-B37A-D56BD7524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48EC03-32BD-9F7A-58FD-9948BFDAD5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133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19CBD-6F94-2F0A-F6F7-D4266C0111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33851-1F24-C304-3CFB-8395362982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213CD2-FAFC-4987-9110-46A9F06E1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F9F100-E6B5-AC68-4FE7-039EC33245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35D4E-D334-185E-1834-41C16F81DF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FA161E-739F-CDFA-FA0D-8D561332EB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2126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3C4C38-B07C-64B6-8D41-F203F5B40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53FF04-124B-36BF-5515-BB2E0C6C6A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1B8F87-043C-0B58-A2EE-EF577D1A616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61D101-41BD-22AE-935C-0D328AFF57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423B19-1419-62F2-C40E-65A1A91572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569A519-F5AC-1757-7C00-8C030AAE2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FB47A0-94D5-197F-739D-D172BB6859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2CDA654-C9B0-3652-DAEA-7D22099DD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76719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E1256-B08A-0FB8-EFB5-A15C8FE9C0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19A16B-3F98-983D-D98C-0EE3D5D63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3F83A9-59AC-315F-AFB9-732632321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248D6B-8074-3C29-6A1D-4B71A0AA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831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9E3971-070E-BDCB-A62C-54C729BF6F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EF875B-2F68-2130-F747-6E0D870E7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95F536-AA1E-B46F-4D69-600C109F3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3223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8FF891-DE41-7EB8-2FF9-7CE6738E0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0D73BB-0578-CB9F-52F7-6F92429E5F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EFC085-198C-E876-2F6F-0E3984A68A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3E52EB-1185-7831-9BF2-3F75ECF46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C3BF32-17C6-C45D-E35D-12D754FE9C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287CAC7-6E6C-2A1B-6662-AA2A2D473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03241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2F174E-2EC1-FE2B-23E6-EEBA332EF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BAE9D2B-8F10-E570-6AA2-9005CCCCCB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3BB990-549D-32B9-A44B-D363BD126E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B37EB96-1423-9B8F-9103-3BFAB9F844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A23C72-9519-023B-6578-913613F17C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E5F21B-2381-A0D7-6FE1-3AFA83C47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351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1F72F-7D73-E9A7-A054-03E6DBE4AF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BE10C7-5219-326D-EB47-3C1AF5035D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457E5-DDB9-15CE-FBF5-5E1A66486D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1E55EF-1556-96C2-4263-D427DA1D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A212C-B5FA-CE2C-96A6-178C2916A6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5304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ED0CE7-DC28-2C2C-5B28-9F104A9AB8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25F80D-1747-5A22-92A6-FBBF976F03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A41304-0E41-DD11-9738-C91035E2B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0AD9F9-261F-13B3-CE6D-D064092AB3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CE0C96-F0D5-DD0D-DA33-764FE8A6D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866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6F8199E-6D30-F850-391E-D4F7153285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5C7E5-4EC7-8EBC-7A44-1A895030C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4C0EFF-C0CE-7D0C-6CC5-A28F0BC40A6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989C08-BA69-4AD3-98E9-D53C63F6E1B1}" type="datetimeFigureOut">
              <a:rPr lang="en-US" smtClean="0"/>
              <a:t>3/8/2025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348B3E-3497-73AD-4083-286A12425D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6BD70E-84F0-E72A-2386-9CDC39949D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130911-4412-46A4-9A4B-B11E804AFF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10065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234ED57C-5D50-6FB0-386A-B1C0BAF5E5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FFBEF78-6835-9381-046A-65D3362579B3}"/>
              </a:ext>
            </a:extLst>
          </p:cNvPr>
          <p:cNvSpPr txBox="1"/>
          <p:nvPr/>
        </p:nvSpPr>
        <p:spPr>
          <a:xfrm>
            <a:off x="604266" y="136955"/>
            <a:ext cx="109278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Day 2: Secure Coding Practices &amp; Data Structures</a:t>
            </a:r>
            <a:endParaRPr lang="en-US" sz="3600" dirty="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A35BB2-B247-A830-CD48-8D50E0ACDB9D}"/>
              </a:ext>
            </a:extLst>
          </p:cNvPr>
          <p:cNvSpPr txBox="1"/>
          <p:nvPr/>
        </p:nvSpPr>
        <p:spPr>
          <a:xfrm>
            <a:off x="604267" y="1221698"/>
            <a:ext cx="1032356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Loops, Lists, Tuples, and Dictionaries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structures and secure programming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Data Handling: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best practices for handling sensitive information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input validation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data sanitization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randomization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Functions, Modules, Classes, and Exceptions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design principles in modular programming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Error Handling: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Avoiding information leakage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Logging errors securely</a:t>
            </a:r>
          </a:p>
        </p:txBody>
      </p:sp>
    </p:spTree>
    <p:extLst>
      <p:ext uri="{BB962C8B-B14F-4D97-AF65-F5344CB8AC3E}">
        <p14:creationId xmlns:p14="http://schemas.microsoft.com/office/powerpoint/2010/main" val="11719068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27252-E975-9FC8-258E-A73B3830B1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8DEEC2F5-56A7-B695-B5F6-459783C1C0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9881" y="-116295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6E05592-F352-416E-AA02-F64ACB2D6B5E}"/>
              </a:ext>
            </a:extLst>
          </p:cNvPr>
          <p:cNvSpPr txBox="1"/>
          <p:nvPr/>
        </p:nvSpPr>
        <p:spPr>
          <a:xfrm>
            <a:off x="589277" y="-110431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Iteration Practices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633B80-D681-05C8-937E-80D895C6C127}"/>
              </a:ext>
            </a:extLst>
          </p:cNvPr>
          <p:cNvSpPr txBox="1"/>
          <p:nvPr/>
        </p:nvSpPr>
        <p:spPr>
          <a:xfrm>
            <a:off x="589277" y="535900"/>
            <a:ext cx="11422842" cy="57861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1775" lvl="1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Avoid Infinite Loops and Ensure Proper Termination</a:t>
            </a:r>
          </a:p>
          <a:p>
            <a:pPr marL="231775" lvl="1" indent="-231775">
              <a:buFont typeface="Arial" panose="020B0604020202020204" pitchFamily="34" charset="0"/>
              <a:buChar char="•"/>
            </a:pPr>
            <a:endParaRPr lang="en-US" sz="24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31775" lvl="1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Infinite loops can cause a program to become unresponsive, consume excessive system resources, or create security vulnerabilities such as denial-of-service (DoS) risks. </a:t>
            </a:r>
          </a:p>
          <a:p>
            <a:pPr marL="231775" lvl="1" indent="-231775">
              <a:buFont typeface="Arial" panose="020B0604020202020204" pitchFamily="34" charset="0"/>
              <a:buChar char="•"/>
            </a:pPr>
            <a:endParaRPr lang="en-US" sz="24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31775" lvl="1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To ensure proper termination of loops, follow these best practices:</a:t>
            </a:r>
          </a:p>
          <a:p>
            <a:pPr marL="231775" lvl="1" indent="-231775">
              <a:buFont typeface="Arial" panose="020B0604020202020204" pitchFamily="34" charset="0"/>
              <a:buChar char="•"/>
            </a:pPr>
            <a:endParaRPr lang="en-US" sz="24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31775" lvl="1" indent="-2317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Explicit Loop Conditions: ensure loops have well-defined termination conditions.</a:t>
            </a:r>
          </a:p>
          <a:p>
            <a:pPr marL="231775" lvl="1" indent="-231775">
              <a:buFont typeface="Arial" panose="020B0604020202020204" pitchFamily="34" charset="0"/>
              <a:buChar char="•"/>
            </a:pPr>
            <a:endParaRPr lang="en-US" sz="10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count = 0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while count &lt; 10:  # Proper termination condition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print(count)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count += 1  # Ensuring progress towards termination</a:t>
            </a: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4772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256B82-5655-80DC-B95E-BB3147A9B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03607B2A-90F3-C259-916F-6E23284FA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23838" y="-352269"/>
            <a:ext cx="12192000" cy="686711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8D5220-DB27-992D-3281-C3574B62771B}"/>
              </a:ext>
            </a:extLst>
          </p:cNvPr>
          <p:cNvSpPr txBox="1"/>
          <p:nvPr/>
        </p:nvSpPr>
        <p:spPr>
          <a:xfrm>
            <a:off x="776653" y="-68494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Iteration Practices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825409-4923-2548-3BC3-99C4029F2471}"/>
              </a:ext>
            </a:extLst>
          </p:cNvPr>
          <p:cNvSpPr txBox="1"/>
          <p:nvPr/>
        </p:nvSpPr>
        <p:spPr>
          <a:xfrm>
            <a:off x="776653" y="601685"/>
            <a:ext cx="11155517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4163" lvl="1" indent="-282575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Avoid Using while True Without a Break Condition</a:t>
            </a:r>
          </a:p>
          <a:p>
            <a:pPr lvl="1"/>
            <a:endParaRPr lang="en-US" sz="24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while True: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user_input = input("Enter 'exit' to stop: ")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if user_input.lower() == 'exit':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    break  # Ensure termination</a:t>
            </a:r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12907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FFF4A-D725-A5AD-5084-9FED149DEA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429554FA-A0B1-BED0-CE63-C900E18F46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6565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E6327D3-7C70-ECA1-AE3E-ED235635765E}"/>
              </a:ext>
            </a:extLst>
          </p:cNvPr>
          <p:cNvSpPr txBox="1"/>
          <p:nvPr/>
        </p:nvSpPr>
        <p:spPr>
          <a:xfrm>
            <a:off x="776652" y="-50812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Iteration Practices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0FDFBA-5990-4792-5F3E-62939E91F250}"/>
              </a:ext>
            </a:extLst>
          </p:cNvPr>
          <p:cNvSpPr txBox="1"/>
          <p:nvPr/>
        </p:nvSpPr>
        <p:spPr>
          <a:xfrm>
            <a:off x="810380" y="680430"/>
            <a:ext cx="10323564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1775" lvl="1" indent="-230188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When processing user input or external data, avoid infinite loops by implementing timeouts or iteration limits.</a:t>
            </a:r>
          </a:p>
          <a:p>
            <a:pPr lvl="1"/>
            <a:endParaRPr lang="en-US" sz="24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import time</a:t>
            </a: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start_time = time.time()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timeout = 5  # seconds</a:t>
            </a: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while time.time() - start_time &lt; timeout: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if some_condition():  # Replace with actual condition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    break</a:t>
            </a:r>
          </a:p>
          <a:p>
            <a:pPr lvl="1"/>
            <a:endParaRPr lang="en-US" sz="24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endParaRPr lang="en-US" sz="24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0145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B32ED-9C55-13BC-E694-1F94CEBD0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CFF4FFB4-165E-7AE3-C1F5-BF62A8C5D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745C227-D9C6-33AF-9513-8684A978EFD2}"/>
              </a:ext>
            </a:extLst>
          </p:cNvPr>
          <p:cNvSpPr txBox="1"/>
          <p:nvPr/>
        </p:nvSpPr>
        <p:spPr>
          <a:xfrm>
            <a:off x="776653" y="0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Iteration Practices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70D187-6906-8F02-8757-FD3F8DA1AC46}"/>
              </a:ext>
            </a:extLst>
          </p:cNvPr>
          <p:cNvSpPr txBox="1"/>
          <p:nvPr/>
        </p:nvSpPr>
        <p:spPr>
          <a:xfrm>
            <a:off x="776653" y="798798"/>
            <a:ext cx="103235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31775" lvl="1" indent="-230188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Instead of looping through large datasets, use generators to iterate over data securely and avoid excessive memory usage.</a:t>
            </a:r>
          </a:p>
          <a:p>
            <a:pPr marL="231775" lvl="1" indent="-230188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secure_generator produces one value at a time instead of returning an entire list</a:t>
            </a:r>
          </a:p>
          <a:p>
            <a:pPr lvl="1"/>
            <a:endParaRPr lang="en-US" sz="2400">
              <a:solidFill>
                <a:schemeClr val="accent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def secure_generator(n):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for i in range(n):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    yield i  # Generates values on demand</a:t>
            </a:r>
          </a:p>
          <a:p>
            <a:pPr lvl="1"/>
            <a:endParaRPr lang="en-US" sz="2400" b="1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  <a:cs typeface="Arial" panose="020B0604020202020204" pitchFamily="34" charset="0"/>
            </a:endParaRP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for value in secure_generator(10):</a:t>
            </a:r>
          </a:p>
          <a:p>
            <a:pPr lvl="1"/>
            <a:r>
              <a:rPr lang="en-US" sz="2400" b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cs typeface="Arial" panose="020B0604020202020204" pitchFamily="34" charset="0"/>
              </a:rPr>
              <a:t>    print(value)</a:t>
            </a:r>
          </a:p>
        </p:txBody>
      </p:sp>
    </p:spTree>
    <p:extLst>
      <p:ext uri="{BB962C8B-B14F-4D97-AF65-F5344CB8AC3E}">
        <p14:creationId xmlns:p14="http://schemas.microsoft.com/office/powerpoint/2010/main" val="14926081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88150-13A5-8006-D83E-4EA146DC2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white and blue background&#10;&#10;Description automatically generated">
            <a:extLst>
              <a:ext uri="{FF2B5EF4-FFF2-40B4-BE49-F238E27FC236}">
                <a16:creationId xmlns:a16="http://schemas.microsoft.com/office/drawing/2014/main" id="{4CDF7F6D-1FBE-DCF5-5F95-D0C632B89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427" y="-269823"/>
            <a:ext cx="12192000" cy="68911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3A1F57E-483E-7C53-CA64-0AA5EEE584EF}"/>
              </a:ext>
            </a:extLst>
          </p:cNvPr>
          <p:cNvSpPr txBox="1"/>
          <p:nvPr/>
        </p:nvSpPr>
        <p:spPr>
          <a:xfrm>
            <a:off x="604266" y="136955"/>
            <a:ext cx="103910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36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Loops, Lists, Tuples, and Dictionaries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ADB709-10E8-F656-E6A6-713225485BEC}"/>
              </a:ext>
            </a:extLst>
          </p:cNvPr>
          <p:cNvSpPr txBox="1"/>
          <p:nvPr/>
        </p:nvSpPr>
        <p:spPr>
          <a:xfrm>
            <a:off x="776653" y="876991"/>
            <a:ext cx="1032356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Secure Iteration Practices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Avoid infinite loops and ensuring proper termination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generator expressions for memory-efficient iteration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Lists and Tuples: Security Considerations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Prevent unintended data modifications in lists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tuples for immutable, security-sensitive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Avoid index errors and boundary overflows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Dictionaries and Secure Data Handling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Prevent key collisions in sensitive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Handle missing keys securely to avoid runtime errors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defaultdict and exception handling for safe lookups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Mitigating Risks in Data Structures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Avoid mutable default arguments in function definitions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Prevent race conditions when modifying shared data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en-US" sz="2400">
                <a:solidFill>
                  <a:schemeClr val="accent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Use secure hashing techniques for dictionary keys</a:t>
            </a:r>
          </a:p>
        </p:txBody>
      </p:sp>
    </p:spTree>
    <p:extLst>
      <p:ext uri="{BB962C8B-B14F-4D97-AF65-F5344CB8AC3E}">
        <p14:creationId xmlns:p14="http://schemas.microsoft.com/office/powerpoint/2010/main" val="32684085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</TotalTime>
  <Words>431</Words>
  <Application>Microsoft Office PowerPoint</Application>
  <PresentationFormat>Widescreen</PresentationFormat>
  <Paragraphs>78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Singletary, David S.</dc:creator>
  <cp:lastModifiedBy>Singletary, David S.</cp:lastModifiedBy>
  <cp:revision>34</cp:revision>
  <dcterms:created xsi:type="dcterms:W3CDTF">2025-03-04T14:52:01Z</dcterms:created>
  <dcterms:modified xsi:type="dcterms:W3CDTF">2025-03-09T02:05:26Z</dcterms:modified>
</cp:coreProperties>
</file>