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9" r:id="rId2"/>
    <p:sldId id="260" r:id="rId3"/>
    <p:sldId id="263" r:id="rId4"/>
    <p:sldId id="264" r:id="rId5"/>
    <p:sldId id="265" r:id="rId6"/>
    <p:sldId id="266" r:id="rId7"/>
    <p:sldId id="272" r:id="rId8"/>
    <p:sldId id="261" r:id="rId9"/>
    <p:sldId id="271" r:id="rId10"/>
    <p:sldId id="267" r:id="rId11"/>
    <p:sldId id="268" r:id="rId12"/>
    <p:sldId id="269" r:id="rId13"/>
    <p:sldId id="273" r:id="rId14"/>
    <p:sldId id="279" r:id="rId15"/>
    <p:sldId id="274" r:id="rId16"/>
    <p:sldId id="277" r:id="rId17"/>
    <p:sldId id="278" r:id="rId18"/>
    <p:sldId id="280" r:id="rId19"/>
    <p:sldId id="282" r:id="rId20"/>
    <p:sldId id="281" r:id="rId21"/>
    <p:sldId id="284" r:id="rId22"/>
    <p:sldId id="285" r:id="rId23"/>
    <p:sldId id="283" r:id="rId24"/>
    <p:sldId id="286" r:id="rId25"/>
    <p:sldId id="287" r:id="rId26"/>
    <p:sldId id="288" r:id="rId27"/>
    <p:sldId id="289" r:id="rId28"/>
    <p:sldId id="276" r:id="rId29"/>
    <p:sldId id="275" r:id="rId30"/>
    <p:sldId id="270"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60"/>
  </p:normalViewPr>
  <p:slideViewPr>
    <p:cSldViewPr snapToGrid="0">
      <p:cViewPr>
        <p:scale>
          <a:sx n="50" d="100"/>
          <a:sy n="50" d="100"/>
        </p:scale>
        <p:origin x="699" y="33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0E2BB-20E6-0956-B616-F8614FD3E2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396F44E-2110-E3ED-1204-3FF28E5B81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9BF0E85-5CA9-8FB6-67A5-41AC48F5ECF1}"/>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5" name="Footer Placeholder 4">
            <a:extLst>
              <a:ext uri="{FF2B5EF4-FFF2-40B4-BE49-F238E27FC236}">
                <a16:creationId xmlns:a16="http://schemas.microsoft.com/office/drawing/2014/main" id="{CB508682-F225-87A0-C1D4-379BBF5411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5A1E74-1940-6F7C-D67B-4B6D0AAC31ED}"/>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674007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5B07B-D227-A285-7724-DA284819B9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FD2E3F-0726-2B54-DC8B-3742FD053EB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A7F692-BC87-A235-493D-DFC63A187359}"/>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5" name="Footer Placeholder 4">
            <a:extLst>
              <a:ext uri="{FF2B5EF4-FFF2-40B4-BE49-F238E27FC236}">
                <a16:creationId xmlns:a16="http://schemas.microsoft.com/office/drawing/2014/main" id="{5B88A945-E39C-E88B-2976-99A570A4EA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ED4097-DD67-9F00-913A-13A3A0E3FFB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875460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9F9BA-8650-5EC6-0F29-C8DB70A826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B02C07-032F-BBDC-2E2A-3CC2F162C8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D00128-E977-C08D-8116-39D9A67F03D5}"/>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5" name="Footer Placeholder 4">
            <a:extLst>
              <a:ext uri="{FF2B5EF4-FFF2-40B4-BE49-F238E27FC236}">
                <a16:creationId xmlns:a16="http://schemas.microsoft.com/office/drawing/2014/main" id="{62F61D3D-BD60-96D3-B37A-D56BD7524F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48EC03-32BD-9F7A-58FD-9948BFDAD5C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5245133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19CBD-6F94-2F0A-F6F7-D4266C0111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233851-1F24-C304-3CFB-8395362982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213CD2-FAFC-4987-9110-46A9F06E12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3F9F100-E6B5-AC68-4FE7-039EC3324595}"/>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6" name="Footer Placeholder 5">
            <a:extLst>
              <a:ext uri="{FF2B5EF4-FFF2-40B4-BE49-F238E27FC236}">
                <a16:creationId xmlns:a16="http://schemas.microsoft.com/office/drawing/2014/main" id="{BD235D4E-D334-185E-1834-41C16F81DF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FA161E-739F-CDFA-FA0D-8D561332EBC1}"/>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177212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C4C38-B07C-64B6-8D41-F203F5B406A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F53FF04-124B-36BF-5515-BB2E0C6C6A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B1B8F87-043C-0B58-A2EE-EF577D1A61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61D101-41BD-22AE-935C-0D328AFF57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8423B19-1419-62F2-C40E-65A1A91572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569A519-F5AC-1757-7C00-8C030AAE240F}"/>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8" name="Footer Placeholder 7">
            <a:extLst>
              <a:ext uri="{FF2B5EF4-FFF2-40B4-BE49-F238E27FC236}">
                <a16:creationId xmlns:a16="http://schemas.microsoft.com/office/drawing/2014/main" id="{C2FB47A0-94D5-197F-739D-D172BB68595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CDA654-C9B0-3652-DAEA-7D22099DDA5B}"/>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647671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E1256-B08A-0FB8-EFB5-A15C8FE9C0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319A16B-3F98-983D-D98C-0EE3D5D63996}"/>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4" name="Footer Placeholder 3">
            <a:extLst>
              <a:ext uri="{FF2B5EF4-FFF2-40B4-BE49-F238E27FC236}">
                <a16:creationId xmlns:a16="http://schemas.microsoft.com/office/drawing/2014/main" id="{FD3F83A9-59AC-315F-AFB9-7326323219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0248D6B-8074-3C29-6A1D-4B71A0AAC9A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0831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39E3971-070E-BDCB-A62C-54C729BF6FAA}"/>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3" name="Footer Placeholder 2">
            <a:extLst>
              <a:ext uri="{FF2B5EF4-FFF2-40B4-BE49-F238E27FC236}">
                <a16:creationId xmlns:a16="http://schemas.microsoft.com/office/drawing/2014/main" id="{DAEF875B-2F68-2130-F747-6E0D870E78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395F536-AA1E-B46F-4D69-600C109F3E6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2963223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FF891-DE41-7EB8-2FF9-7CE6738E05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90D73BB-0578-CB9F-52F7-6F92429E5F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EFC085-198C-E876-2F6F-0E3984A68A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3E52EB-1185-7831-9BF2-3F75ECF46B75}"/>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6" name="Footer Placeholder 5">
            <a:extLst>
              <a:ext uri="{FF2B5EF4-FFF2-40B4-BE49-F238E27FC236}">
                <a16:creationId xmlns:a16="http://schemas.microsoft.com/office/drawing/2014/main" id="{48C3BF32-17C6-C45D-E35D-12D754FE9C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87CAC7-6E6C-2A1B-6662-AA2A2D47351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210324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F174E-2EC1-FE2B-23E6-EEBA332EF5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BAE9D2B-8F10-E570-6AA2-9005CCCCCB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3BB990-549D-32B9-A44B-D363BD126E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37EB96-1423-9B8F-9103-3BFAB9F84460}"/>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6" name="Footer Placeholder 5">
            <a:extLst>
              <a:ext uri="{FF2B5EF4-FFF2-40B4-BE49-F238E27FC236}">
                <a16:creationId xmlns:a16="http://schemas.microsoft.com/office/drawing/2014/main" id="{DDA23C72-9519-023B-6578-913613F17C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E5F21B-2381-A0D7-6FE1-3AFA83C470D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5853519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1F72F-7D73-E9A7-A054-03E6DBE4AF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0BE10C7-5219-326D-EB47-3C1AF5035D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D457E5-DDB9-15CE-FBF5-5E1A66486DAA}"/>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5" name="Footer Placeholder 4">
            <a:extLst>
              <a:ext uri="{FF2B5EF4-FFF2-40B4-BE49-F238E27FC236}">
                <a16:creationId xmlns:a16="http://schemas.microsoft.com/office/drawing/2014/main" id="{CE1E55EF-1556-96C2-4263-D427DA1DDB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FA212C-B5FA-CE2C-96A6-178C2916A633}"/>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447530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ED0CE7-DC28-2C2C-5B28-9F104A9AB84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5F80D-1747-5A22-92A6-FBBF976F03B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41304-0E41-DD11-9738-C91035E2BA21}"/>
              </a:ext>
            </a:extLst>
          </p:cNvPr>
          <p:cNvSpPr>
            <a:spLocks noGrp="1"/>
          </p:cNvSpPr>
          <p:nvPr>
            <p:ph type="dt" sz="half" idx="10"/>
          </p:nvPr>
        </p:nvSpPr>
        <p:spPr/>
        <p:txBody>
          <a:bodyPr/>
          <a:lstStyle/>
          <a:p>
            <a:fld id="{CD989C08-BA69-4AD3-98E9-D53C63F6E1B1}" type="datetimeFigureOut">
              <a:rPr lang="en-US" smtClean="0"/>
              <a:t>3/19/2025</a:t>
            </a:fld>
            <a:endParaRPr lang="en-US"/>
          </a:p>
        </p:txBody>
      </p:sp>
      <p:sp>
        <p:nvSpPr>
          <p:cNvPr id="5" name="Footer Placeholder 4">
            <a:extLst>
              <a:ext uri="{FF2B5EF4-FFF2-40B4-BE49-F238E27FC236}">
                <a16:creationId xmlns:a16="http://schemas.microsoft.com/office/drawing/2014/main" id="{1B0AD9F9-261F-13B3-CE6D-D064092AB3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CE0C96-F0D5-DD0D-DA33-764FE8A6DF3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366866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F8199E-6D30-F850-391E-D4F7153285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65C7E5-4EC7-8EBC-7A44-1A895030C5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4C0EFF-C0CE-7D0C-6CC5-A28F0BC40A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989C08-BA69-4AD3-98E9-D53C63F6E1B1}" type="datetimeFigureOut">
              <a:rPr lang="en-US" smtClean="0"/>
              <a:t>3/19/2025</a:t>
            </a:fld>
            <a:endParaRPr lang="en-US"/>
          </a:p>
        </p:txBody>
      </p:sp>
      <p:sp>
        <p:nvSpPr>
          <p:cNvPr id="5" name="Footer Placeholder 4">
            <a:extLst>
              <a:ext uri="{FF2B5EF4-FFF2-40B4-BE49-F238E27FC236}">
                <a16:creationId xmlns:a16="http://schemas.microsoft.com/office/drawing/2014/main" id="{15348B3E-3497-73AD-4083-286A12425D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76BD70E-84F0-E72A-2386-9CDC39949D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130911-4412-46A4-9A4B-B11E804AFFE7}" type="slidenum">
              <a:rPr lang="en-US" smtClean="0"/>
              <a:t>‹#›</a:t>
            </a:fld>
            <a:endParaRPr lang="en-US"/>
          </a:p>
        </p:txBody>
      </p:sp>
    </p:spTree>
    <p:extLst>
      <p:ext uri="{BB962C8B-B14F-4D97-AF65-F5344CB8AC3E}">
        <p14:creationId xmlns:p14="http://schemas.microsoft.com/office/powerpoint/2010/main" val="24961006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docs.python.org/3/library/copy.html" TargetMode="External"/><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234ED57C-5D50-6FB0-386A-B1C0BAF5E5B6}"/>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4FFBEF78-6835-9381-046A-65D3362579B3}"/>
              </a:ext>
            </a:extLst>
          </p:cNvPr>
          <p:cNvSpPr txBox="1"/>
          <p:nvPr/>
        </p:nvSpPr>
        <p:spPr>
          <a:xfrm>
            <a:off x="604266" y="136955"/>
            <a:ext cx="10927832"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Day 2: Secure Coding Practices &amp; Data Structures</a:t>
            </a:r>
            <a:endParaRPr lang="en-US" sz="3600" dirty="0">
              <a:solidFill>
                <a:schemeClr val="accent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2A35BB2-B247-A830-CD48-8D50E0ACDB9D}"/>
              </a:ext>
            </a:extLst>
          </p:cNvPr>
          <p:cNvSpPr txBox="1"/>
          <p:nvPr/>
        </p:nvSpPr>
        <p:spPr>
          <a:xfrm>
            <a:off x="604267" y="1221698"/>
            <a:ext cx="10323564" cy="4154984"/>
          </a:xfrm>
          <a:prstGeom prst="rect">
            <a:avLst/>
          </a:prstGeom>
          <a:noFill/>
        </p:spPr>
        <p:txBody>
          <a:bodyPr wrap="square" rtlCol="0">
            <a:spAutoFit/>
          </a:bodyPr>
          <a:lstStyle/>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Loops, Lists, Tuples, and Dictionaries</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best practices for handling sensitive information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input validation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data sanitization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randomization</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Functions, Modules, Classes, and Exceptions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design principles in modular programming</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Error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Avoiding information leakage</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Logging errors securely</a:t>
            </a:r>
          </a:p>
        </p:txBody>
      </p:sp>
    </p:spTree>
    <p:extLst>
      <p:ext uri="{BB962C8B-B14F-4D97-AF65-F5344CB8AC3E}">
        <p14:creationId xmlns:p14="http://schemas.microsoft.com/office/powerpoint/2010/main" val="1171906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27252-E975-9FC8-258E-A73B3830B1C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DEEC2F5-56A7-B695-B5F6-459783C1C088}"/>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6E05592-F352-416E-AA02-F64ACB2D6B5E}"/>
              </a:ext>
            </a:extLst>
          </p:cNvPr>
          <p:cNvSpPr txBox="1"/>
          <p:nvPr/>
        </p:nvSpPr>
        <p:spPr>
          <a:xfrm>
            <a:off x="589277" y="83166"/>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97633B80-D681-05C8-937E-80D895C6C127}"/>
              </a:ext>
            </a:extLst>
          </p:cNvPr>
          <p:cNvSpPr txBox="1"/>
          <p:nvPr/>
        </p:nvSpPr>
        <p:spPr>
          <a:xfrm>
            <a:off x="589277" y="805501"/>
            <a:ext cx="11422842" cy="5047536"/>
          </a:xfrm>
          <a:prstGeom prst="rect">
            <a:avLst/>
          </a:prstGeom>
          <a:noFill/>
        </p:spPr>
        <p:txBody>
          <a:bodyPr wrap="square" rtlCol="0">
            <a:spAutoFit/>
          </a:bodyPr>
          <a:lstStyle/>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Ensure Proper Termination</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Infinite loops can cause a program to become unresponsive, consume excessive system resources, or create security vulnerabilities such as denial-of-service (DoS) risks. </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To ensure proper termination of loops, follow these best practices:</a:t>
            </a:r>
          </a:p>
          <a:p>
            <a:pPr marL="2317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Explicit Loop Conditions: ensure loops have well-defined termination conditions.</a:t>
            </a:r>
          </a:p>
          <a:p>
            <a:pPr marL="231775"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count = 0</a:t>
            </a:r>
          </a:p>
          <a:p>
            <a:pPr lvl="1"/>
            <a:r>
              <a:rPr lang="en-US" sz="2400" b="1">
                <a:solidFill>
                  <a:schemeClr val="accent1">
                    <a:lumMod val="50000"/>
                  </a:schemeClr>
                </a:solidFill>
                <a:latin typeface="Consolas" panose="020B0609020204030204" pitchFamily="49" charset="0"/>
                <a:cs typeface="Arial" panose="020B0604020202020204" pitchFamily="34" charset="0"/>
              </a:rPr>
              <a:t>while count &lt; 10:  # Proper termination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print(count)</a:t>
            </a:r>
          </a:p>
          <a:p>
            <a:pPr lvl="1"/>
            <a:r>
              <a:rPr lang="en-US" sz="2400" b="1">
                <a:solidFill>
                  <a:schemeClr val="accent1">
                    <a:lumMod val="50000"/>
                  </a:schemeClr>
                </a:solidFill>
                <a:latin typeface="Consolas" panose="020B0609020204030204" pitchFamily="49" charset="0"/>
                <a:cs typeface="Arial" panose="020B0604020202020204" pitchFamily="34" charset="0"/>
              </a:rPr>
              <a:t>    count += 1  # Ensuring progress towards termination</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27247725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56B82-5655-80DC-B95E-BB3147A9B79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3607B2A-90F3-C259-916F-6E23284FA4EC}"/>
              </a:ext>
            </a:extLst>
          </p:cNvPr>
          <p:cNvPicPr>
            <a:picLocks noChangeAspect="1"/>
          </p:cNvPicPr>
          <p:nvPr/>
        </p:nvPicPr>
        <p:blipFill>
          <a:blip r:embed="rId2"/>
          <a:stretch>
            <a:fillRect/>
          </a:stretch>
        </p:blipFill>
        <p:spPr>
          <a:xfrm>
            <a:off x="0" y="0"/>
            <a:ext cx="12192000" cy="6867117"/>
          </a:xfrm>
          <a:prstGeom prst="rect">
            <a:avLst/>
          </a:prstGeom>
        </p:spPr>
      </p:pic>
      <p:sp>
        <p:nvSpPr>
          <p:cNvPr id="4" name="TextBox 3">
            <a:extLst>
              <a:ext uri="{FF2B5EF4-FFF2-40B4-BE49-F238E27FC236}">
                <a16:creationId xmlns:a16="http://schemas.microsoft.com/office/drawing/2014/main" id="{D78D5220-DB27-992D-3281-C3574B62771B}"/>
              </a:ext>
            </a:extLst>
          </p:cNvPr>
          <p:cNvSpPr txBox="1"/>
          <p:nvPr/>
        </p:nvSpPr>
        <p:spPr>
          <a:xfrm>
            <a:off x="604266" y="11888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B0825409-4923-2548-3BC3-99C4029F2471}"/>
              </a:ext>
            </a:extLst>
          </p:cNvPr>
          <p:cNvSpPr txBox="1"/>
          <p:nvPr/>
        </p:nvSpPr>
        <p:spPr>
          <a:xfrm>
            <a:off x="776653" y="861612"/>
            <a:ext cx="11155517" cy="3416320"/>
          </a:xfrm>
          <a:prstGeom prst="rect">
            <a:avLst/>
          </a:prstGeom>
          <a:noFill/>
        </p:spPr>
        <p:txBody>
          <a:bodyPr wrap="square" rtlCol="0">
            <a:spAutoFit/>
          </a:bodyPr>
          <a:lstStyle/>
          <a:p>
            <a:pPr marL="284163" lvl="1" indent="-2825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Using while True Without a Break Condition</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True:</a:t>
            </a:r>
          </a:p>
          <a:p>
            <a:pPr lvl="1"/>
            <a:r>
              <a:rPr lang="en-US" sz="2400" b="1">
                <a:solidFill>
                  <a:schemeClr val="accent1">
                    <a:lumMod val="50000"/>
                  </a:schemeClr>
                </a:solidFill>
                <a:latin typeface="Consolas" panose="020B0609020204030204" pitchFamily="49" charset="0"/>
                <a:cs typeface="Arial" panose="020B0604020202020204" pitchFamily="34" charset="0"/>
              </a:rPr>
              <a:t>    # processing steps ...</a:t>
            </a:r>
          </a:p>
          <a:p>
            <a:pPr lvl="1"/>
            <a:r>
              <a:rPr lang="en-US" sz="2400" b="1">
                <a:solidFill>
                  <a:schemeClr val="accent1">
                    <a:lumMod val="50000"/>
                  </a:schemeClr>
                </a:solidFill>
                <a:latin typeface="Consolas" panose="020B0609020204030204" pitchFamily="49" charset="0"/>
                <a:cs typeface="Arial" panose="020B0604020202020204" pitchFamily="34" charset="0"/>
              </a:rPr>
              <a:t>    #</a:t>
            </a:r>
          </a:p>
          <a:p>
            <a:pPr lvl="1"/>
            <a:r>
              <a:rPr lang="en-US" sz="2400" b="1">
                <a:solidFill>
                  <a:schemeClr val="accent1">
                    <a:lumMod val="50000"/>
                  </a:schemeClr>
                </a:solidFill>
                <a:latin typeface="Consolas" panose="020B0609020204030204" pitchFamily="49" charset="0"/>
                <a:cs typeface="Arial" panose="020B0604020202020204" pitchFamily="34" charset="0"/>
              </a:rPr>
              <a:t>    user_input = input("Enter 'exit' to stop: ")</a:t>
            </a:r>
          </a:p>
          <a:p>
            <a:pPr lvl="1"/>
            <a:r>
              <a:rPr lang="en-US" sz="2400" b="1">
                <a:solidFill>
                  <a:schemeClr val="accent1">
                    <a:lumMod val="50000"/>
                  </a:schemeClr>
                </a:solidFill>
                <a:latin typeface="Consolas" panose="020B0609020204030204" pitchFamily="49" charset="0"/>
                <a:cs typeface="Arial" panose="020B0604020202020204" pitchFamily="34" charset="0"/>
              </a:rPr>
              <a:t>    if user_input.lower() == 'exit':</a:t>
            </a:r>
          </a:p>
          <a:p>
            <a:pPr lvl="1"/>
            <a:r>
              <a:rPr lang="en-US" sz="2400" b="1">
                <a:solidFill>
                  <a:schemeClr val="accent1">
                    <a:lumMod val="50000"/>
                  </a:schemeClr>
                </a:solidFill>
                <a:latin typeface="Consolas" panose="020B0609020204030204" pitchFamily="49" charset="0"/>
                <a:cs typeface="Arial" panose="020B0604020202020204" pitchFamily="34" charset="0"/>
              </a:rPr>
              <a:t>        break  # Ensure termination</a:t>
            </a:r>
            <a:endParaRPr lang="en-US" sz="2400" b="1">
              <a:solidFill>
                <a:schemeClr val="accent1">
                  <a:lumMod val="50000"/>
                </a:schemeClr>
              </a:solidFill>
              <a:latin typeface="Arial" panose="020B0604020202020204" pitchFamily="34" charset="0"/>
              <a:cs typeface="Arial" panose="020B0604020202020204" pitchFamily="34" charset="0"/>
            </a:endParaRP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212907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FFF4A-D725-A5AD-5084-9FED149DEA50}"/>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29554FA-A0B1-BED0-CE63-C900E18F46ED}"/>
              </a:ext>
            </a:extLst>
          </p:cNvPr>
          <p:cNvPicPr>
            <a:picLocks noChangeAspect="1"/>
          </p:cNvPicPr>
          <p:nvPr/>
        </p:nvPicPr>
        <p:blipFill>
          <a:blip r:embed="rId2"/>
          <a:stretch>
            <a:fillRect/>
          </a:stretch>
        </p:blipFill>
        <p:spPr>
          <a:xfrm>
            <a:off x="0" y="-16565"/>
            <a:ext cx="12192000" cy="6891129"/>
          </a:xfrm>
          <a:prstGeom prst="rect">
            <a:avLst/>
          </a:prstGeom>
        </p:spPr>
      </p:pic>
      <p:sp>
        <p:nvSpPr>
          <p:cNvPr id="4" name="TextBox 3">
            <a:extLst>
              <a:ext uri="{FF2B5EF4-FFF2-40B4-BE49-F238E27FC236}">
                <a16:creationId xmlns:a16="http://schemas.microsoft.com/office/drawing/2014/main" id="{6E6327D3-7C70-ECA1-AE3E-ED235635765E}"/>
              </a:ext>
            </a:extLst>
          </p:cNvPr>
          <p:cNvSpPr txBox="1"/>
          <p:nvPr/>
        </p:nvSpPr>
        <p:spPr>
          <a:xfrm>
            <a:off x="776651" y="109951"/>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6A0FDFBA-5990-4792-5F3E-62939E91F250}"/>
              </a:ext>
            </a:extLst>
          </p:cNvPr>
          <p:cNvSpPr txBox="1"/>
          <p:nvPr/>
        </p:nvSpPr>
        <p:spPr>
          <a:xfrm>
            <a:off x="810379" y="882797"/>
            <a:ext cx="10323564" cy="4893647"/>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When processing user input or external data, avoid infinite loops by implementing timeouts or iteration limits.</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import time</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start_time = time.time()</a:t>
            </a:r>
          </a:p>
          <a:p>
            <a:pPr lvl="1"/>
            <a:r>
              <a:rPr lang="en-US" sz="2400" b="1">
                <a:solidFill>
                  <a:schemeClr val="accent1">
                    <a:lumMod val="50000"/>
                  </a:schemeClr>
                </a:solidFill>
                <a:latin typeface="Consolas" panose="020B0609020204030204" pitchFamily="49" charset="0"/>
                <a:cs typeface="Arial" panose="020B0604020202020204" pitchFamily="34" charset="0"/>
              </a:rPr>
              <a:t>timeout = 5  # seconds</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time.time() - start_time &lt; timeout:</a:t>
            </a:r>
          </a:p>
          <a:p>
            <a:pPr lvl="1"/>
            <a:r>
              <a:rPr lang="en-US" sz="2400" b="1">
                <a:solidFill>
                  <a:schemeClr val="accent1">
                    <a:lumMod val="50000"/>
                  </a:schemeClr>
                </a:solidFill>
                <a:latin typeface="Consolas" panose="020B0609020204030204" pitchFamily="49" charset="0"/>
                <a:cs typeface="Arial" panose="020B0604020202020204" pitchFamily="34" charset="0"/>
              </a:rPr>
              <a:t>    if some_condition():  # Replace with actual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break</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57014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B32ED-9C55-13BC-E694-1F94CEBD03B6}"/>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CFF4FFB4-165E-7AE3-C1F5-BF62A8C5D3D9}"/>
              </a:ext>
            </a:extLst>
          </p:cNvPr>
          <p:cNvPicPr>
            <a:picLocks noChangeAspect="1"/>
          </p:cNvPicPr>
          <p:nvPr/>
        </p:nvPicPr>
        <p:blipFill>
          <a:blip r:embed="rId2"/>
          <a:stretch>
            <a:fillRect/>
          </a:stretch>
        </p:blipFill>
        <p:spPr>
          <a:xfrm>
            <a:off x="1" y="0"/>
            <a:ext cx="12192000" cy="6891129"/>
          </a:xfrm>
          <a:prstGeom prst="rect">
            <a:avLst/>
          </a:prstGeom>
        </p:spPr>
      </p:pic>
      <p:sp>
        <p:nvSpPr>
          <p:cNvPr id="4" name="TextBox 3">
            <a:extLst>
              <a:ext uri="{FF2B5EF4-FFF2-40B4-BE49-F238E27FC236}">
                <a16:creationId xmlns:a16="http://schemas.microsoft.com/office/drawing/2014/main" id="{8745C227-D9C6-33AF-9513-8684A978EFD2}"/>
              </a:ext>
            </a:extLst>
          </p:cNvPr>
          <p:cNvSpPr txBox="1"/>
          <p:nvPr/>
        </p:nvSpPr>
        <p:spPr>
          <a:xfrm>
            <a:off x="776653" y="21489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0B70D187-6906-8F02-8757-FD3F8DA1AC46}"/>
              </a:ext>
            </a:extLst>
          </p:cNvPr>
          <p:cNvSpPr txBox="1"/>
          <p:nvPr/>
        </p:nvSpPr>
        <p:spPr>
          <a:xfrm>
            <a:off x="776653" y="1076116"/>
            <a:ext cx="10323564" cy="4154984"/>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Instead of looping through large datasets, use generators to iterate over data securely and avoid excessive memory usage.</a:t>
            </a:r>
          </a:p>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secure_generator function below produces one value at a time instead of returning an entire list</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def secure_generator(n):</a:t>
            </a:r>
          </a:p>
          <a:p>
            <a:pPr lvl="1"/>
            <a:r>
              <a:rPr lang="en-US" sz="2400" b="1">
                <a:solidFill>
                  <a:schemeClr val="accent1">
                    <a:lumMod val="50000"/>
                  </a:schemeClr>
                </a:solidFill>
                <a:latin typeface="Consolas" panose="020B0609020204030204" pitchFamily="49" charset="0"/>
                <a:cs typeface="Arial" panose="020B0604020202020204" pitchFamily="34" charset="0"/>
              </a:rPr>
              <a:t>    for i in range(n):</a:t>
            </a:r>
          </a:p>
          <a:p>
            <a:pPr lvl="1"/>
            <a:r>
              <a:rPr lang="en-US" sz="2400" b="1">
                <a:solidFill>
                  <a:schemeClr val="accent1">
                    <a:lumMod val="50000"/>
                  </a:schemeClr>
                </a:solidFill>
                <a:latin typeface="Consolas" panose="020B0609020204030204" pitchFamily="49" charset="0"/>
                <a:cs typeface="Arial" panose="020B0604020202020204" pitchFamily="34" charset="0"/>
              </a:rPr>
              <a:t>        yield i  # Generates values on demand</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for value in secure_generator(10):</a:t>
            </a:r>
          </a:p>
          <a:p>
            <a:pPr lvl="1"/>
            <a:r>
              <a:rPr lang="en-US" sz="2400" b="1">
                <a:solidFill>
                  <a:schemeClr val="accent1">
                    <a:lumMod val="50000"/>
                  </a:schemeClr>
                </a:solidFill>
                <a:latin typeface="Consolas" panose="020B0609020204030204" pitchFamily="49" charset="0"/>
                <a:cs typeface="Arial" panose="020B0604020202020204" pitchFamily="34" charset="0"/>
              </a:rPr>
              <a:t>    print(value)</a:t>
            </a:r>
          </a:p>
        </p:txBody>
      </p:sp>
    </p:spTree>
    <p:extLst>
      <p:ext uri="{BB962C8B-B14F-4D97-AF65-F5344CB8AC3E}">
        <p14:creationId xmlns:p14="http://schemas.microsoft.com/office/powerpoint/2010/main" val="149260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163FA-A386-561F-EF9F-D2D579138625}"/>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7E3DA21F-F53E-14D7-DBCD-914AC9CC3E3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89F8A25-0C68-33E6-8C7B-D009F507567C}"/>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Lists and Tuples: Security Considerations</a:t>
            </a:r>
          </a:p>
        </p:txBody>
      </p:sp>
      <p:graphicFrame>
        <p:nvGraphicFramePr>
          <p:cNvPr id="9" name="Table 8">
            <a:extLst>
              <a:ext uri="{FF2B5EF4-FFF2-40B4-BE49-F238E27FC236}">
                <a16:creationId xmlns:a16="http://schemas.microsoft.com/office/drawing/2014/main" id="{161C0A04-0631-BFA6-BA31-53599D9330C2}"/>
              </a:ext>
            </a:extLst>
          </p:cNvPr>
          <p:cNvGraphicFramePr>
            <a:graphicFrameLocks noGrp="1"/>
          </p:cNvGraphicFramePr>
          <p:nvPr>
            <p:extLst>
              <p:ext uri="{D42A27DB-BD31-4B8C-83A1-F6EECF244321}">
                <p14:modId xmlns:p14="http://schemas.microsoft.com/office/powerpoint/2010/main" val="3090539159"/>
              </p:ext>
            </p:extLst>
          </p:nvPr>
        </p:nvGraphicFramePr>
        <p:xfrm>
          <a:off x="1070547" y="1416490"/>
          <a:ext cx="9699886" cy="4085524"/>
        </p:xfrm>
        <a:graphic>
          <a:graphicData uri="http://schemas.openxmlformats.org/drawingml/2006/table">
            <a:tbl>
              <a:tblPr firstRow="1" bandRow="1" bandCol="1">
                <a:tableStyleId>{69012ECD-51FC-41F1-AA8D-1B2483CD663E}</a:tableStyleId>
              </a:tblPr>
              <a:tblGrid>
                <a:gridCol w="4849943">
                  <a:extLst>
                    <a:ext uri="{9D8B030D-6E8A-4147-A177-3AD203B41FA5}">
                      <a16:colId xmlns:a16="http://schemas.microsoft.com/office/drawing/2014/main" val="899938849"/>
                    </a:ext>
                  </a:extLst>
                </a:gridCol>
                <a:gridCol w="4849943">
                  <a:extLst>
                    <a:ext uri="{9D8B030D-6E8A-4147-A177-3AD203B41FA5}">
                      <a16:colId xmlns:a16="http://schemas.microsoft.com/office/drawing/2014/main" val="2255662237"/>
                    </a:ext>
                  </a:extLst>
                </a:gridCol>
              </a:tblGrid>
              <a:tr h="494328">
                <a:tc>
                  <a:txBody>
                    <a:bodyPr/>
                    <a:lstStyle/>
                    <a:p>
                      <a:r>
                        <a:rPr lang="en-US" sz="2400" b="1"/>
                        <a:t>List</a:t>
                      </a:r>
                      <a:endParaRPr lang="en-US" sz="2400"/>
                    </a:p>
                  </a:txBody>
                  <a:tcPr anchor="ctr"/>
                </a:tc>
                <a:tc>
                  <a:txBody>
                    <a:bodyPr/>
                    <a:lstStyle/>
                    <a:p>
                      <a:r>
                        <a:rPr lang="en-US" sz="2400" b="1"/>
                        <a:t>Tuple</a:t>
                      </a:r>
                      <a:endParaRPr lang="en-US" sz="2400"/>
                    </a:p>
                  </a:txBody>
                  <a:tcPr anchor="ctr"/>
                </a:tc>
                <a:extLst>
                  <a:ext uri="{0D108BD9-81ED-4DB2-BD59-A6C34878D82A}">
                    <a16:rowId xmlns:a16="http://schemas.microsoft.com/office/drawing/2014/main" val="3137162742"/>
                  </a:ext>
                </a:extLst>
              </a:tr>
              <a:tr h="494328">
                <a:tc>
                  <a:txBody>
                    <a:bodyPr/>
                    <a:lstStyle/>
                    <a:p>
                      <a:r>
                        <a:rPr lang="en-US" sz="2400"/>
                        <a:t>Mutable</a:t>
                      </a:r>
                    </a:p>
                  </a:txBody>
                  <a:tcPr anchor="ctr"/>
                </a:tc>
                <a:tc>
                  <a:txBody>
                    <a:bodyPr/>
                    <a:lstStyle/>
                    <a:p>
                      <a:r>
                        <a:rPr lang="en-US" sz="2400"/>
                        <a:t>Immutable</a:t>
                      </a:r>
                    </a:p>
                  </a:txBody>
                  <a:tcPr anchor="ctr"/>
                </a:tc>
                <a:extLst>
                  <a:ext uri="{0D108BD9-81ED-4DB2-BD59-A6C34878D82A}">
                    <a16:rowId xmlns:a16="http://schemas.microsoft.com/office/drawing/2014/main" val="1121049216"/>
                  </a:ext>
                </a:extLst>
              </a:tr>
              <a:tr h="494328">
                <a:tc>
                  <a:txBody>
                    <a:bodyPr/>
                    <a:lstStyle/>
                    <a:p>
                      <a:r>
                        <a:rPr lang="en-US" sz="2400"/>
                        <a:t>Suitable for dynamic collections</a:t>
                      </a:r>
                    </a:p>
                  </a:txBody>
                  <a:tcPr anchor="ctr"/>
                </a:tc>
                <a:tc>
                  <a:txBody>
                    <a:bodyPr/>
                    <a:lstStyle/>
                    <a:p>
                      <a:r>
                        <a:rPr lang="en-US" sz="2400"/>
                        <a:t>Suitable for fixed data structures</a:t>
                      </a:r>
                    </a:p>
                  </a:txBody>
                  <a:tcPr anchor="ctr"/>
                </a:tc>
                <a:extLst>
                  <a:ext uri="{0D108BD9-81ED-4DB2-BD59-A6C34878D82A}">
                    <a16:rowId xmlns:a16="http://schemas.microsoft.com/office/drawing/2014/main" val="275018854"/>
                  </a:ext>
                </a:extLst>
              </a:tr>
              <a:tr h="494328">
                <a:tc>
                  <a:txBody>
                    <a:bodyPr/>
                    <a:lstStyle/>
                    <a:p>
                      <a:r>
                        <a:rPr lang="en-US" sz="2400"/>
                        <a:t>Uses more memory due to dynamic resizing</a:t>
                      </a:r>
                    </a:p>
                  </a:txBody>
                  <a:tcPr anchor="ctr"/>
                </a:tc>
                <a:tc>
                  <a:txBody>
                    <a:bodyPr/>
                    <a:lstStyle/>
                    <a:p>
                      <a:r>
                        <a:rPr lang="en-US" sz="2400"/>
                        <a:t>More memory efficient</a:t>
                      </a:r>
                    </a:p>
                    <a:p>
                      <a:endParaRPr lang="en-US" sz="2400"/>
                    </a:p>
                  </a:txBody>
                  <a:tcPr anchor="ctr"/>
                </a:tc>
                <a:extLst>
                  <a:ext uri="{0D108BD9-81ED-4DB2-BD59-A6C34878D82A}">
                    <a16:rowId xmlns:a16="http://schemas.microsoft.com/office/drawing/2014/main" val="732558842"/>
                  </a:ext>
                </a:extLst>
              </a:tr>
              <a:tr h="889790">
                <a:tc>
                  <a:txBody>
                    <a:bodyPr/>
                    <a:lstStyle/>
                    <a:p>
                      <a:r>
                        <a:rPr lang="en-US" sz="2400"/>
                        <a:t>More methods for modification (e.g., append, remove, insert)</a:t>
                      </a:r>
                    </a:p>
                  </a:txBody>
                  <a:tcPr anchor="ctr"/>
                </a:tc>
                <a:tc>
                  <a:txBody>
                    <a:bodyPr/>
                    <a:lstStyle/>
                    <a:p>
                      <a:r>
                        <a:rPr lang="en-US" sz="2400"/>
                        <a:t>Fewer built-in methods</a:t>
                      </a:r>
                    </a:p>
                  </a:txBody>
                  <a:tcPr anchor="ctr"/>
                </a:tc>
                <a:extLst>
                  <a:ext uri="{0D108BD9-81ED-4DB2-BD59-A6C34878D82A}">
                    <a16:rowId xmlns:a16="http://schemas.microsoft.com/office/drawing/2014/main" val="4250838286"/>
                  </a:ext>
                </a:extLst>
              </a:tr>
              <a:tr h="889790">
                <a:tc>
                  <a:txBody>
                    <a:bodyPr/>
                    <a:lstStyle/>
                    <a:p>
                      <a:r>
                        <a:rPr lang="en-US" sz="2400"/>
                        <a:t>Slightly slower for dynamic resizing</a:t>
                      </a:r>
                    </a:p>
                  </a:txBody>
                  <a:tcPr anchor="ctr"/>
                </a:tc>
                <a:tc>
                  <a:txBody>
                    <a:bodyPr/>
                    <a:lstStyle/>
                    <a:p>
                      <a:r>
                        <a:rPr lang="en-US" sz="2400"/>
                        <a:t>Slightly faster than lists for large datasets</a:t>
                      </a:r>
                    </a:p>
                  </a:txBody>
                  <a:tcPr anchor="ctr"/>
                </a:tc>
                <a:extLst>
                  <a:ext uri="{0D108BD9-81ED-4DB2-BD59-A6C34878D82A}">
                    <a16:rowId xmlns:a16="http://schemas.microsoft.com/office/drawing/2014/main" val="4097307520"/>
                  </a:ext>
                </a:extLst>
              </a:tr>
            </a:tbl>
          </a:graphicData>
        </a:graphic>
      </p:graphicFrame>
    </p:spTree>
    <p:extLst>
      <p:ext uri="{BB962C8B-B14F-4D97-AF65-F5344CB8AC3E}">
        <p14:creationId xmlns:p14="http://schemas.microsoft.com/office/powerpoint/2010/main" val="2071495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82DBF-1394-2517-FAF3-65676516014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F46AA2C-DF0E-00B4-D392-E5581259271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3289F5D2-BD1E-A50F-6045-92C6C43651B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FDA16B4B-182B-C93C-B73B-D22C0A6CBC8A}"/>
              </a:ext>
            </a:extLst>
          </p:cNvPr>
          <p:cNvSpPr txBox="1"/>
          <p:nvPr/>
        </p:nvSpPr>
        <p:spPr>
          <a:xfrm>
            <a:off x="776653" y="1049377"/>
            <a:ext cx="10323564" cy="507831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can prevent unintended aliasing</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If a list is assigned to multiple variables, changes in one reference affect all others.</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Using a tuple ensures that security-sensitive data is not modified indirectly.</a:t>
            </a:r>
          </a:p>
          <a:p>
            <a:pPr marL="457200"/>
            <a:endParaRPr lang="en-US" sz="2000">
              <a:solidFill>
                <a:schemeClr val="accent1">
                  <a:lumMod val="50000"/>
                </a:schemeClr>
              </a:solidFill>
              <a:latin typeface="Arial" panose="020B0604020202020204" pitchFamily="34"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Create a list</a:t>
            </a:r>
          </a:p>
          <a:p>
            <a:pPr marL="914400"/>
            <a:r>
              <a:rPr lang="en-US" sz="2000" b="1">
                <a:solidFill>
                  <a:schemeClr val="accent1">
                    <a:lumMod val="50000"/>
                  </a:schemeClr>
                </a:solidFill>
                <a:latin typeface="Consolas" panose="020B0609020204030204" pitchFamily="49" charset="0"/>
                <a:cs typeface="Arial" panose="020B0604020202020204" pitchFamily="34" charset="0"/>
              </a:rPr>
              <a:t>my_list = [1, 2, 3]</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Assign the same list reference to another variable</a:t>
            </a:r>
          </a:p>
          <a:p>
            <a:pPr marL="914400"/>
            <a:r>
              <a:rPr lang="en-US" sz="2000" b="1">
                <a:solidFill>
                  <a:schemeClr val="accent1">
                    <a:lumMod val="50000"/>
                  </a:schemeClr>
                </a:solidFill>
                <a:latin typeface="Consolas" panose="020B0609020204030204" pitchFamily="49" charset="0"/>
                <a:cs typeface="Arial" panose="020B0604020202020204" pitchFamily="34" charset="0"/>
              </a:rPr>
              <a:t>alias_list = my_list</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Modifying one reference</a:t>
            </a:r>
          </a:p>
          <a:p>
            <a:pPr marL="914400"/>
            <a:r>
              <a:rPr lang="en-US" sz="2000" b="1">
                <a:solidFill>
                  <a:schemeClr val="accent1">
                    <a:lumMod val="50000"/>
                  </a:schemeClr>
                </a:solidFill>
                <a:latin typeface="Consolas" panose="020B0609020204030204" pitchFamily="49" charset="0"/>
                <a:cs typeface="Arial" panose="020B0604020202020204" pitchFamily="34" charset="0"/>
              </a:rPr>
              <a:t>alias_list[0] = 99</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Both lists are affected</a:t>
            </a:r>
          </a:p>
          <a:p>
            <a:pPr marL="914400"/>
            <a:r>
              <a:rPr lang="en-US" sz="2000" b="1">
                <a:solidFill>
                  <a:schemeClr val="accent1">
                    <a:lumMod val="50000"/>
                  </a:schemeClr>
                </a:solidFill>
                <a:latin typeface="Consolas" panose="020B0609020204030204" pitchFamily="49" charset="0"/>
                <a:cs typeface="Arial" panose="020B0604020202020204" pitchFamily="34" charset="0"/>
              </a:rPr>
              <a:t>print("my_list:", my_list)       # Output: [99, 2, 3]</a:t>
            </a:r>
          </a:p>
          <a:p>
            <a:pPr marL="914400"/>
            <a:r>
              <a:rPr lang="en-US" sz="2000" b="1">
                <a:solidFill>
                  <a:schemeClr val="accent1">
                    <a:lumMod val="50000"/>
                  </a:schemeClr>
                </a:solidFill>
                <a:latin typeface="Consolas" panose="020B0609020204030204" pitchFamily="49" charset="0"/>
                <a:cs typeface="Arial" panose="020B0604020202020204" pitchFamily="34" charset="0"/>
              </a:rPr>
              <a:t>print("alias_list:", alias_list) # Output: [99, 2, 3]</a:t>
            </a:r>
          </a:p>
        </p:txBody>
      </p:sp>
    </p:spTree>
    <p:extLst>
      <p:ext uri="{BB962C8B-B14F-4D97-AF65-F5344CB8AC3E}">
        <p14:creationId xmlns:p14="http://schemas.microsoft.com/office/powerpoint/2010/main" val="20878346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88150-13A5-8006-D83E-4EA146DC254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CDF7F6D-1FBE-DCF5-5F95-D0C632B892F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73A1F57E-483E-7C53-CA64-0AA5EEE584E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96ADB709-10E8-F656-E6A6-713225485BEC}"/>
              </a:ext>
            </a:extLst>
          </p:cNvPr>
          <p:cNvSpPr txBox="1"/>
          <p:nvPr/>
        </p:nvSpPr>
        <p:spPr>
          <a:xfrm>
            <a:off x="776653" y="876991"/>
            <a:ext cx="10953150" cy="363176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Once a tuple is created, its elements cannot be changed. </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Security-sensitive data, such as API keys, credentials, or cryptographic parameters, cannot be modified accidentally or maliciously during runtime.</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b="1">
                <a:solidFill>
                  <a:schemeClr val="accent1">
                    <a:lumMod val="50000"/>
                  </a:schemeClr>
                </a:solidFill>
                <a:latin typeface="Consolas" panose="020B0609020204030204" pitchFamily="49" charset="0"/>
                <a:cs typeface="Arial" panose="020B0604020202020204" pitchFamily="34" charset="0"/>
              </a:rPr>
              <a:t>credentials = ("admin", "secure_password123")  # Cannot be modified after creation</a:t>
            </a:r>
          </a:p>
          <a:p>
            <a:pPr marL="914400" lvl="1"/>
            <a:endParaRPr lang="en-US" sz="2000" b="1">
              <a:solidFill>
                <a:schemeClr val="accent1">
                  <a:lumMod val="50000"/>
                </a:schemeClr>
              </a:solidFill>
              <a:latin typeface="Consolas" panose="020B0609020204030204" pitchFamily="49" charset="0"/>
              <a:cs typeface="Arial" panose="020B0604020202020204" pitchFamily="34" charset="0"/>
            </a:endParaRP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provide reduced attack surfaces.</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Cannot be altered by malicious code that may attempt to overwrite, inject, or tamper with data during execution.</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Particularly useful in multi-threaded environments, where shared data should remain constant and unchangeable.</a:t>
            </a:r>
          </a:p>
        </p:txBody>
      </p:sp>
    </p:spTree>
    <p:extLst>
      <p:ext uri="{BB962C8B-B14F-4D97-AF65-F5344CB8AC3E}">
        <p14:creationId xmlns:p14="http://schemas.microsoft.com/office/powerpoint/2010/main" val="32684085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4631A-86BB-C766-5B15-02F405CD1E9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47683E9-DB97-3599-7614-FB94658822CA}"/>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6FED420-C71C-043F-EDFC-4AD63E872DD6}"/>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BAA9ECEE-E54A-8A38-690B-7F1F111B0C68}"/>
              </a:ext>
            </a:extLst>
          </p:cNvPr>
          <p:cNvSpPr txBox="1"/>
          <p:nvPr/>
        </p:nvSpPr>
        <p:spPr>
          <a:xfrm>
            <a:off x="776653" y="1049377"/>
            <a:ext cx="10323564" cy="5201424"/>
          </a:xfrm>
          <a:prstGeom prst="rect">
            <a:avLst/>
          </a:prstGeom>
          <a:noFill/>
        </p:spPr>
        <p:txBody>
          <a:bodyPr wrap="square" rtlCol="0">
            <a:spAutoFit/>
          </a:bodyPr>
          <a:lstStyle/>
          <a:p>
            <a:pPr marL="231775"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Tuples are hashable (can be used as dictionary keys or set elements) as long as they only contain hashable elements</a:t>
            </a:r>
          </a:p>
          <a:p>
            <a:pPr marL="6889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ensures that security-sensitive mappings (e.g., user permissions, access control lists) remain unchanged.</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Is an admin with read permissions allowed to perform a write?</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non_hashable_tuple = (["admin", "read"], "write") # contains a list access_rights = { non_hashable_tuple: True }</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688975" lvl="1" indent="-231775">
              <a:buFont typeface="Arial" panose="020B0604020202020204" pitchFamily="34" charset="0"/>
              <a:buChar char="•"/>
            </a:pPr>
            <a:r>
              <a:rPr lang="en-US" sz="2400" b="0" i="0">
                <a:solidFill>
                  <a:srgbClr val="000000"/>
                </a:solidFill>
                <a:effectLst/>
                <a:highlight>
                  <a:srgbClr val="FFFF00"/>
                </a:highlight>
                <a:latin typeface="Menlo"/>
              </a:rPr>
              <a:t>TypeError: unhashable type: 'list'</a:t>
            </a:r>
          </a:p>
          <a:p>
            <a:pPr marL="688975" lvl="1" indent="-231775">
              <a:buFont typeface="Arial" panose="020B0604020202020204" pitchFamily="34" charset="0"/>
              <a:buChar char="•"/>
            </a:pPr>
            <a:endParaRPr lang="en-US" sz="2400">
              <a:solidFill>
                <a:srgbClr val="000000"/>
              </a:solidFill>
              <a:latin typeface="Menlo"/>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hashable_tuple = (("admin", "read"), "write") # hashable</a:t>
            </a:r>
            <a:endParaRPr lang="en-US" sz="20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access_rights = { hashable_tuple: True }</a:t>
            </a:r>
          </a:p>
        </p:txBody>
      </p:sp>
    </p:spTree>
    <p:extLst>
      <p:ext uri="{BB962C8B-B14F-4D97-AF65-F5344CB8AC3E}">
        <p14:creationId xmlns:p14="http://schemas.microsoft.com/office/powerpoint/2010/main" val="2179349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78D33-3B3B-23A1-9109-CD864116276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AAAB76E-220B-AC3B-A601-1FFDF95FD29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04513C8-0307-D960-FBB8-961FCDB76C7B}"/>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a:t>
            </a:r>
          </a:p>
        </p:txBody>
      </p:sp>
      <p:sp>
        <p:nvSpPr>
          <p:cNvPr id="5" name="TextBox 4">
            <a:extLst>
              <a:ext uri="{FF2B5EF4-FFF2-40B4-BE49-F238E27FC236}">
                <a16:creationId xmlns:a16="http://schemas.microsoft.com/office/drawing/2014/main" id="{B86ECEB9-CE05-E523-6248-A9F8D754CF62}"/>
              </a:ext>
            </a:extLst>
          </p:cNvPr>
          <p:cNvSpPr txBox="1"/>
          <p:nvPr/>
        </p:nvSpPr>
        <p:spPr>
          <a:xfrm>
            <a:off x="836614" y="906971"/>
            <a:ext cx="10323564" cy="5262979"/>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 by using tuples for data that should remain unchanged, and by making copies of lists before passing them to functions if modification is not intended.</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Copying lists ensures that modifications to copied objects do not unintentionally affect the original (particularly when dealing with mutable and nested data structures).</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list.copy() performs a shallow copy, meaning it only copies the outer list and keeps references to mutable elements inside.</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a:t>
            </a:r>
            <a:r>
              <a:rPr lang="en-US" sz="2400">
                <a:solidFill>
                  <a:schemeClr val="accent1">
                    <a:lumMod val="50000"/>
                  </a:schemeClr>
                </a:solidFill>
                <a:latin typeface="Arial" panose="020B0604020202020204" pitchFamily="34" charset="0"/>
                <a:cs typeface="Arial" panose="020B0604020202020204" pitchFamily="34" charset="0"/>
                <a:hlinkClick r:id="rId3"/>
              </a:rPr>
              <a:t>copy module </a:t>
            </a:r>
            <a:r>
              <a:rPr lang="en-US" sz="2400">
                <a:solidFill>
                  <a:schemeClr val="accent1">
                    <a:lumMod val="50000"/>
                  </a:schemeClr>
                </a:solidFill>
                <a:latin typeface="Arial" panose="020B0604020202020204" pitchFamily="34" charset="0"/>
                <a:cs typeface="Arial" panose="020B0604020202020204" pitchFamily="34" charset="0"/>
              </a:rPr>
              <a:t>allows programmers to create both shallow and deep copies of objects, </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 deep copy constructs a new compound object and then, recursively, inserts copies into it of the objects found in the original.</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difference is only relevant for compound objects (objects that contain other objects, like lists or class instances).</a:t>
            </a:r>
          </a:p>
        </p:txBody>
      </p:sp>
    </p:spTree>
    <p:extLst>
      <p:ext uri="{BB962C8B-B14F-4D97-AF65-F5344CB8AC3E}">
        <p14:creationId xmlns:p14="http://schemas.microsoft.com/office/powerpoint/2010/main" val="33343037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94C49-3D26-1027-B6FF-8A55BCA76EC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ACD6AFE-F850-3817-492B-3BD17356E0EC}"/>
              </a:ext>
            </a:extLst>
          </p:cNvPr>
          <p:cNvPicPr>
            <a:picLocks noChangeAspect="1"/>
          </p:cNvPicPr>
          <p:nvPr/>
        </p:nvPicPr>
        <p:blipFill>
          <a:blip r:embed="rId2"/>
          <a:stretch>
            <a:fillRect/>
          </a:stretch>
        </p:blipFill>
        <p:spPr>
          <a:xfrm>
            <a:off x="104932" y="-33129"/>
            <a:ext cx="12192000" cy="6891129"/>
          </a:xfrm>
          <a:prstGeom prst="rect">
            <a:avLst/>
          </a:prstGeom>
        </p:spPr>
      </p:pic>
      <p:sp>
        <p:nvSpPr>
          <p:cNvPr id="4" name="TextBox 3">
            <a:extLst>
              <a:ext uri="{FF2B5EF4-FFF2-40B4-BE49-F238E27FC236}">
                <a16:creationId xmlns:a16="http://schemas.microsoft.com/office/drawing/2014/main" id="{BF07656B-BA7F-E294-5B3E-6CEF7E9157AD}"/>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The Shallow Copy Problem</a:t>
            </a:r>
          </a:p>
        </p:txBody>
      </p:sp>
      <p:sp>
        <p:nvSpPr>
          <p:cNvPr id="5" name="TextBox 4">
            <a:extLst>
              <a:ext uri="{FF2B5EF4-FFF2-40B4-BE49-F238E27FC236}">
                <a16:creationId xmlns:a16="http://schemas.microsoft.com/office/drawing/2014/main" id="{23C4A6DA-4772-77CF-63FA-971BF68B5A11}"/>
              </a:ext>
            </a:extLst>
          </p:cNvPr>
          <p:cNvSpPr txBox="1"/>
          <p:nvPr/>
        </p:nvSpPr>
        <p:spPr>
          <a:xfrm>
            <a:off x="836614" y="906971"/>
            <a:ext cx="10323564" cy="4955203"/>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Since shallow_copy only copied references to the inner lists, modifying an element inside shallow_copy also affected the original_list.</a:t>
            </a:r>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 = copy.copy(original_list)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[[99,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print(shallow_copy)   # Output: [[99, 2, 3], [4, 5, 6]]</a:t>
            </a:r>
          </a:p>
          <a:p>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626937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1BB4F-3769-7951-6DDB-B4459AF4B67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1DA22A0-0AFA-F362-8511-C368E2BB6BD2}"/>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2B31251-0586-4A77-9A63-913889698303}"/>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Deep Copies</a:t>
            </a:r>
          </a:p>
        </p:txBody>
      </p:sp>
      <p:sp>
        <p:nvSpPr>
          <p:cNvPr id="5" name="TextBox 4">
            <a:extLst>
              <a:ext uri="{FF2B5EF4-FFF2-40B4-BE49-F238E27FC236}">
                <a16:creationId xmlns:a16="http://schemas.microsoft.com/office/drawing/2014/main" id="{B78E1D95-078B-5BA2-8A5B-EE10D42C153F}"/>
              </a:ext>
            </a:extLst>
          </p:cNvPr>
          <p:cNvSpPr txBox="1"/>
          <p:nvPr/>
        </p:nvSpPr>
        <p:spPr>
          <a:xfrm>
            <a:off x="836614" y="906971"/>
            <a:ext cx="10323564" cy="4462760"/>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copy.deepcopy() creates a new object and recursively copies all objects within it, ensuring that nested mutable objects are fully duplicated rather than just referenced so the copied object is completely independent.</a:t>
            </a: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 = copy.deepcopy(original_list)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[[1, 2, 3], [4, 5, 6]]  (Unchanged)</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print(deep_copy)      # Output: [[99, 2, 3], [4, 5, 6]]  (Modified)</a:t>
            </a:r>
          </a:p>
        </p:txBody>
      </p:sp>
    </p:spTree>
    <p:extLst>
      <p:ext uri="{BB962C8B-B14F-4D97-AF65-F5344CB8AC3E}">
        <p14:creationId xmlns:p14="http://schemas.microsoft.com/office/powerpoint/2010/main" val="1739654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DCFD6-FAB1-A52B-F1EB-ACF777FB5E3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C959D0D-3F57-1D1A-6A6F-E1F0D43DA2A9}"/>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5BDC787B-E4CE-B59A-89CB-A5F7D2CAF49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Index Errors/Boundary Overflow Best Practices</a:t>
            </a:r>
          </a:p>
        </p:txBody>
      </p:sp>
      <p:sp>
        <p:nvSpPr>
          <p:cNvPr id="5" name="TextBox 4">
            <a:extLst>
              <a:ext uri="{FF2B5EF4-FFF2-40B4-BE49-F238E27FC236}">
                <a16:creationId xmlns:a16="http://schemas.microsoft.com/office/drawing/2014/main" id="{A786BC94-0182-297B-0DEC-07A9DAA776F9}"/>
              </a:ext>
            </a:extLst>
          </p:cNvPr>
          <p:cNvSpPr txBox="1"/>
          <p:nvPr/>
        </p:nvSpPr>
        <p:spPr>
          <a:xfrm>
            <a:off x="836614" y="906971"/>
            <a:ext cx="10323564" cy="2923877"/>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Validate &amp; Check Index Values Before Accessing</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Always check if an index is within range before accessing elements.</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len() to determine valid index ranges.</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Validate user input before using it as an index.</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Handle unexpected errors using try-except.</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Prefer iteration over direct indexing when possible.</a:t>
            </a:r>
          </a:p>
        </p:txBody>
      </p:sp>
    </p:spTree>
    <p:extLst>
      <p:ext uri="{BB962C8B-B14F-4D97-AF65-F5344CB8AC3E}">
        <p14:creationId xmlns:p14="http://schemas.microsoft.com/office/powerpoint/2010/main" val="3696631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C5249-FBD9-E03B-A186-0FEB956A8AF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1901461-8ABE-FC63-A05E-56484A4CDA57}"/>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E45CD718-069A-CF9C-C21E-7A0EA083589A}"/>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Validate &amp; Check Index Values Before Accessing</a:t>
            </a:r>
          </a:p>
        </p:txBody>
      </p:sp>
      <p:sp>
        <p:nvSpPr>
          <p:cNvPr id="5" name="TextBox 4">
            <a:extLst>
              <a:ext uri="{FF2B5EF4-FFF2-40B4-BE49-F238E27FC236}">
                <a16:creationId xmlns:a16="http://schemas.microsoft.com/office/drawing/2014/main" id="{B31513E4-8F00-94E6-7BFA-F910B3616EAC}"/>
              </a:ext>
            </a:extLst>
          </p:cNvPr>
          <p:cNvSpPr txBox="1"/>
          <p:nvPr/>
        </p:nvSpPr>
        <p:spPr>
          <a:xfrm>
            <a:off x="604266" y="1161804"/>
            <a:ext cx="4237556" cy="3847207"/>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Always check if an index is within range before accessing elements.</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len() to determine </a:t>
            </a:r>
            <a:br>
              <a:rPr lang="en-US" sz="2400">
                <a:solidFill>
                  <a:schemeClr val="accent1">
                    <a:lumMod val="50000"/>
                  </a:schemeClr>
                </a:solidFill>
                <a:latin typeface="Arial" panose="020B0604020202020204" pitchFamily="34" charset="0"/>
                <a:cs typeface="Arial" panose="020B0604020202020204" pitchFamily="34" charset="0"/>
              </a:rPr>
            </a:br>
            <a:r>
              <a:rPr lang="en-US" sz="2400">
                <a:solidFill>
                  <a:schemeClr val="accent1">
                    <a:lumMod val="50000"/>
                  </a:schemeClr>
                </a:solidFill>
                <a:latin typeface="Arial" panose="020B0604020202020204" pitchFamily="34" charset="0"/>
                <a:cs typeface="Arial" panose="020B0604020202020204" pitchFamily="34" charset="0"/>
              </a:rPr>
              <a:t>valid index ranges.</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Validate user input before using it as an index.</a:t>
            </a:r>
          </a:p>
        </p:txBody>
      </p:sp>
      <p:sp>
        <p:nvSpPr>
          <p:cNvPr id="6" name="TextBox 5">
            <a:extLst>
              <a:ext uri="{FF2B5EF4-FFF2-40B4-BE49-F238E27FC236}">
                <a16:creationId xmlns:a16="http://schemas.microsoft.com/office/drawing/2014/main" id="{7F262E7B-C7F3-CFE6-458F-E453529C1D1A}"/>
              </a:ext>
            </a:extLst>
          </p:cNvPr>
          <p:cNvSpPr txBox="1"/>
          <p:nvPr/>
        </p:nvSpPr>
        <p:spPr>
          <a:xfrm>
            <a:off x="5082576" y="1161804"/>
            <a:ext cx="6782137" cy="4770537"/>
          </a:xfrm>
          <a:prstGeom prst="rect">
            <a:avLst/>
          </a:prstGeom>
          <a:noFill/>
        </p:spPr>
        <p:txBody>
          <a:bodyPr wrap="square">
            <a:spAutoFit/>
          </a:bodyPr>
          <a:lstStyle/>
          <a:p>
            <a:r>
              <a:rPr lang="en-US" sz="1600" b="1">
                <a:latin typeface="Consolas" panose="020B0609020204030204" pitchFamily="49" charset="0"/>
              </a:rPr>
              <a:t> # Safely retrieve an element from a list</a:t>
            </a:r>
            <a:br>
              <a:rPr lang="en-US" sz="1600" b="1">
                <a:latin typeface="Consolas" panose="020B0609020204030204" pitchFamily="49" charset="0"/>
              </a:rPr>
            </a:br>
            <a:r>
              <a:rPr lang="en-US" sz="1600" b="1">
                <a:latin typeface="Consolas" panose="020B0609020204030204" pitchFamily="49" charset="0"/>
              </a:rPr>
              <a:t>def get_element(lst, index):</a:t>
            </a:r>
          </a:p>
          <a:p>
            <a:r>
              <a:rPr lang="en-US" sz="1600" b="1">
                <a:latin typeface="Consolas" panose="020B0609020204030204" pitchFamily="49" charset="0"/>
              </a:rPr>
              <a:t>    if not isinstance(index, int): # Validate user input</a:t>
            </a:r>
          </a:p>
          <a:p>
            <a:r>
              <a:rPr lang="en-US" sz="1600" b="1">
                <a:latin typeface="Consolas" panose="020B0609020204030204" pitchFamily="49" charset="0"/>
              </a:rPr>
              <a:t>        print("Error: Index must be an integer.")</a:t>
            </a:r>
          </a:p>
          <a:p>
            <a:r>
              <a:rPr lang="en-US" sz="1600" b="1">
                <a:latin typeface="Consolas" panose="020B0609020204030204" pitchFamily="49" charset="0"/>
              </a:rPr>
              <a:t>        return None</a:t>
            </a:r>
          </a:p>
          <a:p>
            <a:r>
              <a:rPr lang="en-US" sz="1600" b="1">
                <a:latin typeface="Consolas" panose="020B0609020204030204" pitchFamily="49" charset="0"/>
              </a:rPr>
              <a:t>    if 0 &lt;= index &lt; len(lst):  # Check if index is in range</a:t>
            </a:r>
          </a:p>
          <a:p>
            <a:r>
              <a:rPr lang="en-US" sz="1600" b="1">
                <a:latin typeface="Consolas" panose="020B0609020204030204" pitchFamily="49" charset="0"/>
              </a:rPr>
              <a:t>        return lst[index]</a:t>
            </a:r>
          </a:p>
          <a:p>
            <a:r>
              <a:rPr lang="en-US" sz="1600" b="1">
                <a:latin typeface="Consolas" panose="020B0609020204030204" pitchFamily="49" charset="0"/>
              </a:rPr>
              <a:t>    else:</a:t>
            </a:r>
          </a:p>
          <a:p>
            <a:r>
              <a:rPr lang="en-US" sz="1600" b="1">
                <a:latin typeface="Consolas" panose="020B0609020204030204" pitchFamily="49" charset="0"/>
              </a:rPr>
              <a:t>        print("Error: Index out of range.")</a:t>
            </a:r>
          </a:p>
          <a:p>
            <a:r>
              <a:rPr lang="en-US" sz="1600" b="1">
                <a:latin typeface="Consolas" panose="020B0609020204030204" pitchFamily="49" charset="0"/>
              </a:rPr>
              <a:t>        return None</a:t>
            </a:r>
          </a:p>
          <a:p>
            <a:endParaRPr lang="en-US" sz="1600" b="1">
              <a:latin typeface="Consolas" panose="020B0609020204030204" pitchFamily="49" charset="0"/>
            </a:endParaRPr>
          </a:p>
          <a:p>
            <a:r>
              <a:rPr lang="en-US" sz="1600" b="1">
                <a:latin typeface="Consolas" panose="020B0609020204030204" pitchFamily="49" charset="0"/>
              </a:rPr>
              <a:t># Example usage</a:t>
            </a:r>
          </a:p>
          <a:p>
            <a:r>
              <a:rPr lang="en-US" sz="1600" b="1">
                <a:latin typeface="Consolas" panose="020B0609020204030204" pitchFamily="49" charset="0"/>
              </a:rPr>
              <a:t>my_list = ["apple", "banana", "cherry"]</a:t>
            </a:r>
          </a:p>
          <a:p>
            <a:r>
              <a:rPr lang="en-US" sz="1600" b="1">
                <a:latin typeface="Consolas" panose="020B0609020204030204" pitchFamily="49" charset="0"/>
              </a:rPr>
              <a:t># Valid index</a:t>
            </a:r>
          </a:p>
          <a:p>
            <a:r>
              <a:rPr lang="en-US" sz="1600" b="1">
                <a:latin typeface="Consolas" panose="020B0609020204030204" pitchFamily="49" charset="0"/>
              </a:rPr>
              <a:t>print(get_element(my_list, 1)) </a:t>
            </a:r>
          </a:p>
          <a:p>
            <a:r>
              <a:rPr lang="en-US" sz="1600" b="1">
                <a:latin typeface="Consolas" panose="020B0609020204030204" pitchFamily="49" charset="0"/>
              </a:rPr>
              <a:t># Out-of-range index</a:t>
            </a:r>
          </a:p>
          <a:p>
            <a:r>
              <a:rPr lang="en-US" sz="1600" b="1">
                <a:latin typeface="Consolas" panose="020B0609020204030204" pitchFamily="49" charset="0"/>
              </a:rPr>
              <a:t>print(get_element(my_list, 5))</a:t>
            </a:r>
          </a:p>
          <a:p>
            <a:r>
              <a:rPr lang="en-US" sz="1600" b="1">
                <a:latin typeface="Consolas" panose="020B0609020204030204" pitchFamily="49" charset="0"/>
              </a:rPr>
              <a:t># Invalid input (not an integer)</a:t>
            </a:r>
          </a:p>
          <a:p>
            <a:r>
              <a:rPr lang="en-US" sz="1600" b="1">
                <a:latin typeface="Consolas" panose="020B0609020204030204" pitchFamily="49" charset="0"/>
              </a:rPr>
              <a:t>print(get_element(my_list, "two"))</a:t>
            </a:r>
          </a:p>
        </p:txBody>
      </p:sp>
    </p:spTree>
    <p:extLst>
      <p:ext uri="{BB962C8B-B14F-4D97-AF65-F5344CB8AC3E}">
        <p14:creationId xmlns:p14="http://schemas.microsoft.com/office/powerpoint/2010/main" val="36508694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9DE24-11E3-B58C-325C-03784DC0AB4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7948E7C-D1F5-8DD4-3848-32B003C5F3D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9947D70E-4EC6-9F57-4994-E8D33286F171}"/>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Handle Unexpected Errors Using try-except</a:t>
            </a:r>
          </a:p>
        </p:txBody>
      </p:sp>
      <p:sp>
        <p:nvSpPr>
          <p:cNvPr id="5" name="TextBox 4">
            <a:extLst>
              <a:ext uri="{FF2B5EF4-FFF2-40B4-BE49-F238E27FC236}">
                <a16:creationId xmlns:a16="http://schemas.microsoft.com/office/drawing/2014/main" id="{E5C77192-6489-D6CE-E4A5-B7C7069ED03D}"/>
              </a:ext>
            </a:extLst>
          </p:cNvPr>
          <p:cNvSpPr txBox="1"/>
          <p:nvPr/>
        </p:nvSpPr>
        <p:spPr>
          <a:xfrm>
            <a:off x="836614" y="906971"/>
            <a:ext cx="10323564" cy="4339650"/>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Use try-except to catch IndexError without crashing.</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Return a default value or a meaningful message on failure.</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Log errors for debugging instead of silently failing.</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try:    </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print(my_list[3])  </a:t>
            </a:r>
          </a:p>
          <a:p>
            <a:pPr marL="914400"/>
            <a:r>
              <a:rPr lang="en-US" sz="2400" b="1">
                <a:solidFill>
                  <a:schemeClr val="accent1">
                    <a:lumMod val="50000"/>
                  </a:schemeClr>
                </a:solidFill>
                <a:latin typeface="Consolas" panose="020B0609020204030204" pitchFamily="49" charset="0"/>
                <a:cs typeface="Arial" panose="020B0604020202020204" pitchFamily="34" charset="0"/>
              </a:rPr>
              <a:t>except IndexError:    </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print("Index out of range!")</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87011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A1856-8075-8F08-77C4-73C39503C5A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D0608FD0-99BA-AA32-CAB8-8547985C419C}"/>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2FED457-6879-E693-5503-71891DE7E4BA}"/>
              </a:ext>
            </a:extLst>
          </p:cNvPr>
          <p:cNvSpPr txBox="1"/>
          <p:nvPr/>
        </p:nvSpPr>
        <p:spPr>
          <a:xfrm>
            <a:off x="604266" y="136955"/>
            <a:ext cx="10555912"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Prefer Built-In Iteration Over Direct Indexing (Lists)</a:t>
            </a:r>
          </a:p>
        </p:txBody>
      </p:sp>
      <p:sp>
        <p:nvSpPr>
          <p:cNvPr id="5" name="TextBox 4">
            <a:extLst>
              <a:ext uri="{FF2B5EF4-FFF2-40B4-BE49-F238E27FC236}">
                <a16:creationId xmlns:a16="http://schemas.microsoft.com/office/drawing/2014/main" id="{0378DBAD-6BD3-F74B-1817-85683D357BA1}"/>
              </a:ext>
            </a:extLst>
          </p:cNvPr>
          <p:cNvSpPr txBox="1"/>
          <p:nvPr/>
        </p:nvSpPr>
        <p:spPr>
          <a:xfrm>
            <a:off x="836614" y="906971"/>
            <a:ext cx="10323564" cy="5693866"/>
          </a:xfrm>
          <a:prstGeom prst="rect">
            <a:avLst/>
          </a:prstGeom>
          <a:noFill/>
        </p:spPr>
        <p:txBody>
          <a:bodyPr wrap="square" rtlCol="0">
            <a:spAutoFit/>
          </a:bodyPr>
          <a:lstStyle/>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for loops instead of manually tracking indices</a:t>
            </a:r>
          </a:p>
          <a:p>
            <a:pPr marL="687388" lvl="2" indent="-230188">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Manual index tracking is often unnecessary and can introduce errors, making code harder to read and maintain. </a:t>
            </a:r>
          </a:p>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built-in iteration methods that automatically handle indexing.</a:t>
            </a:r>
          </a:p>
          <a:p>
            <a:pPr marL="914400" lvl="1" indent="-230188">
              <a:buFont typeface="Arial" panose="020B0604020202020204" pitchFamily="34" charset="0"/>
              <a:buChar char="•"/>
            </a:pPr>
            <a:r>
              <a:rPr lang="en-US" sz="2200">
                <a:solidFill>
                  <a:schemeClr val="accent1">
                    <a:lumMod val="50000"/>
                  </a:schemeClr>
                </a:solidFill>
                <a:latin typeface="Arial" panose="020B0604020202020204" pitchFamily="34" charset="0"/>
                <a:cs typeface="Arial" panose="020B0604020202020204" pitchFamily="34" charset="0"/>
              </a:rPr>
              <a:t>Instead of this:</a:t>
            </a:r>
          </a:p>
          <a:p>
            <a:pPr marL="230188" lvl="1" indent="-230188">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marL="1371600" lvl="1"/>
            <a:r>
              <a:rPr lang="en-US" sz="2000" b="1">
                <a:solidFill>
                  <a:schemeClr val="accent1">
                    <a:lumMod val="50000"/>
                  </a:schemeClr>
                </a:solidFill>
                <a:latin typeface="Consolas" panose="020B0609020204030204" pitchFamily="49" charset="0"/>
                <a:cs typeface="Arial" panose="020B0604020202020204" pitchFamily="34" charset="0"/>
              </a:rPr>
              <a:t>my_list = ["apple", "banana", "cherry"]</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index = 0  # Manually tracking index</a:t>
            </a:r>
          </a:p>
          <a:p>
            <a:pPr marL="1371600" lvl="1"/>
            <a:endParaRPr lang="en-US" sz="1000" b="1">
              <a:solidFill>
                <a:schemeClr val="accent1">
                  <a:lumMod val="50000"/>
                </a:schemeClr>
              </a:solidFill>
              <a:latin typeface="Consolas" panose="020B0609020204030204" pitchFamily="49" charset="0"/>
              <a:cs typeface="Arial" panose="020B0604020202020204" pitchFamily="34" charset="0"/>
            </a:endParaRPr>
          </a:p>
          <a:p>
            <a:pPr marL="1371600" lvl="1"/>
            <a:r>
              <a:rPr lang="en-US" sz="2000" b="1">
                <a:solidFill>
                  <a:schemeClr val="accent1">
                    <a:lumMod val="50000"/>
                  </a:schemeClr>
                </a:solidFill>
                <a:latin typeface="Consolas" panose="020B0609020204030204" pitchFamily="49" charset="0"/>
                <a:cs typeface="Arial" panose="020B0604020202020204" pitchFamily="34" charset="0"/>
              </a:rPr>
              <a:t>while index &lt; len(my_list):</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    print(my_list[index])</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    index += 1  # Manually updating index</a:t>
            </a:r>
          </a:p>
          <a:p>
            <a:pPr marL="914400" lvl="1"/>
            <a:endParaRPr lang="en-US" sz="1000" b="1">
              <a:solidFill>
                <a:schemeClr val="accent1">
                  <a:lumMod val="50000"/>
                </a:schemeClr>
              </a:solidFill>
              <a:latin typeface="Consolas" panose="020B0609020204030204" pitchFamily="49" charset="0"/>
              <a:cs typeface="Arial" panose="020B0604020202020204" pitchFamily="34" charset="0"/>
            </a:endParaRPr>
          </a:p>
          <a:p>
            <a:pPr marL="914400" lvl="1" indent="-231775">
              <a:buFont typeface="Arial" panose="020B0604020202020204" pitchFamily="34" charset="0"/>
              <a:buChar char="•"/>
            </a:pPr>
            <a:r>
              <a:rPr lang="en-US" sz="2200">
                <a:solidFill>
                  <a:schemeClr val="accent1">
                    <a:lumMod val="50000"/>
                  </a:schemeClr>
                </a:solidFill>
                <a:latin typeface="Arial" panose="020B0604020202020204" pitchFamily="34" charset="0"/>
                <a:cs typeface="Arial" panose="020B0604020202020204" pitchFamily="34" charset="0"/>
              </a:rPr>
              <a:t>Do this:</a:t>
            </a:r>
          </a:p>
          <a:p>
            <a:pPr marL="914400"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marL="1371600"/>
            <a:r>
              <a:rPr lang="en-US" sz="2000" b="1">
                <a:solidFill>
                  <a:schemeClr val="accent1">
                    <a:lumMod val="50000"/>
                  </a:schemeClr>
                </a:solidFill>
                <a:latin typeface="Consolas" panose="020B0609020204030204" pitchFamily="49" charset="0"/>
                <a:cs typeface="Arial" panose="020B0604020202020204" pitchFamily="34" charset="0"/>
              </a:rPr>
              <a:t>my_list = ["apple", "banana", "cherry"]</a:t>
            </a:r>
          </a:p>
          <a:p>
            <a:pPr marL="1371600"/>
            <a:r>
              <a:rPr lang="en-US" sz="2000" b="1">
                <a:solidFill>
                  <a:schemeClr val="accent1">
                    <a:lumMod val="50000"/>
                  </a:schemeClr>
                </a:solidFill>
                <a:latin typeface="Consolas" panose="020B0609020204030204" pitchFamily="49" charset="0"/>
                <a:cs typeface="Arial" panose="020B0604020202020204" pitchFamily="34" charset="0"/>
              </a:rPr>
              <a:t>for item in my_list:</a:t>
            </a:r>
          </a:p>
          <a:p>
            <a:pPr marL="1371600"/>
            <a:r>
              <a:rPr lang="en-US" sz="2000" b="1">
                <a:solidFill>
                  <a:schemeClr val="accent1">
                    <a:lumMod val="50000"/>
                  </a:schemeClr>
                </a:solidFill>
                <a:latin typeface="Consolas" panose="020B0609020204030204" pitchFamily="49" charset="0"/>
                <a:cs typeface="Arial" panose="020B0604020202020204" pitchFamily="34" charset="0"/>
              </a:rPr>
              <a:t>    print(item)  # No need to manage an index</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95901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9D4A4-18D1-38F2-5D0A-035414E0F44E}"/>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312D5526-FD7F-5DD4-7471-8D6605969C5E}"/>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E793B24-F71F-1671-8A5C-D366C264DE1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enumerate() For Index-Value Pairs</a:t>
            </a:r>
          </a:p>
        </p:txBody>
      </p:sp>
      <p:sp>
        <p:nvSpPr>
          <p:cNvPr id="5" name="TextBox 4">
            <a:extLst>
              <a:ext uri="{FF2B5EF4-FFF2-40B4-BE49-F238E27FC236}">
                <a16:creationId xmlns:a16="http://schemas.microsoft.com/office/drawing/2014/main" id="{F4090505-DE8B-8D55-006F-0D8F661FC228}"/>
              </a:ext>
            </a:extLst>
          </p:cNvPr>
          <p:cNvSpPr txBox="1"/>
          <p:nvPr/>
        </p:nvSpPr>
        <p:spPr>
          <a:xfrm>
            <a:off x="836613" y="906971"/>
            <a:ext cx="11207983" cy="4216539"/>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Need to track an index? Use enumerate()</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e.g., when reading a file line by line, to keep track of the line numbers for logging, debugging, or reporting errors. </a:t>
            </a:r>
          </a:p>
          <a:p>
            <a:pPr marL="688975" lvl="1"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fruits = ["apple", "banana", "cherry"]</a:t>
            </a:r>
          </a:p>
          <a:p>
            <a:pPr marL="914400"/>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 Using enumerate to iterate with index-value pairs</a:t>
            </a:r>
          </a:p>
          <a:p>
            <a:pPr marL="914400"/>
            <a:r>
              <a:rPr lang="en-US" sz="2400" b="1">
                <a:solidFill>
                  <a:schemeClr val="accent1">
                    <a:lumMod val="50000"/>
                  </a:schemeClr>
                </a:solidFill>
                <a:latin typeface="Consolas" panose="020B0609020204030204" pitchFamily="49" charset="0"/>
                <a:cs typeface="Arial" panose="020B0604020202020204" pitchFamily="34" charset="0"/>
              </a:rPr>
              <a:t>for index, fruit in enumerate(fruits):</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print(f"Index {index}: {fruit}")</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AF25C39-F4CE-6283-A7E9-B520E4E20F6D}"/>
              </a:ext>
            </a:extLst>
          </p:cNvPr>
          <p:cNvSpPr txBox="1"/>
          <p:nvPr/>
        </p:nvSpPr>
        <p:spPr>
          <a:xfrm>
            <a:off x="7140003" y="4739363"/>
            <a:ext cx="2197933" cy="1015663"/>
          </a:xfrm>
          <a:prstGeom prst="rect">
            <a:avLst/>
          </a:prstGeom>
          <a:solidFill>
            <a:srgbClr val="FFFF00"/>
          </a:solidFill>
        </p:spPr>
        <p:txBody>
          <a:bodyPr wrap="square">
            <a:spAutoFit/>
          </a:bodyPr>
          <a:lstStyle/>
          <a:p>
            <a:r>
              <a:rPr lang="en-US" sz="2000" b="1"/>
              <a:t>Index 0: apple</a:t>
            </a:r>
          </a:p>
          <a:p>
            <a:r>
              <a:rPr lang="en-US" sz="2000" b="1"/>
              <a:t>Index 1: banana</a:t>
            </a:r>
          </a:p>
          <a:p>
            <a:r>
              <a:rPr lang="en-US" sz="2000" b="1"/>
              <a:t>Index 2: cherry</a:t>
            </a:r>
          </a:p>
        </p:txBody>
      </p:sp>
    </p:spTree>
    <p:extLst>
      <p:ext uri="{BB962C8B-B14F-4D97-AF65-F5344CB8AC3E}">
        <p14:creationId xmlns:p14="http://schemas.microsoft.com/office/powerpoint/2010/main" val="1968607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F333D-EF11-C6D2-9B95-4827CC3F87FB}"/>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7A2191C4-8420-26FA-96CF-78F530A37EBD}"/>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CE33DA99-B37E-AC95-445E-24F61CAB2293}"/>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 Comprehensions</a:t>
            </a:r>
          </a:p>
        </p:txBody>
      </p:sp>
      <p:sp>
        <p:nvSpPr>
          <p:cNvPr id="5" name="TextBox 4">
            <a:extLst>
              <a:ext uri="{FF2B5EF4-FFF2-40B4-BE49-F238E27FC236}">
                <a16:creationId xmlns:a16="http://schemas.microsoft.com/office/drawing/2014/main" id="{D05A6D99-F3B2-09F3-45AA-0E6D40E01320}"/>
              </a:ext>
            </a:extLst>
          </p:cNvPr>
          <p:cNvSpPr txBox="1"/>
          <p:nvPr/>
        </p:nvSpPr>
        <p:spPr>
          <a:xfrm>
            <a:off x="836614" y="906971"/>
            <a:ext cx="10323564" cy="4401205"/>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While built-in iteration methods provide both provide security and efficiency benefits over direct indexing, list comprehensions can offer advantages</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List comprehensions:</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are more readable than built-in iteration functions, making code easier to understand.</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allow inline conditions (if-else) without needing additional filter() calls or complex lambda functions.</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are optimized at the C-level, often making them faster.</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can be simpler to debug when dealing with complex transformations.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831728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CAB27-B9C3-B935-6F8C-5FD25840F57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B89F517-1C77-81C4-CF76-ACE6293E45E2}"/>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B3DC462E-1390-0DBB-1052-5EA4EF595F9C}"/>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 Comprehensions</a:t>
            </a:r>
          </a:p>
        </p:txBody>
      </p:sp>
      <p:sp>
        <p:nvSpPr>
          <p:cNvPr id="5" name="TextBox 4">
            <a:extLst>
              <a:ext uri="{FF2B5EF4-FFF2-40B4-BE49-F238E27FC236}">
                <a16:creationId xmlns:a16="http://schemas.microsoft.com/office/drawing/2014/main" id="{F2846A13-0C2B-A4B1-0169-9A864560901B}"/>
              </a:ext>
            </a:extLst>
          </p:cNvPr>
          <p:cNvSpPr txBox="1"/>
          <p:nvPr/>
        </p:nvSpPr>
        <p:spPr>
          <a:xfrm>
            <a:off x="836614" y="906971"/>
            <a:ext cx="10323564" cy="5016758"/>
          </a:xfrm>
          <a:prstGeom prst="rect">
            <a:avLst/>
          </a:prstGeom>
          <a:noFill/>
        </p:spPr>
        <p:txBody>
          <a:bodyPr wrap="square" rtlCol="0">
            <a:spAutoFit/>
          </a:bodyPr>
          <a:lstStyle/>
          <a:p>
            <a:pPr marL="1587" lvl="1"/>
            <a:r>
              <a:rPr lang="en-US" sz="1600" b="1">
                <a:solidFill>
                  <a:schemeClr val="accent1">
                    <a:lumMod val="50000"/>
                  </a:schemeClr>
                </a:solidFill>
                <a:latin typeface="Consolas" panose="020B0609020204030204" pitchFamily="49" charset="0"/>
                <a:cs typeface="Arial" panose="020B0604020202020204" pitchFamily="34" charset="0"/>
              </a:rPr>
              <a:t>numbers = [1, 2, 3, 4, 5, 6]</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Compare list comprehension to map/filter for readability</a:t>
            </a:r>
          </a:p>
          <a:p>
            <a:pPr marL="1587" lvl="1"/>
            <a:r>
              <a:rPr lang="en-US" sz="1600" b="1">
                <a:solidFill>
                  <a:schemeClr val="accent1">
                    <a:lumMod val="50000"/>
                  </a:schemeClr>
                </a:solidFill>
                <a:latin typeface="Consolas" panose="020B0609020204030204" pitchFamily="49" charset="0"/>
                <a:cs typeface="Arial" panose="020B0604020202020204" pitchFamily="34" charset="0"/>
              </a:rPr>
              <a:t>squared_evens = [x**2 for x in numbers if x % 2 == 0]</a:t>
            </a:r>
          </a:p>
          <a:p>
            <a:pPr marL="1587" lvl="1"/>
            <a:r>
              <a:rPr lang="en-US" sz="1600" b="1">
                <a:solidFill>
                  <a:schemeClr val="accent1">
                    <a:lumMod val="50000"/>
                  </a:schemeClr>
                </a:solidFill>
                <a:latin typeface="Consolas" panose="020B0609020204030204" pitchFamily="49" charset="0"/>
                <a:cs typeface="Arial" panose="020B0604020202020204" pitchFamily="34" charset="0"/>
              </a:rPr>
              <a:t>squared_evens_map = list(map(lambda x: x**2, filter(lambda x: x % 2 == 0, numbers)))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print("List Comprehension:", squared_evens)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print("Map + Filter:", squared_evens_map)</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Inline conditions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words = ["apple", "banana", "cherry", "date"]</a:t>
            </a:r>
          </a:p>
          <a:p>
            <a:pPr marL="1587" lvl="1"/>
            <a:r>
              <a:rPr lang="en-US" sz="1600" b="1">
                <a:solidFill>
                  <a:schemeClr val="accent1">
                    <a:lumMod val="50000"/>
                  </a:schemeClr>
                </a:solidFill>
                <a:latin typeface="Consolas" panose="020B0609020204030204" pitchFamily="49" charset="0"/>
                <a:cs typeface="Arial" panose="020B0604020202020204" pitchFamily="34" charset="0"/>
              </a:rPr>
              <a:t>word_lengths = [len(word) if "a" in word else 0 for word in words]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print("Word Lengths:", word_lengths)</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Optimized execution</a:t>
            </a:r>
          </a:p>
          <a:p>
            <a:pPr marL="1587" lvl="1"/>
            <a:r>
              <a:rPr lang="en-US" sz="1600" b="1">
                <a:solidFill>
                  <a:schemeClr val="accent1">
                    <a:lumMod val="50000"/>
                  </a:schemeClr>
                </a:solidFill>
                <a:latin typeface="Consolas" panose="020B0609020204030204" pitchFamily="49" charset="0"/>
                <a:cs typeface="Arial" panose="020B0604020202020204" pitchFamily="34" charset="0"/>
              </a:rPr>
              <a:t>large_numbers = list(range(1000000))</a:t>
            </a:r>
          </a:p>
          <a:p>
            <a:pPr marL="1587" lvl="1"/>
            <a:r>
              <a:rPr lang="en-US" sz="1600" b="1">
                <a:solidFill>
                  <a:schemeClr val="accent1">
                    <a:lumMod val="50000"/>
                  </a:schemeClr>
                </a:solidFill>
                <a:latin typeface="Consolas" panose="020B0609020204030204" pitchFamily="49" charset="0"/>
                <a:cs typeface="Arial" panose="020B0604020202020204" pitchFamily="34" charset="0"/>
              </a:rPr>
              <a:t>double_numbers = [x * 2 for x in large_numbers]  # Faster than map()</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Simple debugging</a:t>
            </a:r>
          </a:p>
          <a:p>
            <a:pPr marL="1587" lvl="1"/>
            <a:r>
              <a:rPr lang="en-US" sz="1600" b="1">
                <a:solidFill>
                  <a:schemeClr val="accent1">
                    <a:lumMod val="50000"/>
                  </a:schemeClr>
                </a:solidFill>
                <a:latin typeface="Consolas" panose="020B0609020204030204" pitchFamily="49" charset="0"/>
                <a:cs typeface="Arial" panose="020B0604020202020204" pitchFamily="34" charset="0"/>
              </a:rPr>
              <a:t>debug_list = [x * 2 for x in numbers if x % 2 == 0]</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print("Debug List:", debug_list)</a:t>
            </a:r>
            <a:endParaRPr lang="en-US" sz="1400" b="1">
              <a:solidFill>
                <a:schemeClr val="accent1">
                  <a:lumMod val="50000"/>
                </a:schemeClr>
              </a:solidFill>
              <a:latin typeface="Consolas" panose="020B0609020204030204" pitchFamily="49" charset="0"/>
              <a:cs typeface="Arial" panose="020B0604020202020204" pitchFamily="34" charset="0"/>
            </a:endParaRPr>
          </a:p>
        </p:txBody>
      </p:sp>
      <p:sp>
        <p:nvSpPr>
          <p:cNvPr id="6" name="TextBox 5">
            <a:extLst>
              <a:ext uri="{FF2B5EF4-FFF2-40B4-BE49-F238E27FC236}">
                <a16:creationId xmlns:a16="http://schemas.microsoft.com/office/drawing/2014/main" id="{4FDDCAB4-2A4E-C9DA-0BB4-59EE9E1F50C5}"/>
              </a:ext>
            </a:extLst>
          </p:cNvPr>
          <p:cNvSpPr txBox="1"/>
          <p:nvPr/>
        </p:nvSpPr>
        <p:spPr>
          <a:xfrm>
            <a:off x="6848924" y="5067682"/>
            <a:ext cx="3468237" cy="1077218"/>
          </a:xfrm>
          <a:prstGeom prst="rect">
            <a:avLst/>
          </a:prstGeom>
          <a:solidFill>
            <a:srgbClr val="FFFF00"/>
          </a:solidFill>
        </p:spPr>
        <p:txBody>
          <a:bodyPr wrap="square">
            <a:spAutoFit/>
          </a:bodyPr>
          <a:lstStyle/>
          <a:p>
            <a:r>
              <a:rPr lang="en-US" sz="1600" b="1"/>
              <a:t>List Comprehension: [4, 16, 36]</a:t>
            </a:r>
          </a:p>
          <a:p>
            <a:r>
              <a:rPr lang="en-US" sz="1600" b="1"/>
              <a:t>Map + Filter: [4, 16, 36]</a:t>
            </a:r>
          </a:p>
          <a:p>
            <a:r>
              <a:rPr lang="en-US" sz="1600" b="1"/>
              <a:t>Word Lengths: [5, 6, 0, 4]</a:t>
            </a:r>
          </a:p>
          <a:p>
            <a:r>
              <a:rPr lang="en-US" sz="1600" b="1"/>
              <a:t>Debug List: [4, 8, 12]</a:t>
            </a:r>
          </a:p>
        </p:txBody>
      </p:sp>
    </p:spTree>
    <p:extLst>
      <p:ext uri="{BB962C8B-B14F-4D97-AF65-F5344CB8AC3E}">
        <p14:creationId xmlns:p14="http://schemas.microsoft.com/office/powerpoint/2010/main" val="2047788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D10-1CCD-2D6F-0867-569DF2FB333C}"/>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909D774-FE35-CD19-6DA3-5CED5638B8C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F0843EEA-BBC1-4096-1B11-DEC007FF3E4B}"/>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zip() to Iterate Over Multiple Lists Safely</a:t>
            </a:r>
          </a:p>
        </p:txBody>
      </p:sp>
      <p:sp>
        <p:nvSpPr>
          <p:cNvPr id="5" name="TextBox 4">
            <a:extLst>
              <a:ext uri="{FF2B5EF4-FFF2-40B4-BE49-F238E27FC236}">
                <a16:creationId xmlns:a16="http://schemas.microsoft.com/office/drawing/2014/main" id="{9AA23600-5227-B995-25A9-926AF1A85E90}"/>
              </a:ext>
            </a:extLst>
          </p:cNvPr>
          <p:cNvSpPr txBox="1"/>
          <p:nvPr/>
        </p:nvSpPr>
        <p:spPr>
          <a:xfrm>
            <a:off x="836614" y="906971"/>
            <a:ext cx="10323564" cy="2677656"/>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zip() allows you to iterate over multiple lists by pairing corresponding elements together.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This prevents IndexErrors, which can occur when iterating manually with indices if lists have different lengths.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By default, zip() stops at the shortest list, ensuring safe iteration.</a:t>
            </a:r>
          </a:p>
        </p:txBody>
      </p:sp>
    </p:spTree>
    <p:extLst>
      <p:ext uri="{BB962C8B-B14F-4D97-AF65-F5344CB8AC3E}">
        <p14:creationId xmlns:p14="http://schemas.microsoft.com/office/powerpoint/2010/main" val="36320077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D053E-B469-30B1-3C38-3ECBA8E6704B}"/>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17EE9B8B-B747-A1F1-B324-266762529D08}"/>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879C1A4-0DF2-4E9F-FDF6-AEED19BFC0B6}"/>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zip() to Iterate Over Multiple Lists Safely</a:t>
            </a:r>
          </a:p>
        </p:txBody>
      </p:sp>
      <p:sp>
        <p:nvSpPr>
          <p:cNvPr id="5" name="TextBox 4">
            <a:extLst>
              <a:ext uri="{FF2B5EF4-FFF2-40B4-BE49-F238E27FC236}">
                <a16:creationId xmlns:a16="http://schemas.microsoft.com/office/drawing/2014/main" id="{C05367E0-9DA3-C048-4639-F79A2EBC32D8}"/>
              </a:ext>
            </a:extLst>
          </p:cNvPr>
          <p:cNvSpPr txBox="1"/>
          <p:nvPr/>
        </p:nvSpPr>
        <p:spPr>
          <a:xfrm>
            <a:off x="836614" y="906971"/>
            <a:ext cx="10323564" cy="4154984"/>
          </a:xfrm>
          <a:prstGeom prst="rect">
            <a:avLst/>
          </a:prstGeom>
          <a:noFill/>
        </p:spPr>
        <p:txBody>
          <a:bodyPr wrap="square" rtlCol="0">
            <a:spAutoFit/>
          </a:bodyPr>
          <a:lstStyle/>
          <a:p>
            <a:pPr marL="1587" lvl="1"/>
            <a:r>
              <a:rPr lang="en-US" sz="2400" b="1">
                <a:solidFill>
                  <a:schemeClr val="accent1">
                    <a:lumMod val="50000"/>
                  </a:schemeClr>
                </a:solidFill>
                <a:latin typeface="Consolas" panose="020B0609020204030204" pitchFamily="49" charset="0"/>
                <a:cs typeface="Arial" panose="020B0604020202020204" pitchFamily="34" charset="0"/>
              </a:rPr>
              <a:t>names = ["Alice", "Bob", "Charlie"]</a:t>
            </a:r>
          </a:p>
          <a:p>
            <a:pPr marL="1587" lvl="1"/>
            <a:r>
              <a:rPr lang="en-US" sz="2400" b="1">
                <a:solidFill>
                  <a:schemeClr val="accent1">
                    <a:lumMod val="50000"/>
                  </a:schemeClr>
                </a:solidFill>
                <a:latin typeface="Consolas" panose="020B0609020204030204" pitchFamily="49" charset="0"/>
                <a:cs typeface="Arial" panose="020B0604020202020204" pitchFamily="34" charset="0"/>
              </a:rPr>
              <a:t>ages = [25, 30, 35]</a:t>
            </a:r>
          </a:p>
          <a:p>
            <a:pPr marL="1587" lvl="1"/>
            <a:r>
              <a:rPr lang="en-US" sz="2400" b="1">
                <a:solidFill>
                  <a:schemeClr val="accent1">
                    <a:lumMod val="50000"/>
                  </a:schemeClr>
                </a:solidFill>
                <a:latin typeface="Consolas" panose="020B0609020204030204" pitchFamily="49" charset="0"/>
                <a:cs typeface="Arial" panose="020B0604020202020204" pitchFamily="34" charset="0"/>
              </a:rPr>
              <a:t>cities = ["New York", "Los Angeles"]</a:t>
            </a:r>
          </a:p>
          <a:p>
            <a:pPr marL="1587" lvl="1"/>
            <a:endParaRPr lang="en-US" sz="2400" b="1">
              <a:solidFill>
                <a:schemeClr val="accent1">
                  <a:lumMod val="50000"/>
                </a:schemeClr>
              </a:solidFill>
              <a:latin typeface="Consolas" panose="020B0609020204030204" pitchFamily="49" charset="0"/>
              <a:cs typeface="Arial" panose="020B0604020202020204" pitchFamily="34" charset="0"/>
            </a:endParaRPr>
          </a:p>
          <a:p>
            <a:pPr marL="1587" lvl="1"/>
            <a:r>
              <a:rPr lang="en-US" sz="2400" b="1">
                <a:solidFill>
                  <a:schemeClr val="accent1">
                    <a:lumMod val="50000"/>
                  </a:schemeClr>
                </a:solidFill>
                <a:latin typeface="Consolas" panose="020B0609020204030204" pitchFamily="49" charset="0"/>
                <a:cs typeface="Arial" panose="020B0604020202020204" pitchFamily="34" charset="0"/>
              </a:rPr>
              <a:t># Safe iteration using zip()</a:t>
            </a:r>
          </a:p>
          <a:p>
            <a:pPr marL="1587" lvl="1"/>
            <a:r>
              <a:rPr lang="en-US" sz="2400" b="1">
                <a:solidFill>
                  <a:schemeClr val="accent1">
                    <a:lumMod val="50000"/>
                  </a:schemeClr>
                </a:solidFill>
                <a:latin typeface="Consolas" panose="020B0609020204030204" pitchFamily="49" charset="0"/>
                <a:cs typeface="Arial" panose="020B0604020202020204" pitchFamily="34" charset="0"/>
              </a:rPr>
              <a:t>for name, age, city in zip(names, ages, cities):</a:t>
            </a:r>
          </a:p>
          <a:p>
            <a:pPr marL="1587" lvl="1"/>
            <a:r>
              <a:rPr lang="en-US" sz="2400" b="1">
                <a:solidFill>
                  <a:schemeClr val="accent1">
                    <a:lumMod val="50000"/>
                  </a:schemeClr>
                </a:solidFill>
                <a:latin typeface="Consolas" panose="020B0609020204030204" pitchFamily="49" charset="0"/>
                <a:cs typeface="Arial" panose="020B0604020202020204" pitchFamily="34" charset="0"/>
              </a:rPr>
              <a:t>    print(f"{name}, {age} years old, lives in {city}")</a:t>
            </a:r>
          </a:p>
          <a:p>
            <a:pPr marL="1587" lvl="1"/>
            <a:endParaRPr lang="en-US" sz="2400" b="1">
              <a:solidFill>
                <a:schemeClr val="accent1">
                  <a:lumMod val="50000"/>
                </a:schemeClr>
              </a:solidFill>
              <a:latin typeface="Consolas" panose="020B0609020204030204" pitchFamily="49" charset="0"/>
              <a:cs typeface="Arial" panose="020B0604020202020204" pitchFamily="34" charset="0"/>
            </a:endParaRPr>
          </a:p>
          <a:p>
            <a:pPr marL="1587" lvl="1"/>
            <a:r>
              <a:rPr lang="en-US" sz="2400" b="1">
                <a:solidFill>
                  <a:schemeClr val="accent1">
                    <a:lumMod val="50000"/>
                  </a:schemeClr>
                </a:solidFill>
                <a:latin typeface="Consolas" panose="020B0609020204030204" pitchFamily="49" charset="0"/>
                <a:cs typeface="Arial" panose="020B0604020202020204" pitchFamily="34" charset="0"/>
              </a:rPr>
              <a:t># zip() stops at "Los Angeles" because cities has </a:t>
            </a:r>
          </a:p>
          <a:p>
            <a:pPr marL="1587" lvl="1"/>
            <a:r>
              <a:rPr lang="en-US" sz="2400" b="1">
                <a:solidFill>
                  <a:schemeClr val="accent1">
                    <a:lumMod val="50000"/>
                  </a:schemeClr>
                </a:solidFill>
                <a:latin typeface="Consolas" panose="020B0609020204030204" pitchFamily="49" charset="0"/>
                <a:cs typeface="Arial" panose="020B0604020202020204" pitchFamily="34" charset="0"/>
              </a:rPr>
              <a:t># fewer elements than names and ages, preventing </a:t>
            </a:r>
          </a:p>
          <a:p>
            <a:pPr marL="1587" lvl="1"/>
            <a:r>
              <a:rPr lang="en-US" sz="2400" b="1">
                <a:solidFill>
                  <a:schemeClr val="accent1">
                    <a:lumMod val="50000"/>
                  </a:schemeClr>
                </a:solidFill>
                <a:latin typeface="Consolas" panose="020B0609020204030204" pitchFamily="49" charset="0"/>
                <a:cs typeface="Arial" panose="020B0604020202020204" pitchFamily="34" charset="0"/>
              </a:rPr>
              <a:t># out-of-bounds errors</a:t>
            </a:r>
          </a:p>
        </p:txBody>
      </p:sp>
      <p:sp>
        <p:nvSpPr>
          <p:cNvPr id="6" name="TextBox 5">
            <a:extLst>
              <a:ext uri="{FF2B5EF4-FFF2-40B4-BE49-F238E27FC236}">
                <a16:creationId xmlns:a16="http://schemas.microsoft.com/office/drawing/2014/main" id="{0AEA1245-C3C3-BC8B-8AB9-869386D16D94}"/>
              </a:ext>
            </a:extLst>
          </p:cNvPr>
          <p:cNvSpPr txBox="1"/>
          <p:nvPr/>
        </p:nvSpPr>
        <p:spPr>
          <a:xfrm>
            <a:off x="5133975" y="5185640"/>
            <a:ext cx="4562475" cy="707886"/>
          </a:xfrm>
          <a:prstGeom prst="rect">
            <a:avLst/>
          </a:prstGeom>
          <a:solidFill>
            <a:srgbClr val="FFFF00"/>
          </a:solidFill>
        </p:spPr>
        <p:txBody>
          <a:bodyPr wrap="square">
            <a:spAutoFit/>
          </a:bodyPr>
          <a:lstStyle/>
          <a:p>
            <a:r>
              <a:rPr lang="en-US" sz="2000" b="1"/>
              <a:t>Alice, 25 years old, lives in New York</a:t>
            </a:r>
          </a:p>
          <a:p>
            <a:r>
              <a:rPr lang="en-US" sz="2000" b="1"/>
              <a:t>Bob, 30 years old, lives in Los Angeles</a:t>
            </a:r>
          </a:p>
        </p:txBody>
      </p:sp>
    </p:spTree>
    <p:extLst>
      <p:ext uri="{BB962C8B-B14F-4D97-AF65-F5344CB8AC3E}">
        <p14:creationId xmlns:p14="http://schemas.microsoft.com/office/powerpoint/2010/main" val="17601292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E6CC1-A969-9076-060B-B42BEDA29CC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6760D90-32DA-3DD4-38EC-7204A7E1D6E3}"/>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7FFCDD59-827D-67A1-2724-6BB535F9CD2D}"/>
              </a:ext>
            </a:extLst>
          </p:cNvPr>
          <p:cNvSpPr txBox="1"/>
          <p:nvPr/>
        </p:nvSpPr>
        <p:spPr>
          <a:xfrm>
            <a:off x="295275" y="230333"/>
            <a:ext cx="1072858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zip() to Iterate Over Multiple Lists Safely</a:t>
            </a:r>
          </a:p>
        </p:txBody>
      </p:sp>
      <p:sp>
        <p:nvSpPr>
          <p:cNvPr id="5" name="TextBox 4">
            <a:extLst>
              <a:ext uri="{FF2B5EF4-FFF2-40B4-BE49-F238E27FC236}">
                <a16:creationId xmlns:a16="http://schemas.microsoft.com/office/drawing/2014/main" id="{1C95E63F-D77B-7774-B5AF-FB73EFA2FC9C}"/>
              </a:ext>
            </a:extLst>
          </p:cNvPr>
          <p:cNvSpPr txBox="1"/>
          <p:nvPr/>
        </p:nvSpPr>
        <p:spPr>
          <a:xfrm>
            <a:off x="390526" y="1106996"/>
            <a:ext cx="11712002" cy="5016758"/>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To handle mismatched lengths differently, itertools.zip_longest() can be used.</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Here, zip_longest() ensures that Charlie is included even though cities has fewer elements, using "Unknown" as the default value.</a:t>
            </a:r>
          </a:p>
          <a:p>
            <a:pPr marL="1587" lvl="1"/>
            <a:endParaRPr lang="en-US" sz="28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from itertools import zip_longest</a:t>
            </a:r>
          </a:p>
          <a:p>
            <a:pPr lvl="1"/>
            <a:endParaRPr lang="en-US" sz="2000" b="1">
              <a:solidFill>
                <a:schemeClr val="accent1">
                  <a:lumMod val="50000"/>
                </a:schemeClr>
              </a:solidFill>
              <a:latin typeface="Consolas" panose="020B0609020204030204" pitchFamily="49"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names = ["Alice", "Bob", "Charlie"]</a:t>
            </a:r>
          </a:p>
          <a:p>
            <a:pPr lvl="1"/>
            <a:r>
              <a:rPr lang="en-US" sz="2000" b="1">
                <a:solidFill>
                  <a:schemeClr val="accent1">
                    <a:lumMod val="50000"/>
                  </a:schemeClr>
                </a:solidFill>
                <a:latin typeface="Consolas" panose="020B0609020204030204" pitchFamily="49" charset="0"/>
                <a:cs typeface="Arial" panose="020B0604020202020204" pitchFamily="34" charset="0"/>
              </a:rPr>
              <a:t>ages = [25, 30, 35]</a:t>
            </a:r>
          </a:p>
          <a:p>
            <a:pPr lvl="1"/>
            <a:r>
              <a:rPr lang="en-US" sz="2000" b="1">
                <a:solidFill>
                  <a:schemeClr val="accent1">
                    <a:lumMod val="50000"/>
                  </a:schemeClr>
                </a:solidFill>
                <a:latin typeface="Consolas" panose="020B0609020204030204" pitchFamily="49" charset="0"/>
                <a:cs typeface="Arial" panose="020B0604020202020204" pitchFamily="34" charset="0"/>
              </a:rPr>
              <a:t>cities = ["New York", "Los Angeles"]</a:t>
            </a:r>
          </a:p>
          <a:p>
            <a:pPr lvl="1"/>
            <a:endParaRPr lang="en-US" sz="2000" b="1">
              <a:solidFill>
                <a:schemeClr val="accent1">
                  <a:lumMod val="50000"/>
                </a:schemeClr>
              </a:solidFill>
              <a:latin typeface="Consolas" panose="020B0609020204030204" pitchFamily="49"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 Safe iteration using zip_longest() with a default value of "Unknown"</a:t>
            </a:r>
          </a:p>
          <a:p>
            <a:pPr lvl="1"/>
            <a:r>
              <a:rPr lang="en-US" sz="2000" b="1">
                <a:solidFill>
                  <a:schemeClr val="accent1">
                    <a:lumMod val="50000"/>
                  </a:schemeClr>
                </a:solidFill>
                <a:latin typeface="Consolas" panose="020B0609020204030204" pitchFamily="49" charset="0"/>
                <a:cs typeface="Arial" panose="020B0604020202020204" pitchFamily="34" charset="0"/>
              </a:rPr>
              <a:t>for name, age, city in zip_longest(names, ages, cities, fillvalue="Unknown"):</a:t>
            </a:r>
          </a:p>
          <a:p>
            <a:pPr lvl="1"/>
            <a:r>
              <a:rPr lang="en-US" sz="2000" b="1">
                <a:solidFill>
                  <a:schemeClr val="accent1">
                    <a:lumMod val="50000"/>
                  </a:schemeClr>
                </a:solidFill>
                <a:latin typeface="Consolas" panose="020B0609020204030204" pitchFamily="49" charset="0"/>
                <a:cs typeface="Arial" panose="020B0604020202020204" pitchFamily="34" charset="0"/>
              </a:rPr>
              <a:t>    print(f"{name}, {age} years old, lives in {city}")</a:t>
            </a:r>
            <a:endParaRPr lang="en-US" sz="2800" b="1">
              <a:solidFill>
                <a:schemeClr val="accent1">
                  <a:lumMod val="50000"/>
                </a:schemeClr>
              </a:solidFill>
              <a:latin typeface="Consolas" panose="020B0609020204030204" pitchFamily="49" charset="0"/>
              <a:cs typeface="Arial" panose="020B0604020202020204" pitchFamily="34" charset="0"/>
            </a:endParaRPr>
          </a:p>
        </p:txBody>
      </p:sp>
      <p:sp>
        <p:nvSpPr>
          <p:cNvPr id="6" name="TextBox 5">
            <a:extLst>
              <a:ext uri="{FF2B5EF4-FFF2-40B4-BE49-F238E27FC236}">
                <a16:creationId xmlns:a16="http://schemas.microsoft.com/office/drawing/2014/main" id="{0ACC1177-31C5-0085-EC2A-F66C90DE926B}"/>
              </a:ext>
            </a:extLst>
          </p:cNvPr>
          <p:cNvSpPr txBox="1"/>
          <p:nvPr/>
        </p:nvSpPr>
        <p:spPr>
          <a:xfrm>
            <a:off x="7224714" y="3759889"/>
            <a:ext cx="4214812" cy="923330"/>
          </a:xfrm>
          <a:prstGeom prst="rect">
            <a:avLst/>
          </a:prstGeom>
          <a:solidFill>
            <a:srgbClr val="FFFF00"/>
          </a:solidFill>
        </p:spPr>
        <p:txBody>
          <a:bodyPr wrap="square">
            <a:spAutoFit/>
          </a:bodyPr>
          <a:lstStyle/>
          <a:p>
            <a:r>
              <a:rPr lang="en-US" b="1"/>
              <a:t>Alice, 25 years old, lives in New York</a:t>
            </a:r>
          </a:p>
          <a:p>
            <a:r>
              <a:rPr lang="en-US" b="1"/>
              <a:t>Bob, 30 years old, lives in Los Angeles</a:t>
            </a:r>
          </a:p>
          <a:p>
            <a:r>
              <a:rPr lang="en-US" b="1"/>
              <a:t>Charlie, 35 years old, lives in Unknown</a:t>
            </a:r>
          </a:p>
        </p:txBody>
      </p:sp>
    </p:spTree>
    <p:extLst>
      <p:ext uri="{BB962C8B-B14F-4D97-AF65-F5344CB8AC3E}">
        <p14:creationId xmlns:p14="http://schemas.microsoft.com/office/powerpoint/2010/main" val="893959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5AAE6-6B16-99A4-E992-98E7B78CDB2D}"/>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C553C86-2FD2-2222-913F-1CDE76AB2355}"/>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A13D07D-96A4-DD20-3CC3-7120495EF882}"/>
              </a:ext>
            </a:extLst>
          </p:cNvPr>
          <p:cNvSpPr txBox="1"/>
          <p:nvPr/>
        </p:nvSpPr>
        <p:spPr>
          <a:xfrm>
            <a:off x="476250" y="136955"/>
            <a:ext cx="1051903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Avoid Modifying a List While Iterating Over It</a:t>
            </a:r>
          </a:p>
        </p:txBody>
      </p:sp>
      <p:sp>
        <p:nvSpPr>
          <p:cNvPr id="5" name="TextBox 4">
            <a:extLst>
              <a:ext uri="{FF2B5EF4-FFF2-40B4-BE49-F238E27FC236}">
                <a16:creationId xmlns:a16="http://schemas.microsoft.com/office/drawing/2014/main" id="{89E52092-2436-55CB-E0C7-1E02192352C9}"/>
              </a:ext>
            </a:extLst>
          </p:cNvPr>
          <p:cNvSpPr txBox="1"/>
          <p:nvPr/>
        </p:nvSpPr>
        <p:spPr>
          <a:xfrm>
            <a:off x="604267" y="906971"/>
            <a:ext cx="11101958" cy="5016758"/>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Modifying a list while iterating over it can lead to unpredictable behavior, including skipped elements, infinite loops, or IndexError exceptions.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A best practice for more secure coding is to create a copy of the list before iterating or use list comprehensions and filtering to generate a new list instead of modifying the original. </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Using list.copy(), list[:], or list() ensures that changes do not affect the iteration process.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If items need to be removed, iterate in reverse or use list comprehensions to avoid altering the list in place. </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For performance-sensitive operations, consider using filter() or itertools.dropwhile() for efficient, memory-safe modifications.</a:t>
            </a:r>
          </a:p>
        </p:txBody>
      </p:sp>
    </p:spTree>
    <p:extLst>
      <p:ext uri="{BB962C8B-B14F-4D97-AF65-F5344CB8AC3E}">
        <p14:creationId xmlns:p14="http://schemas.microsoft.com/office/powerpoint/2010/main" val="27754938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EFB84-3D0D-7367-0063-C3986B0D05C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DED5750-818D-A40F-111D-0A4652B830A3}"/>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E9A21A6-BB09-8F10-D28E-56286829E786}"/>
              </a:ext>
            </a:extLst>
          </p:cNvPr>
          <p:cNvSpPr txBox="1"/>
          <p:nvPr/>
        </p:nvSpPr>
        <p:spPr>
          <a:xfrm>
            <a:off x="476250" y="136955"/>
            <a:ext cx="1051903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Reverse Iteration (Safe Removal)</a:t>
            </a:r>
          </a:p>
        </p:txBody>
      </p:sp>
      <p:sp>
        <p:nvSpPr>
          <p:cNvPr id="5" name="TextBox 4">
            <a:extLst>
              <a:ext uri="{FF2B5EF4-FFF2-40B4-BE49-F238E27FC236}">
                <a16:creationId xmlns:a16="http://schemas.microsoft.com/office/drawing/2014/main" id="{F5389C96-476E-43CE-57A8-A9712A330B2D}"/>
              </a:ext>
            </a:extLst>
          </p:cNvPr>
          <p:cNvSpPr txBox="1"/>
          <p:nvPr/>
        </p:nvSpPr>
        <p:spPr>
          <a:xfrm>
            <a:off x="604267" y="906971"/>
            <a:ext cx="11101958" cy="4339650"/>
          </a:xfrm>
          <a:prstGeom prst="rect">
            <a:avLst/>
          </a:prstGeom>
          <a:noFill/>
        </p:spPr>
        <p:txBody>
          <a:bodyPr wrap="square" rtlCol="0">
            <a:spAutoFit/>
          </a:bodyPr>
          <a:lstStyle/>
          <a:p>
            <a:pPr marL="228600" lvl="1" indent="-228600">
              <a:buFont typeface="Arial" panose="020B0604020202020204" pitchFamily="34" charset="0"/>
              <a:buChar char="•"/>
            </a:pPr>
            <a:r>
              <a:rPr lang="en-US" sz="2800"/>
              <a:t>Iterating in reverse ensures that index shifts do not affect upcoming elements.</a:t>
            </a:r>
            <a:endParaRPr lang="en-US" sz="2800">
              <a:solidFill>
                <a:schemeClr val="accent1">
                  <a:lumMod val="50000"/>
                </a:schemeClr>
              </a:solidFill>
              <a:latin typeface="Arial" panose="020B0604020202020204" pitchFamily="34" charset="0"/>
              <a:cs typeface="Arial" panose="020B0604020202020204" pitchFamily="34" charset="0"/>
            </a:endParaRPr>
          </a:p>
          <a:p>
            <a:pPr marL="1587" lvl="1"/>
            <a:endParaRPr lang="en-US" sz="2800">
              <a:solidFill>
                <a:schemeClr val="accent1">
                  <a:lumMod val="50000"/>
                </a:schemeClr>
              </a:solidFill>
              <a:latin typeface="Arial" panose="020B0604020202020204" pitchFamily="34"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numbers = [1, 2, 3, 4, 5, 6]</a:t>
            </a:r>
          </a:p>
          <a:p>
            <a:pPr marL="9144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 Iterate in reverse</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for i in range(len(numbers) - 1, -1, -1):  </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    if numbers[i] % 2 == 0:        </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        del numbers[i]  </a:t>
            </a:r>
          </a:p>
          <a:p>
            <a:pPr marL="9144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print(numbers)</a:t>
            </a:r>
          </a:p>
        </p:txBody>
      </p:sp>
      <p:sp>
        <p:nvSpPr>
          <p:cNvPr id="6" name="TextBox 5">
            <a:extLst>
              <a:ext uri="{FF2B5EF4-FFF2-40B4-BE49-F238E27FC236}">
                <a16:creationId xmlns:a16="http://schemas.microsoft.com/office/drawing/2014/main" id="{0130E3EB-58D3-B07D-3E1E-DC0666173865}"/>
              </a:ext>
            </a:extLst>
          </p:cNvPr>
          <p:cNvSpPr txBox="1"/>
          <p:nvPr/>
        </p:nvSpPr>
        <p:spPr>
          <a:xfrm>
            <a:off x="5291138" y="5435680"/>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9690662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C2422-7CE6-7D84-0AE3-94DEF1A7E030}"/>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014DCA3-E931-CAE2-3499-0024589E6080}"/>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E17A7DD1-FFC3-B1D9-01F7-C649ABC1AD24}"/>
              </a:ext>
            </a:extLst>
          </p:cNvPr>
          <p:cNvSpPr txBox="1"/>
          <p:nvPr/>
        </p:nvSpPr>
        <p:spPr>
          <a:xfrm>
            <a:off x="476250" y="136955"/>
            <a:ext cx="11101958"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 Using List Comprehension (Creates a New List)</a:t>
            </a:r>
          </a:p>
        </p:txBody>
      </p:sp>
      <p:sp>
        <p:nvSpPr>
          <p:cNvPr id="5" name="TextBox 4">
            <a:extLst>
              <a:ext uri="{FF2B5EF4-FFF2-40B4-BE49-F238E27FC236}">
                <a16:creationId xmlns:a16="http://schemas.microsoft.com/office/drawing/2014/main" id="{8D813845-1056-402D-FA51-DC1231486164}"/>
              </a:ext>
            </a:extLst>
          </p:cNvPr>
          <p:cNvSpPr txBox="1"/>
          <p:nvPr/>
        </p:nvSpPr>
        <p:spPr>
          <a:xfrm>
            <a:off x="604267" y="906971"/>
            <a:ext cx="11101958" cy="2800767"/>
          </a:xfrm>
          <a:prstGeom prst="rect">
            <a:avLst/>
          </a:prstGeom>
          <a:noFill/>
        </p:spPr>
        <p:txBody>
          <a:bodyPr wrap="square" rtlCol="0">
            <a:spAutoFit/>
          </a:bodyPr>
          <a:lstStyle/>
          <a:p>
            <a:pPr marL="228600" lvl="1" indent="-228600">
              <a:buFont typeface="Arial" panose="020B0604020202020204" pitchFamily="34" charset="0"/>
              <a:buChar char="•"/>
            </a:pPr>
            <a:r>
              <a:rPr lang="en-US" sz="2800"/>
              <a:t> Using a list comprehension avoids modifying the original list directly.</a:t>
            </a:r>
          </a:p>
          <a:p>
            <a:pPr marL="228600" lvl="1" indent="-228600">
              <a:buFont typeface="Arial" panose="020B0604020202020204" pitchFamily="34" charset="0"/>
              <a:buChar char="•"/>
            </a:pPr>
            <a:endParaRPr lang="en-US" sz="2800">
              <a:solidFill>
                <a:schemeClr val="accent1">
                  <a:lumMod val="50000"/>
                </a:schemeClr>
              </a:solidFill>
              <a:latin typeface="Arial" panose="020B0604020202020204" pitchFamily="34"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numbers = [1, 2, 3, 4, 5, 6]</a:t>
            </a:r>
          </a:p>
          <a:p>
            <a:pPr marL="9144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 Remove even numbers</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filtered_numbers = [x for x in numbers if x % 2 != 0]  </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print(filtered_numbers)</a:t>
            </a:r>
          </a:p>
        </p:txBody>
      </p:sp>
      <p:sp>
        <p:nvSpPr>
          <p:cNvPr id="6" name="TextBox 5">
            <a:extLst>
              <a:ext uri="{FF2B5EF4-FFF2-40B4-BE49-F238E27FC236}">
                <a16:creationId xmlns:a16="http://schemas.microsoft.com/office/drawing/2014/main" id="{E4053BE7-D4E2-09FB-9A2C-57AD5C374A0B}"/>
              </a:ext>
            </a:extLst>
          </p:cNvPr>
          <p:cNvSpPr txBox="1"/>
          <p:nvPr/>
        </p:nvSpPr>
        <p:spPr>
          <a:xfrm>
            <a:off x="5472113" y="4739364"/>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13141786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8F22BC-62A8-FCA2-0FE3-1586B6A51A4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6164322-01AE-6EA7-52FF-CD53C076079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744D3C5A-FFC3-4A61-A56D-1E138C8A20B8}"/>
              </a:ext>
            </a:extLst>
          </p:cNvPr>
          <p:cNvSpPr txBox="1"/>
          <p:nvPr/>
        </p:nvSpPr>
        <p:spPr>
          <a:xfrm>
            <a:off x="476250" y="136955"/>
            <a:ext cx="11101958"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filter() (Efficient for Large Lists)</a:t>
            </a:r>
          </a:p>
        </p:txBody>
      </p:sp>
      <p:sp>
        <p:nvSpPr>
          <p:cNvPr id="5" name="TextBox 4">
            <a:extLst>
              <a:ext uri="{FF2B5EF4-FFF2-40B4-BE49-F238E27FC236}">
                <a16:creationId xmlns:a16="http://schemas.microsoft.com/office/drawing/2014/main" id="{B51D9A3C-1DE2-E900-7068-B3AD57D258E1}"/>
              </a:ext>
            </a:extLst>
          </p:cNvPr>
          <p:cNvSpPr txBox="1"/>
          <p:nvPr/>
        </p:nvSpPr>
        <p:spPr>
          <a:xfrm>
            <a:off x="614077" y="1116521"/>
            <a:ext cx="11101958" cy="3293209"/>
          </a:xfrm>
          <a:prstGeom prst="rect">
            <a:avLst/>
          </a:prstGeom>
          <a:noFill/>
        </p:spPr>
        <p:txBody>
          <a:bodyPr wrap="square" rtlCol="0">
            <a:spAutoFit/>
          </a:bodyPr>
          <a:lstStyle/>
          <a:p>
            <a:pPr marL="228600" lvl="1" indent="-228600">
              <a:buFont typeface="Arial" panose="020B0604020202020204" pitchFamily="34" charset="0"/>
              <a:buChar char="•"/>
            </a:pPr>
            <a:r>
              <a:rPr lang="en-US" sz="2800"/>
              <a:t>filter() is memory-efficient as it processes elements lazily (generates elements one by one as needed, reducing memory usage for large datasets)</a:t>
            </a:r>
          </a:p>
          <a:p>
            <a:pPr marL="228600" lvl="1" indent="-228600">
              <a:buFont typeface="Arial" panose="020B0604020202020204" pitchFamily="34" charset="0"/>
              <a:buChar char="•"/>
            </a:pPr>
            <a:endParaRPr lang="en-US" sz="28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numbers = [1, 2, 3, 4, 5, 6]</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filtered_numbers = list(filter(lambda x: x % 2 != 0, numbers))</a:t>
            </a:r>
          </a:p>
          <a:p>
            <a:pPr lvl="1"/>
            <a:r>
              <a:rPr lang="en-US" sz="2400" b="1">
                <a:solidFill>
                  <a:schemeClr val="accent1">
                    <a:lumMod val="50000"/>
                  </a:schemeClr>
                </a:solidFill>
                <a:latin typeface="Consolas" panose="020B0609020204030204" pitchFamily="49" charset="0"/>
                <a:cs typeface="Arial" panose="020B0604020202020204" pitchFamily="34" charset="0"/>
              </a:rPr>
              <a:t>print(filtered_numbers)</a:t>
            </a:r>
          </a:p>
        </p:txBody>
      </p:sp>
      <p:sp>
        <p:nvSpPr>
          <p:cNvPr id="6" name="TextBox 5">
            <a:extLst>
              <a:ext uri="{FF2B5EF4-FFF2-40B4-BE49-F238E27FC236}">
                <a16:creationId xmlns:a16="http://schemas.microsoft.com/office/drawing/2014/main" id="{4FC8CB6F-A2BC-C8D8-4ED3-11F5DA23731E}"/>
              </a:ext>
            </a:extLst>
          </p:cNvPr>
          <p:cNvSpPr txBox="1"/>
          <p:nvPr/>
        </p:nvSpPr>
        <p:spPr>
          <a:xfrm>
            <a:off x="5472113" y="4739364"/>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20350323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F0D0C-A878-2999-763A-D41CDE39731C}"/>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D6ACC45-80EF-0B98-3E40-59334FFFD759}"/>
              </a:ext>
            </a:extLst>
          </p:cNvPr>
          <p:cNvPicPr>
            <a:picLocks noChangeAspect="1"/>
          </p:cNvPicPr>
          <p:nvPr/>
        </p:nvPicPr>
        <p:blipFill>
          <a:blip r:embed="rId2"/>
          <a:stretch>
            <a:fillRect/>
          </a:stretch>
        </p:blipFill>
        <p:spPr>
          <a:xfrm>
            <a:off x="43149" y="-33129"/>
            <a:ext cx="12192000" cy="6891129"/>
          </a:xfrm>
          <a:prstGeom prst="rect">
            <a:avLst/>
          </a:prstGeom>
        </p:spPr>
      </p:pic>
      <p:sp>
        <p:nvSpPr>
          <p:cNvPr id="4" name="TextBox 3">
            <a:extLst>
              <a:ext uri="{FF2B5EF4-FFF2-40B4-BE49-F238E27FC236}">
                <a16:creationId xmlns:a16="http://schemas.microsoft.com/office/drawing/2014/main" id="{FB763A94-ED1F-39C2-78B4-657D63D0F7F9}"/>
              </a:ext>
            </a:extLst>
          </p:cNvPr>
          <p:cNvSpPr txBox="1"/>
          <p:nvPr/>
        </p:nvSpPr>
        <p:spPr>
          <a:xfrm>
            <a:off x="397668" y="228429"/>
            <a:ext cx="1153477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itertools.dropwhile() (Remove Leading Elements)</a:t>
            </a:r>
          </a:p>
        </p:txBody>
      </p:sp>
      <p:sp>
        <p:nvSpPr>
          <p:cNvPr id="5" name="TextBox 4">
            <a:extLst>
              <a:ext uri="{FF2B5EF4-FFF2-40B4-BE49-F238E27FC236}">
                <a16:creationId xmlns:a16="http://schemas.microsoft.com/office/drawing/2014/main" id="{368FE557-59CD-2CD3-F481-43813EC6378B}"/>
              </a:ext>
            </a:extLst>
          </p:cNvPr>
          <p:cNvSpPr txBox="1"/>
          <p:nvPr/>
        </p:nvSpPr>
        <p:spPr>
          <a:xfrm>
            <a:off x="614077" y="1116521"/>
            <a:ext cx="11534774" cy="3231654"/>
          </a:xfrm>
          <a:prstGeom prst="rect">
            <a:avLst/>
          </a:prstGeom>
          <a:noFill/>
        </p:spPr>
        <p:txBody>
          <a:bodyPr wrap="square" rtlCol="0">
            <a:spAutoFit/>
          </a:bodyPr>
          <a:lstStyle/>
          <a:p>
            <a:pPr marL="228600" lvl="1" indent="-228600">
              <a:buFont typeface="Arial" panose="020B0604020202020204" pitchFamily="34" charset="0"/>
              <a:buChar char="•"/>
            </a:pPr>
            <a:r>
              <a:rPr lang="en-US" sz="2800"/>
              <a:t>dropwhile() stops dropping elements as soon as a condition fails. </a:t>
            </a:r>
          </a:p>
          <a:p>
            <a:pPr marL="228600" lvl="1" indent="-228600">
              <a:buFont typeface="Arial" panose="020B0604020202020204" pitchFamily="34" charset="0"/>
              <a:buChar char="•"/>
            </a:pPr>
            <a:r>
              <a:rPr lang="en-US" sz="2800"/>
              <a:t>This is useful for sorted lists where unwanted items are at the front.</a:t>
            </a:r>
          </a:p>
          <a:p>
            <a:pPr marL="228600" lvl="1" indent="-228600">
              <a:buFont typeface="Arial" panose="020B0604020202020204" pitchFamily="34" charset="0"/>
              <a:buChar char="•"/>
            </a:pPr>
            <a:endParaRPr lang="en-US" sz="2800">
              <a:solidFill>
                <a:schemeClr val="accent1">
                  <a:lumMod val="50000"/>
                </a:schemeClr>
              </a:solidFill>
              <a:latin typeface="Arial" panose="020B0604020202020204" pitchFamily="34" charset="0"/>
              <a:cs typeface="Arial" panose="020B0604020202020204" pitchFamily="34" charset="0"/>
            </a:endParaRPr>
          </a:p>
          <a:p>
            <a:pPr marL="228600" lvl="1"/>
            <a:r>
              <a:rPr lang="en-US" sz="2400" b="1">
                <a:solidFill>
                  <a:schemeClr val="accent1">
                    <a:lumMod val="50000"/>
                  </a:schemeClr>
                </a:solidFill>
                <a:latin typeface="Consolas" panose="020B0609020204030204" pitchFamily="49" charset="0"/>
                <a:cs typeface="Arial" panose="020B0604020202020204" pitchFamily="34" charset="0"/>
              </a:rPr>
              <a:t>from itertools import dropwhile</a:t>
            </a:r>
          </a:p>
          <a:p>
            <a:pPr marL="2286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228600" lvl="1"/>
            <a:r>
              <a:rPr lang="en-US" sz="2400" b="1">
                <a:solidFill>
                  <a:schemeClr val="accent1">
                    <a:lumMod val="50000"/>
                  </a:schemeClr>
                </a:solidFill>
                <a:latin typeface="Consolas" panose="020B0609020204030204" pitchFamily="49" charset="0"/>
                <a:cs typeface="Arial" panose="020B0604020202020204" pitchFamily="34" charset="0"/>
              </a:rPr>
              <a:t>numbers = [2, 4, 6, 1, 3, 5]</a:t>
            </a:r>
          </a:p>
          <a:p>
            <a:pPr marL="228600" lvl="1"/>
            <a:r>
              <a:rPr lang="en-US" sz="2400" b="1">
                <a:solidFill>
                  <a:schemeClr val="accent1">
                    <a:lumMod val="50000"/>
                  </a:schemeClr>
                </a:solidFill>
                <a:latin typeface="Consolas" panose="020B0609020204030204" pitchFamily="49" charset="0"/>
                <a:cs typeface="Arial" panose="020B0604020202020204" pitchFamily="34" charset="0"/>
              </a:rPr>
              <a:t>remaining_numbers = list(dropwhile(lambda x: x % 2 == 0, numbers))</a:t>
            </a:r>
          </a:p>
          <a:p>
            <a:pPr marL="228600" lvl="1"/>
            <a:r>
              <a:rPr lang="en-US" sz="2400" b="1">
                <a:solidFill>
                  <a:schemeClr val="accent1">
                    <a:lumMod val="50000"/>
                  </a:schemeClr>
                </a:solidFill>
                <a:latin typeface="Consolas" panose="020B0609020204030204" pitchFamily="49" charset="0"/>
                <a:cs typeface="Arial" panose="020B0604020202020204" pitchFamily="34" charset="0"/>
              </a:rPr>
              <a:t>print(remaining_numbers)</a:t>
            </a:r>
          </a:p>
        </p:txBody>
      </p:sp>
      <p:sp>
        <p:nvSpPr>
          <p:cNvPr id="6" name="TextBox 5">
            <a:extLst>
              <a:ext uri="{FF2B5EF4-FFF2-40B4-BE49-F238E27FC236}">
                <a16:creationId xmlns:a16="http://schemas.microsoft.com/office/drawing/2014/main" id="{9D6F0A39-A3CC-C19F-B02E-AEB0AA4AE292}"/>
              </a:ext>
            </a:extLst>
          </p:cNvPr>
          <p:cNvSpPr txBox="1"/>
          <p:nvPr/>
        </p:nvSpPr>
        <p:spPr>
          <a:xfrm>
            <a:off x="5472113" y="4739364"/>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2662719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AD56E-A206-1EEC-3822-49F56A5DC2B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6067919F-18A3-0674-C8E3-811FA5936DB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B5B4A96-E408-CCB1-D5A3-06E315E5F059}"/>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Handling Index Errors Gracefully (Dictionaries)</a:t>
            </a:r>
          </a:p>
        </p:txBody>
      </p:sp>
      <p:sp>
        <p:nvSpPr>
          <p:cNvPr id="5" name="TextBox 4">
            <a:extLst>
              <a:ext uri="{FF2B5EF4-FFF2-40B4-BE49-F238E27FC236}">
                <a16:creationId xmlns:a16="http://schemas.microsoft.com/office/drawing/2014/main" id="{7DF1EA63-7C13-F91D-C2B9-43B469355014}"/>
              </a:ext>
            </a:extLst>
          </p:cNvPr>
          <p:cNvSpPr txBox="1"/>
          <p:nvPr/>
        </p:nvSpPr>
        <p:spPr>
          <a:xfrm>
            <a:off x="836614" y="906971"/>
            <a:ext cx="10323564" cy="1569660"/>
          </a:xfrm>
          <a:prstGeom prst="rect">
            <a:avLst/>
          </a:prstGeom>
          <a:noFill/>
        </p:spPr>
        <p:txBody>
          <a:bodyPr wrap="square" rtlCol="0">
            <a:spAutoFit/>
          </a:bodyPr>
          <a:lstStyle/>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Prefer dict.get() for dictionaries instead of direct key access.</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defaultdict for missing dictionary keys.</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Prefer get() for optional dictionary lookups.</a:t>
            </a:r>
          </a:p>
        </p:txBody>
      </p:sp>
    </p:spTree>
    <p:extLst>
      <p:ext uri="{BB962C8B-B14F-4D97-AF65-F5344CB8AC3E}">
        <p14:creationId xmlns:p14="http://schemas.microsoft.com/office/powerpoint/2010/main" val="3885808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D872C-E703-1333-8961-D37AB2337B5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64AD6237-F4AC-A21A-D86F-42B6B102BD47}"/>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1A4B7406-491F-B083-FC26-26BD7458B9A8}"/>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Safer Data Structures</a:t>
            </a:r>
          </a:p>
        </p:txBody>
      </p:sp>
      <p:sp>
        <p:nvSpPr>
          <p:cNvPr id="5" name="TextBox 4">
            <a:extLst>
              <a:ext uri="{FF2B5EF4-FFF2-40B4-BE49-F238E27FC236}">
                <a16:creationId xmlns:a16="http://schemas.microsoft.com/office/drawing/2014/main" id="{B81C8176-5C01-4C22-D6C4-0DFE4E41F9F8}"/>
              </a:ext>
            </a:extLst>
          </p:cNvPr>
          <p:cNvSpPr txBox="1"/>
          <p:nvPr/>
        </p:nvSpPr>
        <p:spPr>
          <a:xfrm>
            <a:off x="836614" y="906971"/>
            <a:ext cx="10323564" cy="4770537"/>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collections.deque for fixed-size buffers.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Consider slicing to limit index access.</a:t>
            </a:r>
          </a:p>
          <a:p>
            <a:pPr marL="688975" lvl="1" indent="-230188">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Unlike direct indexing (my_list[3]), which would raise an IndexError if the index is out of bounds, slicing gracefully handles it.</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print(my_list[5])  # IndexError: index out of range</a:t>
            </a:r>
          </a:p>
          <a:p>
            <a:pPr marL="914400"/>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print(my_list[:5])  # Prevents out-of-range errors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unnecessary manual index tracking when using loops.</a:t>
            </a:r>
          </a:p>
        </p:txBody>
      </p:sp>
    </p:spTree>
    <p:extLst>
      <p:ext uri="{BB962C8B-B14F-4D97-AF65-F5344CB8AC3E}">
        <p14:creationId xmlns:p14="http://schemas.microsoft.com/office/powerpoint/2010/main" val="7258529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6AAEF-67B5-DA56-3F7D-D718B0002B8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9FF758E4-E181-0F79-4E1C-1E66B093AA5B}"/>
              </a:ext>
            </a:extLst>
          </p:cNvPr>
          <p:cNvPicPr>
            <a:picLocks noChangeAspect="1"/>
          </p:cNvPicPr>
          <p:nvPr/>
        </p:nvPicPr>
        <p:blipFill>
          <a:blip r:embed="rId2"/>
          <a:stretch>
            <a:fillRect/>
          </a:stretch>
        </p:blipFill>
        <p:spPr>
          <a:xfrm>
            <a:off x="112427" y="-269823"/>
            <a:ext cx="12192000" cy="6891129"/>
          </a:xfrm>
          <a:prstGeom prst="rect">
            <a:avLst/>
          </a:prstGeom>
        </p:spPr>
      </p:pic>
      <p:sp>
        <p:nvSpPr>
          <p:cNvPr id="4" name="TextBox 3">
            <a:extLst>
              <a:ext uri="{FF2B5EF4-FFF2-40B4-BE49-F238E27FC236}">
                <a16:creationId xmlns:a16="http://schemas.microsoft.com/office/drawing/2014/main" id="{40F61035-2F11-D950-B3A8-A720C420C78E}"/>
              </a:ext>
            </a:extLst>
          </p:cNvPr>
          <p:cNvSpPr txBox="1"/>
          <p:nvPr/>
        </p:nvSpPr>
        <p:spPr>
          <a:xfrm>
            <a:off x="604266" y="136955"/>
            <a:ext cx="10391019" cy="646331"/>
          </a:xfrm>
          <a:prstGeom prst="rect">
            <a:avLst/>
          </a:prstGeom>
          <a:noFill/>
        </p:spPr>
        <p:txBody>
          <a:bodyPr wrap="square" rtlCol="0">
            <a:spAutoFit/>
          </a:bodyPr>
          <a:lstStyle/>
          <a:p>
            <a:pPr marL="457200" indent="-457200">
              <a:buFont typeface="+mj-lt"/>
              <a:buAutoNum type="arabicPeriod"/>
            </a:pPr>
            <a:r>
              <a:rPr lang="en-US" sz="3600">
                <a:solidFill>
                  <a:schemeClr val="accent1">
                    <a:lumMod val="50000"/>
                  </a:schemeClr>
                </a:solidFill>
                <a:latin typeface="Arial" panose="020B0604020202020204" pitchFamily="34" charset="0"/>
                <a:cs typeface="Arial" panose="020B0604020202020204" pitchFamily="34" charset="0"/>
              </a:rPr>
              <a:t>Loops, Lists, Tuples, and Dictionaries</a:t>
            </a:r>
          </a:p>
        </p:txBody>
      </p:sp>
      <p:sp>
        <p:nvSpPr>
          <p:cNvPr id="5" name="TextBox 4">
            <a:extLst>
              <a:ext uri="{FF2B5EF4-FFF2-40B4-BE49-F238E27FC236}">
                <a16:creationId xmlns:a16="http://schemas.microsoft.com/office/drawing/2014/main" id="{89574967-AED0-16E6-85AB-FDEB7F994609}"/>
              </a:ext>
            </a:extLst>
          </p:cNvPr>
          <p:cNvSpPr txBox="1"/>
          <p:nvPr/>
        </p:nvSpPr>
        <p:spPr>
          <a:xfrm>
            <a:off x="776653" y="876991"/>
            <a:ext cx="10323564" cy="5632311"/>
          </a:xfrm>
          <a:prstGeom prst="rect">
            <a:avLst/>
          </a:prstGeom>
          <a:noFill/>
        </p:spPr>
        <p:txBody>
          <a:bodyPr wrap="square" rtlCol="0">
            <a:spAutoFit/>
          </a:bodyPr>
          <a:lstStyle/>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Iteration Practices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ensuring proper termination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generator expressions for memory-efficient iteration</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Lists and Tuples: Security Considerations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tuples for immutable, security-sensitive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index errors and boundary overflows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Dictionaries and 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key collisions in 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Handle missing keys securely to avoid runtime errors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defaultdict and exception handling for safe lookups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Mitigating Risks in Data Structures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mutable default arguments in function definitions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race conditions when modifying shared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secure hashing techniques for dictionary keys</a:t>
            </a:r>
          </a:p>
        </p:txBody>
      </p:sp>
    </p:spTree>
    <p:extLst>
      <p:ext uri="{BB962C8B-B14F-4D97-AF65-F5344CB8AC3E}">
        <p14:creationId xmlns:p14="http://schemas.microsoft.com/office/powerpoint/2010/main" val="21442147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792</TotalTime>
  <Words>3065</Words>
  <Application>Microsoft Office PowerPoint</Application>
  <PresentationFormat>Widescreen</PresentationFormat>
  <Paragraphs>352</Paragraphs>
  <Slides>30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Aptos</vt:lpstr>
      <vt:lpstr>Aptos Display</vt:lpstr>
      <vt:lpstr>Arial</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Singletary, David S.</dc:creator>
  <cp:lastModifiedBy>Singletary, David S.</cp:lastModifiedBy>
  <cp:revision>56</cp:revision>
  <dcterms:created xsi:type="dcterms:W3CDTF">2025-03-04T14:52:01Z</dcterms:created>
  <dcterms:modified xsi:type="dcterms:W3CDTF">2025-03-20T01:36:02Z</dcterms:modified>
</cp:coreProperties>
</file>