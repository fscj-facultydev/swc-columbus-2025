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60" r:id="rId3"/>
    <p:sldId id="263" r:id="rId4"/>
    <p:sldId id="264" r:id="rId5"/>
    <p:sldId id="265" r:id="rId6"/>
    <p:sldId id="266" r:id="rId7"/>
    <p:sldId id="272" r:id="rId8"/>
    <p:sldId id="261" r:id="rId9"/>
    <p:sldId id="271" r:id="rId10"/>
    <p:sldId id="267" r:id="rId11"/>
    <p:sldId id="268" r:id="rId12"/>
    <p:sldId id="269" r:id="rId13"/>
    <p:sldId id="273" r:id="rId14"/>
    <p:sldId id="279" r:id="rId15"/>
    <p:sldId id="274" r:id="rId16"/>
    <p:sldId id="277" r:id="rId17"/>
    <p:sldId id="278" r:id="rId18"/>
    <p:sldId id="280" r:id="rId19"/>
    <p:sldId id="282" r:id="rId20"/>
    <p:sldId id="281" r:id="rId21"/>
    <p:sldId id="284" r:id="rId22"/>
    <p:sldId id="285" r:id="rId23"/>
    <p:sldId id="283" r:id="rId24"/>
    <p:sldId id="286" r:id="rId25"/>
    <p:sldId id="287" r:id="rId26"/>
    <p:sldId id="288" r:id="rId27"/>
    <p:sldId id="289" r:id="rId28"/>
    <p:sldId id="276" r:id="rId29"/>
    <p:sldId id="290" r:id="rId30"/>
    <p:sldId id="275" r:id="rId31"/>
    <p:sldId id="27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60"/>
  </p:normalViewPr>
  <p:slideViewPr>
    <p:cSldViewPr snapToGrid="0">
      <p:cViewPr varScale="1">
        <p:scale>
          <a:sx n="55" d="100"/>
          <a:sy n="55" d="100"/>
        </p:scale>
        <p:origin x="63" y="29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0E2BB-20E6-0956-B616-F8614FD3E2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396F44E-2110-E3ED-1204-3FF28E5B81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9BF0E85-5CA9-8FB6-67A5-41AC48F5ECF1}"/>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5" name="Footer Placeholder 4">
            <a:extLst>
              <a:ext uri="{FF2B5EF4-FFF2-40B4-BE49-F238E27FC236}">
                <a16:creationId xmlns:a16="http://schemas.microsoft.com/office/drawing/2014/main" id="{CB508682-F225-87A0-C1D4-379BBF5411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5A1E74-1940-6F7C-D67B-4B6D0AAC31ED}"/>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674007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5B07B-D227-A285-7724-DA284819B9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FD2E3F-0726-2B54-DC8B-3742FD053EB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A7F692-BC87-A235-493D-DFC63A187359}"/>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5" name="Footer Placeholder 4">
            <a:extLst>
              <a:ext uri="{FF2B5EF4-FFF2-40B4-BE49-F238E27FC236}">
                <a16:creationId xmlns:a16="http://schemas.microsoft.com/office/drawing/2014/main" id="{5B88A945-E39C-E88B-2976-99A570A4EA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ED4097-DD67-9F00-913A-13A3A0E3FFB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875460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9F9BA-8650-5EC6-0F29-C8DB70A826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B02C07-032F-BBDC-2E2A-3CC2F162C8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D00128-E977-C08D-8116-39D9A67F03D5}"/>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5" name="Footer Placeholder 4">
            <a:extLst>
              <a:ext uri="{FF2B5EF4-FFF2-40B4-BE49-F238E27FC236}">
                <a16:creationId xmlns:a16="http://schemas.microsoft.com/office/drawing/2014/main" id="{62F61D3D-BD60-96D3-B37A-D56BD7524F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48EC03-32BD-9F7A-58FD-9948BFDAD5C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5245133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9CBD-6F94-2F0A-F6F7-D4266C0111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233851-1F24-C304-3CFB-8395362982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213CD2-FAFC-4987-9110-46A9F06E12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3F9F100-E6B5-AC68-4FE7-039EC3324595}"/>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6" name="Footer Placeholder 5">
            <a:extLst>
              <a:ext uri="{FF2B5EF4-FFF2-40B4-BE49-F238E27FC236}">
                <a16:creationId xmlns:a16="http://schemas.microsoft.com/office/drawing/2014/main" id="{BD235D4E-D334-185E-1834-41C16F81DF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FA161E-739F-CDFA-FA0D-8D561332EBC1}"/>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177212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C4C38-B07C-64B6-8D41-F203F5B406A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F53FF04-124B-36BF-5515-BB2E0C6C6A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1B8F87-043C-0B58-A2EE-EF577D1A61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61D101-41BD-22AE-935C-0D328AFF57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8423B19-1419-62F2-C40E-65A1A91572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569A519-F5AC-1757-7C00-8C030AAE240F}"/>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8" name="Footer Placeholder 7">
            <a:extLst>
              <a:ext uri="{FF2B5EF4-FFF2-40B4-BE49-F238E27FC236}">
                <a16:creationId xmlns:a16="http://schemas.microsoft.com/office/drawing/2014/main" id="{C2FB47A0-94D5-197F-739D-D172BB6859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CDA654-C9B0-3652-DAEA-7D22099DDA5B}"/>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647671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E1256-B08A-0FB8-EFB5-A15C8FE9C0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319A16B-3F98-983D-D98C-0EE3D5D63996}"/>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4" name="Footer Placeholder 3">
            <a:extLst>
              <a:ext uri="{FF2B5EF4-FFF2-40B4-BE49-F238E27FC236}">
                <a16:creationId xmlns:a16="http://schemas.microsoft.com/office/drawing/2014/main" id="{FD3F83A9-59AC-315F-AFB9-7326323219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0248D6B-8074-3C29-6A1D-4B71A0AAC9A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0831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39E3971-070E-BDCB-A62C-54C729BF6FAA}"/>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3" name="Footer Placeholder 2">
            <a:extLst>
              <a:ext uri="{FF2B5EF4-FFF2-40B4-BE49-F238E27FC236}">
                <a16:creationId xmlns:a16="http://schemas.microsoft.com/office/drawing/2014/main" id="{DAEF875B-2F68-2130-F747-6E0D870E78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395F536-AA1E-B46F-4D69-600C109F3E6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296322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FF891-DE41-7EB8-2FF9-7CE6738E05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90D73BB-0578-CB9F-52F7-6F92429E5F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EFC085-198C-E876-2F6F-0E3984A68A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3E52EB-1185-7831-9BF2-3F75ECF46B75}"/>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6" name="Footer Placeholder 5">
            <a:extLst>
              <a:ext uri="{FF2B5EF4-FFF2-40B4-BE49-F238E27FC236}">
                <a16:creationId xmlns:a16="http://schemas.microsoft.com/office/drawing/2014/main" id="{48C3BF32-17C6-C45D-E35D-12D754FE9C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87CAC7-6E6C-2A1B-6662-AA2A2D47351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210324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F174E-2EC1-FE2B-23E6-EEBA332EF5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BAE9D2B-8F10-E570-6AA2-9005CCCCCB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3BB990-549D-32B9-A44B-D363BD126E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37EB96-1423-9B8F-9103-3BFAB9F84460}"/>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6" name="Footer Placeholder 5">
            <a:extLst>
              <a:ext uri="{FF2B5EF4-FFF2-40B4-BE49-F238E27FC236}">
                <a16:creationId xmlns:a16="http://schemas.microsoft.com/office/drawing/2014/main" id="{DDA23C72-9519-023B-6578-913613F17C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E5F21B-2381-A0D7-6FE1-3AFA83C470D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5853519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1F72F-7D73-E9A7-A054-03E6DBE4AF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0BE10C7-5219-326D-EB47-3C1AF5035D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D457E5-DDB9-15CE-FBF5-5E1A66486DAA}"/>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5" name="Footer Placeholder 4">
            <a:extLst>
              <a:ext uri="{FF2B5EF4-FFF2-40B4-BE49-F238E27FC236}">
                <a16:creationId xmlns:a16="http://schemas.microsoft.com/office/drawing/2014/main" id="{CE1E55EF-1556-96C2-4263-D427DA1DDB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FA212C-B5FA-CE2C-96A6-178C2916A633}"/>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447530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ED0CE7-DC28-2C2C-5B28-9F104A9AB84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5F80D-1747-5A22-92A6-FBBF976F03B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41304-0E41-DD11-9738-C91035E2BA21}"/>
              </a:ext>
            </a:extLst>
          </p:cNvPr>
          <p:cNvSpPr>
            <a:spLocks noGrp="1"/>
          </p:cNvSpPr>
          <p:nvPr>
            <p:ph type="dt" sz="half" idx="10"/>
          </p:nvPr>
        </p:nvSpPr>
        <p:spPr/>
        <p:txBody>
          <a:bodyPr/>
          <a:lstStyle/>
          <a:p>
            <a:fld id="{CD989C08-BA69-4AD3-98E9-D53C63F6E1B1}" type="datetimeFigureOut">
              <a:rPr lang="en-US" smtClean="0"/>
              <a:t>4/28/2025</a:t>
            </a:fld>
            <a:endParaRPr lang="en-US"/>
          </a:p>
        </p:txBody>
      </p:sp>
      <p:sp>
        <p:nvSpPr>
          <p:cNvPr id="5" name="Footer Placeholder 4">
            <a:extLst>
              <a:ext uri="{FF2B5EF4-FFF2-40B4-BE49-F238E27FC236}">
                <a16:creationId xmlns:a16="http://schemas.microsoft.com/office/drawing/2014/main" id="{1B0AD9F9-261F-13B3-CE6D-D064092AB3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CE0C96-F0D5-DD0D-DA33-764FE8A6DF3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366866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F8199E-6D30-F850-391E-D4F7153285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65C7E5-4EC7-8EBC-7A44-1A895030C5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4C0EFF-C0CE-7D0C-6CC5-A28F0BC40A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989C08-BA69-4AD3-98E9-D53C63F6E1B1}" type="datetimeFigureOut">
              <a:rPr lang="en-US" smtClean="0"/>
              <a:t>4/28/2025</a:t>
            </a:fld>
            <a:endParaRPr lang="en-US"/>
          </a:p>
        </p:txBody>
      </p:sp>
      <p:sp>
        <p:nvSpPr>
          <p:cNvPr id="5" name="Footer Placeholder 4">
            <a:extLst>
              <a:ext uri="{FF2B5EF4-FFF2-40B4-BE49-F238E27FC236}">
                <a16:creationId xmlns:a16="http://schemas.microsoft.com/office/drawing/2014/main" id="{15348B3E-3497-73AD-4083-286A12425D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76BD70E-84F0-E72A-2386-9CDC39949D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130911-4412-46A4-9A4B-B11E804AFFE7}" type="slidenum">
              <a:rPr lang="en-US" smtClean="0"/>
              <a:t>‹#›</a:t>
            </a:fld>
            <a:endParaRPr lang="en-US"/>
          </a:p>
        </p:txBody>
      </p:sp>
    </p:spTree>
    <p:extLst>
      <p:ext uri="{BB962C8B-B14F-4D97-AF65-F5344CB8AC3E}">
        <p14:creationId xmlns:p14="http://schemas.microsoft.com/office/powerpoint/2010/main" val="24961006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docs.python.org/3/library/copy.html" TargetMode="External"/><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234ED57C-5D50-6FB0-386A-B1C0BAF5E5B6}"/>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4FFBEF78-6835-9381-046A-65D3362579B3}"/>
              </a:ext>
            </a:extLst>
          </p:cNvPr>
          <p:cNvSpPr txBox="1"/>
          <p:nvPr/>
        </p:nvSpPr>
        <p:spPr>
          <a:xfrm>
            <a:off x="604266" y="136955"/>
            <a:ext cx="10927832"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Day 2: Secure Coding Practices &amp; Data Structures</a:t>
            </a:r>
            <a:endParaRPr lang="en-US" sz="3600" dirty="0">
              <a:solidFill>
                <a:schemeClr val="accent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2A35BB2-B247-A830-CD48-8D50E0ACDB9D}"/>
              </a:ext>
            </a:extLst>
          </p:cNvPr>
          <p:cNvSpPr txBox="1"/>
          <p:nvPr/>
        </p:nvSpPr>
        <p:spPr>
          <a:xfrm>
            <a:off x="604267" y="1221698"/>
            <a:ext cx="10323564" cy="4154984"/>
          </a:xfrm>
          <a:prstGeom prst="rect">
            <a:avLst/>
          </a:prstGeom>
          <a:noFill/>
        </p:spPr>
        <p:txBody>
          <a:bodyPr wrap="square" rtlCol="0">
            <a:spAutoFit/>
          </a:bodyPr>
          <a:lstStyle/>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Loops, Lists, Tuples, and Dictionaries</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best practices for handling sensitive information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input validation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data sanitization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randomization</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Functions, Modules, Classes, and Exceptions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design principles in modular programming</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Error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Avoiding information leakage</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Logging errors securely</a:t>
            </a:r>
          </a:p>
        </p:txBody>
      </p:sp>
    </p:spTree>
    <p:extLst>
      <p:ext uri="{BB962C8B-B14F-4D97-AF65-F5344CB8AC3E}">
        <p14:creationId xmlns:p14="http://schemas.microsoft.com/office/powerpoint/2010/main" val="1171906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27252-E975-9FC8-258E-A73B3830B1C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DEEC2F5-56A7-B695-B5F6-459783C1C088}"/>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6E05592-F352-416E-AA02-F64ACB2D6B5E}"/>
              </a:ext>
            </a:extLst>
          </p:cNvPr>
          <p:cNvSpPr txBox="1"/>
          <p:nvPr/>
        </p:nvSpPr>
        <p:spPr>
          <a:xfrm>
            <a:off x="589277" y="83166"/>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97633B80-D681-05C8-937E-80D895C6C127}"/>
              </a:ext>
            </a:extLst>
          </p:cNvPr>
          <p:cNvSpPr txBox="1"/>
          <p:nvPr/>
        </p:nvSpPr>
        <p:spPr>
          <a:xfrm>
            <a:off x="589277" y="805501"/>
            <a:ext cx="11422842" cy="5047536"/>
          </a:xfrm>
          <a:prstGeom prst="rect">
            <a:avLst/>
          </a:prstGeom>
          <a:noFill/>
        </p:spPr>
        <p:txBody>
          <a:bodyPr wrap="square" rtlCol="0">
            <a:spAutoFit/>
          </a:bodyPr>
          <a:lstStyle/>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Ensure Proper Termination</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Infinite loops can cause a program to become unresponsive, consume excessive system resources, or create security vulnerabilities such as denial-of-service (DoS) risks. </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To ensure proper termination of loops, follow these best practices:</a:t>
            </a:r>
          </a:p>
          <a:p>
            <a:pPr marL="2317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Explicit Loop Conditions: ensure loops have well-defined termination conditions.</a:t>
            </a:r>
          </a:p>
          <a:p>
            <a:pPr marL="231775"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count = 0</a:t>
            </a:r>
          </a:p>
          <a:p>
            <a:pPr lvl="1"/>
            <a:r>
              <a:rPr lang="en-US" sz="2400" b="1">
                <a:solidFill>
                  <a:schemeClr val="accent1">
                    <a:lumMod val="50000"/>
                  </a:schemeClr>
                </a:solidFill>
                <a:latin typeface="Consolas" panose="020B0609020204030204" pitchFamily="49" charset="0"/>
                <a:cs typeface="Arial" panose="020B0604020202020204" pitchFamily="34" charset="0"/>
              </a:rPr>
              <a:t>while count &lt; 10:  # Proper termination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print(count)</a:t>
            </a:r>
          </a:p>
          <a:p>
            <a:pPr lvl="1"/>
            <a:r>
              <a:rPr lang="en-US" sz="2400" b="1">
                <a:solidFill>
                  <a:schemeClr val="accent1">
                    <a:lumMod val="50000"/>
                  </a:schemeClr>
                </a:solidFill>
                <a:latin typeface="Consolas" panose="020B0609020204030204" pitchFamily="49" charset="0"/>
                <a:cs typeface="Arial" panose="020B0604020202020204" pitchFamily="34" charset="0"/>
              </a:rPr>
              <a:t>    count += 1  # Ensuring progress towards termination</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27247725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56B82-5655-80DC-B95E-BB3147A9B79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3607B2A-90F3-C259-916F-6E23284FA4EC}"/>
              </a:ext>
            </a:extLst>
          </p:cNvPr>
          <p:cNvPicPr>
            <a:picLocks noChangeAspect="1"/>
          </p:cNvPicPr>
          <p:nvPr/>
        </p:nvPicPr>
        <p:blipFill>
          <a:blip r:embed="rId2"/>
          <a:stretch>
            <a:fillRect/>
          </a:stretch>
        </p:blipFill>
        <p:spPr>
          <a:xfrm>
            <a:off x="0" y="0"/>
            <a:ext cx="12192000" cy="6867117"/>
          </a:xfrm>
          <a:prstGeom prst="rect">
            <a:avLst/>
          </a:prstGeom>
        </p:spPr>
      </p:pic>
      <p:sp>
        <p:nvSpPr>
          <p:cNvPr id="4" name="TextBox 3">
            <a:extLst>
              <a:ext uri="{FF2B5EF4-FFF2-40B4-BE49-F238E27FC236}">
                <a16:creationId xmlns:a16="http://schemas.microsoft.com/office/drawing/2014/main" id="{D78D5220-DB27-992D-3281-C3574B62771B}"/>
              </a:ext>
            </a:extLst>
          </p:cNvPr>
          <p:cNvSpPr txBox="1"/>
          <p:nvPr/>
        </p:nvSpPr>
        <p:spPr>
          <a:xfrm>
            <a:off x="604266" y="11888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B0825409-4923-2548-3BC3-99C4029F2471}"/>
              </a:ext>
            </a:extLst>
          </p:cNvPr>
          <p:cNvSpPr txBox="1"/>
          <p:nvPr/>
        </p:nvSpPr>
        <p:spPr>
          <a:xfrm>
            <a:off x="776653" y="861612"/>
            <a:ext cx="11155517" cy="3416320"/>
          </a:xfrm>
          <a:prstGeom prst="rect">
            <a:avLst/>
          </a:prstGeom>
          <a:noFill/>
        </p:spPr>
        <p:txBody>
          <a:bodyPr wrap="square" rtlCol="0">
            <a:spAutoFit/>
          </a:bodyPr>
          <a:lstStyle/>
          <a:p>
            <a:pPr marL="284163" lvl="1" indent="-2825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Using while True Without a Break Condition</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True:</a:t>
            </a:r>
          </a:p>
          <a:p>
            <a:pPr lvl="1"/>
            <a:r>
              <a:rPr lang="en-US" sz="2400" b="1">
                <a:solidFill>
                  <a:schemeClr val="accent1">
                    <a:lumMod val="50000"/>
                  </a:schemeClr>
                </a:solidFill>
                <a:latin typeface="Consolas" panose="020B0609020204030204" pitchFamily="49" charset="0"/>
                <a:cs typeface="Arial" panose="020B0604020202020204" pitchFamily="34" charset="0"/>
              </a:rPr>
              <a:t>    # processing steps ...</a:t>
            </a:r>
          </a:p>
          <a:p>
            <a:pPr lvl="1"/>
            <a:r>
              <a:rPr lang="en-US" sz="2400" b="1">
                <a:solidFill>
                  <a:schemeClr val="accent1">
                    <a:lumMod val="50000"/>
                  </a:schemeClr>
                </a:solidFill>
                <a:latin typeface="Consolas" panose="020B0609020204030204" pitchFamily="49" charset="0"/>
                <a:cs typeface="Arial" panose="020B0604020202020204" pitchFamily="34" charset="0"/>
              </a:rPr>
              <a:t>    #</a:t>
            </a:r>
          </a:p>
          <a:p>
            <a:pPr lvl="1"/>
            <a:r>
              <a:rPr lang="en-US" sz="2400" b="1">
                <a:solidFill>
                  <a:schemeClr val="accent1">
                    <a:lumMod val="50000"/>
                  </a:schemeClr>
                </a:solidFill>
                <a:latin typeface="Consolas" panose="020B0609020204030204" pitchFamily="49" charset="0"/>
                <a:cs typeface="Arial" panose="020B0604020202020204" pitchFamily="34" charset="0"/>
              </a:rPr>
              <a:t>    user_input = input("Enter 'exit' to stop: ")</a:t>
            </a:r>
          </a:p>
          <a:p>
            <a:pPr lvl="1"/>
            <a:r>
              <a:rPr lang="en-US" sz="2400" b="1">
                <a:solidFill>
                  <a:schemeClr val="accent1">
                    <a:lumMod val="50000"/>
                  </a:schemeClr>
                </a:solidFill>
                <a:latin typeface="Consolas" panose="020B0609020204030204" pitchFamily="49" charset="0"/>
                <a:cs typeface="Arial" panose="020B0604020202020204" pitchFamily="34" charset="0"/>
              </a:rPr>
              <a:t>    if user_input.lower() == 'exit':</a:t>
            </a:r>
          </a:p>
          <a:p>
            <a:pPr lvl="1"/>
            <a:r>
              <a:rPr lang="en-US" sz="2400" b="1">
                <a:solidFill>
                  <a:schemeClr val="accent1">
                    <a:lumMod val="50000"/>
                  </a:schemeClr>
                </a:solidFill>
                <a:latin typeface="Consolas" panose="020B0609020204030204" pitchFamily="49" charset="0"/>
                <a:cs typeface="Arial" panose="020B0604020202020204" pitchFamily="34" charset="0"/>
              </a:rPr>
              <a:t>        break  # Ensure termination</a:t>
            </a:r>
            <a:endParaRPr lang="en-US" sz="2400" b="1">
              <a:solidFill>
                <a:schemeClr val="accent1">
                  <a:lumMod val="50000"/>
                </a:schemeClr>
              </a:solidFill>
              <a:latin typeface="Arial" panose="020B0604020202020204" pitchFamily="34" charset="0"/>
              <a:cs typeface="Arial" panose="020B0604020202020204" pitchFamily="34" charset="0"/>
            </a:endParaRP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212907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F4A-D725-A5AD-5084-9FED149DEA50}"/>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29554FA-A0B1-BED0-CE63-C900E18F46ED}"/>
              </a:ext>
            </a:extLst>
          </p:cNvPr>
          <p:cNvPicPr>
            <a:picLocks noChangeAspect="1"/>
          </p:cNvPicPr>
          <p:nvPr/>
        </p:nvPicPr>
        <p:blipFill>
          <a:blip r:embed="rId2"/>
          <a:stretch>
            <a:fillRect/>
          </a:stretch>
        </p:blipFill>
        <p:spPr>
          <a:xfrm>
            <a:off x="0" y="-16565"/>
            <a:ext cx="12192000" cy="6891129"/>
          </a:xfrm>
          <a:prstGeom prst="rect">
            <a:avLst/>
          </a:prstGeom>
        </p:spPr>
      </p:pic>
      <p:sp>
        <p:nvSpPr>
          <p:cNvPr id="4" name="TextBox 3">
            <a:extLst>
              <a:ext uri="{FF2B5EF4-FFF2-40B4-BE49-F238E27FC236}">
                <a16:creationId xmlns:a16="http://schemas.microsoft.com/office/drawing/2014/main" id="{6E6327D3-7C70-ECA1-AE3E-ED235635765E}"/>
              </a:ext>
            </a:extLst>
          </p:cNvPr>
          <p:cNvSpPr txBox="1"/>
          <p:nvPr/>
        </p:nvSpPr>
        <p:spPr>
          <a:xfrm>
            <a:off x="776651" y="109951"/>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6A0FDFBA-5990-4792-5F3E-62939E91F250}"/>
              </a:ext>
            </a:extLst>
          </p:cNvPr>
          <p:cNvSpPr txBox="1"/>
          <p:nvPr/>
        </p:nvSpPr>
        <p:spPr>
          <a:xfrm>
            <a:off x="810379" y="882797"/>
            <a:ext cx="10323564" cy="4893647"/>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When processing user input or external data, avoid infinite loops by implementing timeouts or iteration limits.</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import time</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start_time = time.time()</a:t>
            </a:r>
          </a:p>
          <a:p>
            <a:pPr lvl="1"/>
            <a:r>
              <a:rPr lang="en-US" sz="2400" b="1">
                <a:solidFill>
                  <a:schemeClr val="accent1">
                    <a:lumMod val="50000"/>
                  </a:schemeClr>
                </a:solidFill>
                <a:latin typeface="Consolas" panose="020B0609020204030204" pitchFamily="49" charset="0"/>
                <a:cs typeface="Arial" panose="020B0604020202020204" pitchFamily="34" charset="0"/>
              </a:rPr>
              <a:t>timeout = 5  # seconds</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time.time() - start_time &lt; timeout:</a:t>
            </a:r>
          </a:p>
          <a:p>
            <a:pPr lvl="1"/>
            <a:r>
              <a:rPr lang="en-US" sz="2400" b="1">
                <a:solidFill>
                  <a:schemeClr val="accent1">
                    <a:lumMod val="50000"/>
                  </a:schemeClr>
                </a:solidFill>
                <a:latin typeface="Consolas" panose="020B0609020204030204" pitchFamily="49" charset="0"/>
                <a:cs typeface="Arial" panose="020B0604020202020204" pitchFamily="34" charset="0"/>
              </a:rPr>
              <a:t>    if some_condition():  # Replace with actual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break</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57014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B32ED-9C55-13BC-E694-1F94CEBD03B6}"/>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CFF4FFB4-165E-7AE3-C1F5-BF62A8C5D3D9}"/>
              </a:ext>
            </a:extLst>
          </p:cNvPr>
          <p:cNvPicPr>
            <a:picLocks noChangeAspect="1"/>
          </p:cNvPicPr>
          <p:nvPr/>
        </p:nvPicPr>
        <p:blipFill>
          <a:blip r:embed="rId2"/>
          <a:stretch>
            <a:fillRect/>
          </a:stretch>
        </p:blipFill>
        <p:spPr>
          <a:xfrm>
            <a:off x="1" y="0"/>
            <a:ext cx="12192000" cy="6891129"/>
          </a:xfrm>
          <a:prstGeom prst="rect">
            <a:avLst/>
          </a:prstGeom>
        </p:spPr>
      </p:pic>
      <p:sp>
        <p:nvSpPr>
          <p:cNvPr id="4" name="TextBox 3">
            <a:extLst>
              <a:ext uri="{FF2B5EF4-FFF2-40B4-BE49-F238E27FC236}">
                <a16:creationId xmlns:a16="http://schemas.microsoft.com/office/drawing/2014/main" id="{8745C227-D9C6-33AF-9513-8684A978EFD2}"/>
              </a:ext>
            </a:extLst>
          </p:cNvPr>
          <p:cNvSpPr txBox="1"/>
          <p:nvPr/>
        </p:nvSpPr>
        <p:spPr>
          <a:xfrm>
            <a:off x="776653" y="21489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0B70D187-6906-8F02-8757-FD3F8DA1AC46}"/>
              </a:ext>
            </a:extLst>
          </p:cNvPr>
          <p:cNvSpPr txBox="1"/>
          <p:nvPr/>
        </p:nvSpPr>
        <p:spPr>
          <a:xfrm>
            <a:off x="776653" y="1076116"/>
            <a:ext cx="10323564" cy="4154984"/>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Instead of looping through large datasets, use generators to iterate over data securely and avoid excessive memory usage.</a:t>
            </a:r>
          </a:p>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secure_generator function below produces one value at a time instead of returning an entire list</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def secure_generator(n):</a:t>
            </a:r>
          </a:p>
          <a:p>
            <a:pPr lvl="1"/>
            <a:r>
              <a:rPr lang="en-US" sz="2400" b="1">
                <a:solidFill>
                  <a:schemeClr val="accent1">
                    <a:lumMod val="50000"/>
                  </a:schemeClr>
                </a:solidFill>
                <a:latin typeface="Consolas" panose="020B0609020204030204" pitchFamily="49" charset="0"/>
                <a:cs typeface="Arial" panose="020B0604020202020204" pitchFamily="34" charset="0"/>
              </a:rPr>
              <a:t>    for i in range(n):</a:t>
            </a:r>
          </a:p>
          <a:p>
            <a:pPr lvl="1"/>
            <a:r>
              <a:rPr lang="en-US" sz="2400" b="1">
                <a:solidFill>
                  <a:schemeClr val="accent1">
                    <a:lumMod val="50000"/>
                  </a:schemeClr>
                </a:solidFill>
                <a:latin typeface="Consolas" panose="020B0609020204030204" pitchFamily="49" charset="0"/>
                <a:cs typeface="Arial" panose="020B0604020202020204" pitchFamily="34" charset="0"/>
              </a:rPr>
              <a:t>        yield i  # Generates values on demand</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for value in secure_generator(10):</a:t>
            </a:r>
          </a:p>
          <a:p>
            <a:pPr lvl="1"/>
            <a:r>
              <a:rPr lang="en-US" sz="2400" b="1">
                <a:solidFill>
                  <a:schemeClr val="accent1">
                    <a:lumMod val="50000"/>
                  </a:schemeClr>
                </a:solidFill>
                <a:latin typeface="Consolas" panose="020B0609020204030204" pitchFamily="49" charset="0"/>
                <a:cs typeface="Arial" panose="020B0604020202020204" pitchFamily="34" charset="0"/>
              </a:rPr>
              <a:t>    print(value)</a:t>
            </a:r>
          </a:p>
        </p:txBody>
      </p:sp>
    </p:spTree>
    <p:extLst>
      <p:ext uri="{BB962C8B-B14F-4D97-AF65-F5344CB8AC3E}">
        <p14:creationId xmlns:p14="http://schemas.microsoft.com/office/powerpoint/2010/main" val="149260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163FA-A386-561F-EF9F-D2D579138625}"/>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E3DA21F-F53E-14D7-DBCD-914AC9CC3E3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89F8A25-0C68-33E6-8C7B-D009F507567C}"/>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Lists and Tuples: Security Considerations</a:t>
            </a:r>
          </a:p>
        </p:txBody>
      </p:sp>
      <p:graphicFrame>
        <p:nvGraphicFramePr>
          <p:cNvPr id="9" name="Table 8">
            <a:extLst>
              <a:ext uri="{FF2B5EF4-FFF2-40B4-BE49-F238E27FC236}">
                <a16:creationId xmlns:a16="http://schemas.microsoft.com/office/drawing/2014/main" id="{161C0A04-0631-BFA6-BA31-53599D9330C2}"/>
              </a:ext>
            </a:extLst>
          </p:cNvPr>
          <p:cNvGraphicFramePr>
            <a:graphicFrameLocks noGrp="1"/>
          </p:cNvGraphicFramePr>
          <p:nvPr>
            <p:extLst>
              <p:ext uri="{D42A27DB-BD31-4B8C-83A1-F6EECF244321}">
                <p14:modId xmlns:p14="http://schemas.microsoft.com/office/powerpoint/2010/main" val="3090539159"/>
              </p:ext>
            </p:extLst>
          </p:nvPr>
        </p:nvGraphicFramePr>
        <p:xfrm>
          <a:off x="1070547" y="1416490"/>
          <a:ext cx="9699886" cy="4085524"/>
        </p:xfrm>
        <a:graphic>
          <a:graphicData uri="http://schemas.openxmlformats.org/drawingml/2006/table">
            <a:tbl>
              <a:tblPr firstRow="1" bandRow="1" bandCol="1">
                <a:tableStyleId>{69012ECD-51FC-41F1-AA8D-1B2483CD663E}</a:tableStyleId>
              </a:tblPr>
              <a:tblGrid>
                <a:gridCol w="4849943">
                  <a:extLst>
                    <a:ext uri="{9D8B030D-6E8A-4147-A177-3AD203B41FA5}">
                      <a16:colId xmlns:a16="http://schemas.microsoft.com/office/drawing/2014/main" val="899938849"/>
                    </a:ext>
                  </a:extLst>
                </a:gridCol>
                <a:gridCol w="4849943">
                  <a:extLst>
                    <a:ext uri="{9D8B030D-6E8A-4147-A177-3AD203B41FA5}">
                      <a16:colId xmlns:a16="http://schemas.microsoft.com/office/drawing/2014/main" val="2255662237"/>
                    </a:ext>
                  </a:extLst>
                </a:gridCol>
              </a:tblGrid>
              <a:tr h="494328">
                <a:tc>
                  <a:txBody>
                    <a:bodyPr/>
                    <a:lstStyle/>
                    <a:p>
                      <a:r>
                        <a:rPr lang="en-US" sz="2400" b="1"/>
                        <a:t>List</a:t>
                      </a:r>
                      <a:endParaRPr lang="en-US" sz="2400"/>
                    </a:p>
                  </a:txBody>
                  <a:tcPr anchor="ctr"/>
                </a:tc>
                <a:tc>
                  <a:txBody>
                    <a:bodyPr/>
                    <a:lstStyle/>
                    <a:p>
                      <a:r>
                        <a:rPr lang="en-US" sz="2400" b="1"/>
                        <a:t>Tuple</a:t>
                      </a:r>
                      <a:endParaRPr lang="en-US" sz="2400"/>
                    </a:p>
                  </a:txBody>
                  <a:tcPr anchor="ctr"/>
                </a:tc>
                <a:extLst>
                  <a:ext uri="{0D108BD9-81ED-4DB2-BD59-A6C34878D82A}">
                    <a16:rowId xmlns:a16="http://schemas.microsoft.com/office/drawing/2014/main" val="3137162742"/>
                  </a:ext>
                </a:extLst>
              </a:tr>
              <a:tr h="494328">
                <a:tc>
                  <a:txBody>
                    <a:bodyPr/>
                    <a:lstStyle/>
                    <a:p>
                      <a:r>
                        <a:rPr lang="en-US" sz="2400"/>
                        <a:t>Mutable</a:t>
                      </a:r>
                    </a:p>
                  </a:txBody>
                  <a:tcPr anchor="ctr"/>
                </a:tc>
                <a:tc>
                  <a:txBody>
                    <a:bodyPr/>
                    <a:lstStyle/>
                    <a:p>
                      <a:r>
                        <a:rPr lang="en-US" sz="2400"/>
                        <a:t>Immutable</a:t>
                      </a:r>
                    </a:p>
                  </a:txBody>
                  <a:tcPr anchor="ctr"/>
                </a:tc>
                <a:extLst>
                  <a:ext uri="{0D108BD9-81ED-4DB2-BD59-A6C34878D82A}">
                    <a16:rowId xmlns:a16="http://schemas.microsoft.com/office/drawing/2014/main" val="1121049216"/>
                  </a:ext>
                </a:extLst>
              </a:tr>
              <a:tr h="494328">
                <a:tc>
                  <a:txBody>
                    <a:bodyPr/>
                    <a:lstStyle/>
                    <a:p>
                      <a:r>
                        <a:rPr lang="en-US" sz="2400"/>
                        <a:t>Suitable for dynamic collections</a:t>
                      </a:r>
                    </a:p>
                  </a:txBody>
                  <a:tcPr anchor="ctr"/>
                </a:tc>
                <a:tc>
                  <a:txBody>
                    <a:bodyPr/>
                    <a:lstStyle/>
                    <a:p>
                      <a:r>
                        <a:rPr lang="en-US" sz="2400"/>
                        <a:t>Suitable for fixed data structures</a:t>
                      </a:r>
                    </a:p>
                  </a:txBody>
                  <a:tcPr anchor="ctr"/>
                </a:tc>
                <a:extLst>
                  <a:ext uri="{0D108BD9-81ED-4DB2-BD59-A6C34878D82A}">
                    <a16:rowId xmlns:a16="http://schemas.microsoft.com/office/drawing/2014/main" val="275018854"/>
                  </a:ext>
                </a:extLst>
              </a:tr>
              <a:tr h="494328">
                <a:tc>
                  <a:txBody>
                    <a:bodyPr/>
                    <a:lstStyle/>
                    <a:p>
                      <a:r>
                        <a:rPr lang="en-US" sz="2400"/>
                        <a:t>Uses more memory due to dynamic resizing</a:t>
                      </a:r>
                    </a:p>
                  </a:txBody>
                  <a:tcPr anchor="ctr"/>
                </a:tc>
                <a:tc>
                  <a:txBody>
                    <a:bodyPr/>
                    <a:lstStyle/>
                    <a:p>
                      <a:r>
                        <a:rPr lang="en-US" sz="2400"/>
                        <a:t>More memory efficient</a:t>
                      </a:r>
                    </a:p>
                    <a:p>
                      <a:endParaRPr lang="en-US" sz="2400"/>
                    </a:p>
                  </a:txBody>
                  <a:tcPr anchor="ctr"/>
                </a:tc>
                <a:extLst>
                  <a:ext uri="{0D108BD9-81ED-4DB2-BD59-A6C34878D82A}">
                    <a16:rowId xmlns:a16="http://schemas.microsoft.com/office/drawing/2014/main" val="732558842"/>
                  </a:ext>
                </a:extLst>
              </a:tr>
              <a:tr h="889790">
                <a:tc>
                  <a:txBody>
                    <a:bodyPr/>
                    <a:lstStyle/>
                    <a:p>
                      <a:r>
                        <a:rPr lang="en-US" sz="2400"/>
                        <a:t>More methods for modification (e.g., append, remove, insert)</a:t>
                      </a:r>
                    </a:p>
                  </a:txBody>
                  <a:tcPr anchor="ctr"/>
                </a:tc>
                <a:tc>
                  <a:txBody>
                    <a:bodyPr/>
                    <a:lstStyle/>
                    <a:p>
                      <a:r>
                        <a:rPr lang="en-US" sz="2400"/>
                        <a:t>Fewer built-in methods</a:t>
                      </a:r>
                    </a:p>
                  </a:txBody>
                  <a:tcPr anchor="ctr"/>
                </a:tc>
                <a:extLst>
                  <a:ext uri="{0D108BD9-81ED-4DB2-BD59-A6C34878D82A}">
                    <a16:rowId xmlns:a16="http://schemas.microsoft.com/office/drawing/2014/main" val="4250838286"/>
                  </a:ext>
                </a:extLst>
              </a:tr>
              <a:tr h="889790">
                <a:tc>
                  <a:txBody>
                    <a:bodyPr/>
                    <a:lstStyle/>
                    <a:p>
                      <a:r>
                        <a:rPr lang="en-US" sz="2400"/>
                        <a:t>Slightly slower for dynamic resizing</a:t>
                      </a:r>
                    </a:p>
                  </a:txBody>
                  <a:tcPr anchor="ctr"/>
                </a:tc>
                <a:tc>
                  <a:txBody>
                    <a:bodyPr/>
                    <a:lstStyle/>
                    <a:p>
                      <a:r>
                        <a:rPr lang="en-US" sz="2400"/>
                        <a:t>Slightly faster than lists for large datasets</a:t>
                      </a:r>
                    </a:p>
                  </a:txBody>
                  <a:tcPr anchor="ctr"/>
                </a:tc>
                <a:extLst>
                  <a:ext uri="{0D108BD9-81ED-4DB2-BD59-A6C34878D82A}">
                    <a16:rowId xmlns:a16="http://schemas.microsoft.com/office/drawing/2014/main" val="4097307520"/>
                  </a:ext>
                </a:extLst>
              </a:tr>
            </a:tbl>
          </a:graphicData>
        </a:graphic>
      </p:graphicFrame>
    </p:spTree>
    <p:extLst>
      <p:ext uri="{BB962C8B-B14F-4D97-AF65-F5344CB8AC3E}">
        <p14:creationId xmlns:p14="http://schemas.microsoft.com/office/powerpoint/2010/main" val="2071495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82DBF-1394-2517-FAF3-65676516014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F46AA2C-DF0E-00B4-D392-E5581259271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3289F5D2-BD1E-A50F-6045-92C6C43651B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FDA16B4B-182B-C93C-B73B-D22C0A6CBC8A}"/>
              </a:ext>
            </a:extLst>
          </p:cNvPr>
          <p:cNvSpPr txBox="1"/>
          <p:nvPr/>
        </p:nvSpPr>
        <p:spPr>
          <a:xfrm>
            <a:off x="776653" y="1049377"/>
            <a:ext cx="10323564" cy="507831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can prevent unintended aliasing</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If a list is assigned to multiple variables, changes in one reference affect all others.</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Using a tuple ensures that security-sensitive data is not modified indirectly.</a:t>
            </a:r>
          </a:p>
          <a:p>
            <a:pPr marL="457200"/>
            <a:endParaRPr lang="en-US" sz="2000">
              <a:solidFill>
                <a:schemeClr val="accent1">
                  <a:lumMod val="50000"/>
                </a:schemeClr>
              </a:solidFill>
              <a:latin typeface="Arial" panose="020B0604020202020204" pitchFamily="34"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Create a list</a:t>
            </a:r>
          </a:p>
          <a:p>
            <a:pPr marL="914400"/>
            <a:r>
              <a:rPr lang="en-US" sz="2000" b="1">
                <a:solidFill>
                  <a:schemeClr val="accent1">
                    <a:lumMod val="50000"/>
                  </a:schemeClr>
                </a:solidFill>
                <a:latin typeface="Consolas" panose="020B0609020204030204" pitchFamily="49" charset="0"/>
                <a:cs typeface="Arial" panose="020B0604020202020204" pitchFamily="34" charset="0"/>
              </a:rPr>
              <a:t>my_list = [1, 2, 3]</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Assign the same list reference to another variable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 = my_list</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Modifying one reference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alias_list[0] = 99</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Both lists are affected</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print("my_list:", my_list)       # Output: [99, 2, 3]</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print("alias_list:", alias_list) # Output: [99, 2, 3]</a:t>
            </a:r>
          </a:p>
        </p:txBody>
      </p:sp>
    </p:spTree>
    <p:extLst>
      <p:ext uri="{BB962C8B-B14F-4D97-AF65-F5344CB8AC3E}">
        <p14:creationId xmlns:p14="http://schemas.microsoft.com/office/powerpoint/2010/main" val="20878346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88150-13A5-8006-D83E-4EA146DC254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CDF7F6D-1FBE-DCF5-5F95-D0C632B892F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73A1F57E-483E-7C53-CA64-0AA5EEE584E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96ADB709-10E8-F656-E6A6-713225485BEC}"/>
              </a:ext>
            </a:extLst>
          </p:cNvPr>
          <p:cNvSpPr txBox="1"/>
          <p:nvPr/>
        </p:nvSpPr>
        <p:spPr>
          <a:xfrm>
            <a:off x="776653" y="876991"/>
            <a:ext cx="10953150" cy="363176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Once a tuple is created, its elements cannot be changed. </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Security-sensitive data, such as API keys, credentials, or cryptographic parameters, cannot be modified accidentally or maliciously during runtime.</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b="1">
                <a:solidFill>
                  <a:schemeClr val="accent1">
                    <a:lumMod val="50000"/>
                  </a:schemeClr>
                </a:solidFill>
                <a:latin typeface="Consolas" panose="020B0609020204030204" pitchFamily="49" charset="0"/>
                <a:cs typeface="Arial" panose="020B0604020202020204" pitchFamily="34" charset="0"/>
              </a:rPr>
              <a:t>credentials = ("admin", "secure_password123")  # Cannot be modified after creation</a:t>
            </a:r>
          </a:p>
          <a:p>
            <a:pPr marL="914400" lvl="1"/>
            <a:endParaRPr lang="en-US" sz="2000" b="1">
              <a:solidFill>
                <a:schemeClr val="accent1">
                  <a:lumMod val="50000"/>
                </a:schemeClr>
              </a:solidFill>
              <a:latin typeface="Consolas" panose="020B0609020204030204" pitchFamily="49" charset="0"/>
              <a:cs typeface="Arial" panose="020B0604020202020204" pitchFamily="34" charset="0"/>
            </a:endParaRP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provide reduced attack surfaces.</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Cannot be altered by malicious code that may attempt to overwrite, inject, or tamper with data during execution.</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Particularly useful in multi-threaded environments, where shared data should remain constant and unchangeable.</a:t>
            </a:r>
          </a:p>
        </p:txBody>
      </p:sp>
    </p:spTree>
    <p:extLst>
      <p:ext uri="{BB962C8B-B14F-4D97-AF65-F5344CB8AC3E}">
        <p14:creationId xmlns:p14="http://schemas.microsoft.com/office/powerpoint/2010/main" val="32684085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4631A-86BB-C766-5B15-02F405CD1E9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47683E9-DB97-3599-7614-FB94658822CA}"/>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6FED420-C71C-043F-EDFC-4AD63E872DD6}"/>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BAA9ECEE-E54A-8A38-690B-7F1F111B0C68}"/>
              </a:ext>
            </a:extLst>
          </p:cNvPr>
          <p:cNvSpPr txBox="1"/>
          <p:nvPr/>
        </p:nvSpPr>
        <p:spPr>
          <a:xfrm>
            <a:off x="776653" y="1049377"/>
            <a:ext cx="10323564" cy="5201424"/>
          </a:xfrm>
          <a:prstGeom prst="rect">
            <a:avLst/>
          </a:prstGeom>
          <a:noFill/>
        </p:spPr>
        <p:txBody>
          <a:bodyPr wrap="square" rtlCol="0">
            <a:spAutoFit/>
          </a:bodyPr>
          <a:lstStyle/>
          <a:p>
            <a:pPr marL="231775"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Tuples are hashable (can be used as dictionary keys or set elements) as long as they only contain hashable elements</a:t>
            </a:r>
          </a:p>
          <a:p>
            <a:pPr marL="6889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ensures that security-sensitive mappings (e.g., user permissions, access control lists) remain unchanged.</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Is an admin with read permissions allowed to perform a write?</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non_hashable_tuple = (["admin", "read"], "write") # contains a list access_rights = { non_hashable_tuple: True }</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688975" lvl="1" indent="-231775">
              <a:buFont typeface="Arial" panose="020B0604020202020204" pitchFamily="34" charset="0"/>
              <a:buChar char="•"/>
            </a:pPr>
            <a:r>
              <a:rPr lang="en-US" sz="2400" b="0" i="0">
                <a:solidFill>
                  <a:srgbClr val="000000"/>
                </a:solidFill>
                <a:effectLst/>
                <a:highlight>
                  <a:srgbClr val="FFFF00"/>
                </a:highlight>
                <a:latin typeface="Menlo"/>
              </a:rPr>
              <a:t>TypeError: unhashable type: 'list'</a:t>
            </a:r>
          </a:p>
          <a:p>
            <a:pPr marL="688975" lvl="1" indent="-231775">
              <a:buFont typeface="Arial" panose="020B0604020202020204" pitchFamily="34" charset="0"/>
              <a:buChar char="•"/>
            </a:pPr>
            <a:endParaRPr lang="en-US" sz="2400">
              <a:solidFill>
                <a:srgbClr val="000000"/>
              </a:solidFill>
              <a:latin typeface="Menlo"/>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hashable_tuple = (("admin", "read"), "write") # hashable</a:t>
            </a:r>
            <a:endParaRPr lang="en-US" sz="20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access_rights = { hashable_tuple: True }</a:t>
            </a:r>
          </a:p>
        </p:txBody>
      </p:sp>
    </p:spTree>
    <p:extLst>
      <p:ext uri="{BB962C8B-B14F-4D97-AF65-F5344CB8AC3E}">
        <p14:creationId xmlns:p14="http://schemas.microsoft.com/office/powerpoint/2010/main" val="2179349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78D33-3B3B-23A1-9109-CD864116276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AAAB76E-220B-AC3B-A601-1FFDF95FD29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04513C8-0307-D960-FBB8-961FCDB76C7B}"/>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a:t>
            </a:r>
          </a:p>
        </p:txBody>
      </p:sp>
      <p:sp>
        <p:nvSpPr>
          <p:cNvPr id="5" name="TextBox 4">
            <a:extLst>
              <a:ext uri="{FF2B5EF4-FFF2-40B4-BE49-F238E27FC236}">
                <a16:creationId xmlns:a16="http://schemas.microsoft.com/office/drawing/2014/main" id="{B86ECEB9-CE05-E523-6248-A9F8D754CF62}"/>
              </a:ext>
            </a:extLst>
          </p:cNvPr>
          <p:cNvSpPr txBox="1"/>
          <p:nvPr/>
        </p:nvSpPr>
        <p:spPr>
          <a:xfrm>
            <a:off x="836614" y="906971"/>
            <a:ext cx="10323564" cy="5262979"/>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 by using tuples for data that should remain unchanged, and by making copies of lists before passing them to functions if modification is not intended.</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Copying lists ensures that modifications to copied objects do not unintentionally affect the original (particularly when dealing with mutable and nested data structures).</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list.copy() performs a shallow copy, meaning it only copies the outer list and keeps references to mutable elements inside.</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a:t>
            </a:r>
            <a:r>
              <a:rPr lang="en-US" sz="2400">
                <a:solidFill>
                  <a:schemeClr val="accent1">
                    <a:lumMod val="50000"/>
                  </a:schemeClr>
                </a:solidFill>
                <a:latin typeface="Arial" panose="020B0604020202020204" pitchFamily="34" charset="0"/>
                <a:cs typeface="Arial" panose="020B0604020202020204" pitchFamily="34" charset="0"/>
                <a:hlinkClick r:id="rId3"/>
              </a:rPr>
              <a:t>copy module </a:t>
            </a:r>
            <a:r>
              <a:rPr lang="en-US" sz="2400">
                <a:solidFill>
                  <a:schemeClr val="accent1">
                    <a:lumMod val="50000"/>
                  </a:schemeClr>
                </a:solidFill>
                <a:latin typeface="Arial" panose="020B0604020202020204" pitchFamily="34" charset="0"/>
                <a:cs typeface="Arial" panose="020B0604020202020204" pitchFamily="34" charset="0"/>
              </a:rPr>
              <a:t>allows programmers to create both shallow and deep copies of objects, </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 deep copy constructs a new compound object and then, recursively, inserts copies into it of the objects found in the original.</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difference is only relevant for compound objects (objects that contain other objects, like lists or class instances).</a:t>
            </a:r>
          </a:p>
        </p:txBody>
      </p:sp>
    </p:spTree>
    <p:extLst>
      <p:ext uri="{BB962C8B-B14F-4D97-AF65-F5344CB8AC3E}">
        <p14:creationId xmlns:p14="http://schemas.microsoft.com/office/powerpoint/2010/main" val="33343037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94C49-3D26-1027-B6FF-8A55BCA76EC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ACD6AFE-F850-3817-492B-3BD17356E0EC}"/>
              </a:ext>
            </a:extLst>
          </p:cNvPr>
          <p:cNvPicPr>
            <a:picLocks noChangeAspect="1"/>
          </p:cNvPicPr>
          <p:nvPr/>
        </p:nvPicPr>
        <p:blipFill>
          <a:blip r:embed="rId2"/>
          <a:stretch>
            <a:fillRect/>
          </a:stretch>
        </p:blipFill>
        <p:spPr>
          <a:xfrm>
            <a:off x="104932" y="-33129"/>
            <a:ext cx="12192000" cy="6891129"/>
          </a:xfrm>
          <a:prstGeom prst="rect">
            <a:avLst/>
          </a:prstGeom>
        </p:spPr>
      </p:pic>
      <p:sp>
        <p:nvSpPr>
          <p:cNvPr id="4" name="TextBox 3">
            <a:extLst>
              <a:ext uri="{FF2B5EF4-FFF2-40B4-BE49-F238E27FC236}">
                <a16:creationId xmlns:a16="http://schemas.microsoft.com/office/drawing/2014/main" id="{BF07656B-BA7F-E294-5B3E-6CEF7E9157AD}"/>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The Shallow Copy Problem</a:t>
            </a:r>
          </a:p>
        </p:txBody>
      </p:sp>
      <p:sp>
        <p:nvSpPr>
          <p:cNvPr id="5" name="TextBox 4">
            <a:extLst>
              <a:ext uri="{FF2B5EF4-FFF2-40B4-BE49-F238E27FC236}">
                <a16:creationId xmlns:a16="http://schemas.microsoft.com/office/drawing/2014/main" id="{23C4A6DA-4772-77CF-63FA-971BF68B5A11}"/>
              </a:ext>
            </a:extLst>
          </p:cNvPr>
          <p:cNvSpPr txBox="1"/>
          <p:nvPr/>
        </p:nvSpPr>
        <p:spPr>
          <a:xfrm>
            <a:off x="836614" y="906971"/>
            <a:ext cx="10323564" cy="4955203"/>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Since shallow_copy only copied references to the inner lists, modifying an element inside shallow_copy also affected the original_list.</a:t>
            </a:r>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 = copy.copy(original_list)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[[99,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print(shallow_copy)   # Output: [[99, 2, 3], [4, 5, 6]]</a:t>
            </a:r>
          </a:p>
          <a:p>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626937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1BB4F-3769-7951-6DDB-B4459AF4B67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DA22A0-0AFA-F362-8511-C368E2BB6BD2}"/>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2B31251-0586-4A77-9A63-91388969830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Deep Copies</a:t>
            </a:r>
          </a:p>
        </p:txBody>
      </p:sp>
      <p:sp>
        <p:nvSpPr>
          <p:cNvPr id="5" name="TextBox 4">
            <a:extLst>
              <a:ext uri="{FF2B5EF4-FFF2-40B4-BE49-F238E27FC236}">
                <a16:creationId xmlns:a16="http://schemas.microsoft.com/office/drawing/2014/main" id="{B78E1D95-078B-5BA2-8A5B-EE10D42C153F}"/>
              </a:ext>
            </a:extLst>
          </p:cNvPr>
          <p:cNvSpPr txBox="1"/>
          <p:nvPr/>
        </p:nvSpPr>
        <p:spPr>
          <a:xfrm>
            <a:off x="836614" y="906971"/>
            <a:ext cx="10323564" cy="4462760"/>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copy.deepcopy() creates a new object and recursively copies all objects within it, ensuring that nested mutable objects are fully duplicated rather than just referenced so the copied object is completely independent.</a:t>
            </a: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 = copy.deepcopy(original_list)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[[1, 2, 3], [4, 5, 6]]  (Unchanged)</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print(deep_copy)      # Output: [[99, 2, 3], [4, 5, 6]]  (Modified)</a:t>
            </a:r>
          </a:p>
        </p:txBody>
      </p:sp>
    </p:spTree>
    <p:extLst>
      <p:ext uri="{BB962C8B-B14F-4D97-AF65-F5344CB8AC3E}">
        <p14:creationId xmlns:p14="http://schemas.microsoft.com/office/powerpoint/2010/main" val="173965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DCFD6-FAB1-A52B-F1EB-ACF777FB5E3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C959D0D-3F57-1D1A-6A6F-E1F0D43DA2A9}"/>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5BDC787B-E4CE-B59A-89CB-A5F7D2CAF49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Index Errors/Boundary Overflow Best Practices</a:t>
            </a:r>
          </a:p>
        </p:txBody>
      </p:sp>
      <p:sp>
        <p:nvSpPr>
          <p:cNvPr id="5" name="TextBox 4">
            <a:extLst>
              <a:ext uri="{FF2B5EF4-FFF2-40B4-BE49-F238E27FC236}">
                <a16:creationId xmlns:a16="http://schemas.microsoft.com/office/drawing/2014/main" id="{A786BC94-0182-297B-0DEC-07A9DAA776F9}"/>
              </a:ext>
            </a:extLst>
          </p:cNvPr>
          <p:cNvSpPr txBox="1"/>
          <p:nvPr/>
        </p:nvSpPr>
        <p:spPr>
          <a:xfrm>
            <a:off x="836614" y="906971"/>
            <a:ext cx="10323564" cy="2923877"/>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Validate &amp; Check Index Values Before Accessing</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Always check if an index is within range before accessing elements.</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len() to determine valid index ranges.</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Validate user input before using it as an index.</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Handle unexpected errors using try-except.</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Prefer iteration over direct indexing when possible.</a:t>
            </a:r>
          </a:p>
        </p:txBody>
      </p:sp>
    </p:spTree>
    <p:extLst>
      <p:ext uri="{BB962C8B-B14F-4D97-AF65-F5344CB8AC3E}">
        <p14:creationId xmlns:p14="http://schemas.microsoft.com/office/powerpoint/2010/main" val="3696631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C5249-FBD9-E03B-A186-0FEB956A8AF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901461-8ABE-FC63-A05E-56484A4CDA57}"/>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E45CD718-069A-CF9C-C21E-7A0EA083589A}"/>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Validate &amp; Check Index Values Before Accessing</a:t>
            </a:r>
          </a:p>
        </p:txBody>
      </p:sp>
      <p:sp>
        <p:nvSpPr>
          <p:cNvPr id="5" name="TextBox 4">
            <a:extLst>
              <a:ext uri="{FF2B5EF4-FFF2-40B4-BE49-F238E27FC236}">
                <a16:creationId xmlns:a16="http://schemas.microsoft.com/office/drawing/2014/main" id="{B31513E4-8F00-94E6-7BFA-F910B3616EAC}"/>
              </a:ext>
            </a:extLst>
          </p:cNvPr>
          <p:cNvSpPr txBox="1"/>
          <p:nvPr/>
        </p:nvSpPr>
        <p:spPr>
          <a:xfrm>
            <a:off x="604266" y="1161804"/>
            <a:ext cx="4237556" cy="3847207"/>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Always check if an index is within range before accessing elements.</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len() to determine </a:t>
            </a:r>
            <a:br>
              <a:rPr lang="en-US" sz="2400">
                <a:solidFill>
                  <a:schemeClr val="accent1">
                    <a:lumMod val="50000"/>
                  </a:schemeClr>
                </a:solidFill>
                <a:latin typeface="Arial" panose="020B0604020202020204" pitchFamily="34" charset="0"/>
                <a:cs typeface="Arial" panose="020B0604020202020204" pitchFamily="34" charset="0"/>
              </a:rPr>
            </a:br>
            <a:r>
              <a:rPr lang="en-US" sz="2400">
                <a:solidFill>
                  <a:schemeClr val="accent1">
                    <a:lumMod val="50000"/>
                  </a:schemeClr>
                </a:solidFill>
                <a:latin typeface="Arial" panose="020B0604020202020204" pitchFamily="34" charset="0"/>
                <a:cs typeface="Arial" panose="020B0604020202020204" pitchFamily="34" charset="0"/>
              </a:rPr>
              <a:t>valid index ranges.</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Validate user input before using it as an index.</a:t>
            </a:r>
          </a:p>
        </p:txBody>
      </p:sp>
      <p:sp>
        <p:nvSpPr>
          <p:cNvPr id="6" name="TextBox 5">
            <a:extLst>
              <a:ext uri="{FF2B5EF4-FFF2-40B4-BE49-F238E27FC236}">
                <a16:creationId xmlns:a16="http://schemas.microsoft.com/office/drawing/2014/main" id="{7F262E7B-C7F3-CFE6-458F-E453529C1D1A}"/>
              </a:ext>
            </a:extLst>
          </p:cNvPr>
          <p:cNvSpPr txBox="1"/>
          <p:nvPr/>
        </p:nvSpPr>
        <p:spPr>
          <a:xfrm>
            <a:off x="5082576" y="1161804"/>
            <a:ext cx="6782137" cy="4770537"/>
          </a:xfrm>
          <a:prstGeom prst="rect">
            <a:avLst/>
          </a:prstGeom>
          <a:noFill/>
        </p:spPr>
        <p:txBody>
          <a:bodyPr wrap="square">
            <a:spAutoFit/>
          </a:bodyPr>
          <a:lstStyle/>
          <a:p>
            <a:r>
              <a:rPr lang="en-US" sz="1600" b="1">
                <a:latin typeface="Consolas" panose="020B0609020204030204" pitchFamily="49" charset="0"/>
              </a:rPr>
              <a:t> # Safely retrieve an element from a list</a:t>
            </a:r>
            <a:br>
              <a:rPr lang="en-US" sz="1600" b="1">
                <a:latin typeface="Consolas" panose="020B0609020204030204" pitchFamily="49" charset="0"/>
              </a:rPr>
            </a:br>
            <a:r>
              <a:rPr lang="en-US" sz="1600" b="1">
                <a:latin typeface="Consolas" panose="020B0609020204030204" pitchFamily="49" charset="0"/>
              </a:rPr>
              <a:t>def get_element(lst, index):</a:t>
            </a:r>
          </a:p>
          <a:p>
            <a:r>
              <a:rPr lang="en-US" sz="1600" b="1">
                <a:latin typeface="Consolas" panose="020B0609020204030204" pitchFamily="49" charset="0"/>
              </a:rPr>
              <a:t>    if not isinstance(index, int): # Validate user input</a:t>
            </a:r>
          </a:p>
          <a:p>
            <a:r>
              <a:rPr lang="en-US" sz="1600" b="1">
                <a:latin typeface="Consolas" panose="020B0609020204030204" pitchFamily="49" charset="0"/>
              </a:rPr>
              <a:t>        print("Error: Index must be an integer.")</a:t>
            </a:r>
          </a:p>
          <a:p>
            <a:r>
              <a:rPr lang="en-US" sz="1600" b="1">
                <a:latin typeface="Consolas" panose="020B0609020204030204" pitchFamily="49" charset="0"/>
              </a:rPr>
              <a:t>        return None</a:t>
            </a:r>
          </a:p>
          <a:p>
            <a:r>
              <a:rPr lang="en-US" sz="1600" b="1">
                <a:latin typeface="Consolas" panose="020B0609020204030204" pitchFamily="49" charset="0"/>
              </a:rPr>
              <a:t>    if 0 &lt;= index &lt; len(lst):  # Check if index is in range</a:t>
            </a:r>
          </a:p>
          <a:p>
            <a:r>
              <a:rPr lang="en-US" sz="1600" b="1">
                <a:latin typeface="Consolas" panose="020B0609020204030204" pitchFamily="49" charset="0"/>
              </a:rPr>
              <a:t>        return lst[index]</a:t>
            </a:r>
          </a:p>
          <a:p>
            <a:r>
              <a:rPr lang="en-US" sz="1600" b="1">
                <a:latin typeface="Consolas" panose="020B0609020204030204" pitchFamily="49" charset="0"/>
              </a:rPr>
              <a:t>    else:</a:t>
            </a:r>
          </a:p>
          <a:p>
            <a:r>
              <a:rPr lang="en-US" sz="1600" b="1">
                <a:latin typeface="Consolas" panose="020B0609020204030204" pitchFamily="49" charset="0"/>
              </a:rPr>
              <a:t>        print("Error: Index out of range.")</a:t>
            </a:r>
          </a:p>
          <a:p>
            <a:r>
              <a:rPr lang="en-US" sz="1600" b="1">
                <a:latin typeface="Consolas" panose="020B0609020204030204" pitchFamily="49" charset="0"/>
              </a:rPr>
              <a:t>        return None</a:t>
            </a:r>
          </a:p>
          <a:p>
            <a:endParaRPr lang="en-US" sz="1600" b="1">
              <a:latin typeface="Consolas" panose="020B0609020204030204" pitchFamily="49" charset="0"/>
            </a:endParaRPr>
          </a:p>
          <a:p>
            <a:r>
              <a:rPr lang="en-US" sz="1600" b="1">
                <a:latin typeface="Consolas" panose="020B0609020204030204" pitchFamily="49" charset="0"/>
              </a:rPr>
              <a:t># Example usage</a:t>
            </a:r>
          </a:p>
          <a:p>
            <a:r>
              <a:rPr lang="en-US" sz="1600" b="1">
                <a:latin typeface="Consolas" panose="020B0609020204030204" pitchFamily="49" charset="0"/>
              </a:rPr>
              <a:t>my_list = ["apple", "banana", "cherry"]</a:t>
            </a:r>
          </a:p>
          <a:p>
            <a:r>
              <a:rPr lang="en-US" sz="1600" b="1">
                <a:latin typeface="Consolas" panose="020B0609020204030204" pitchFamily="49" charset="0"/>
              </a:rPr>
              <a:t># Valid index</a:t>
            </a:r>
          </a:p>
          <a:p>
            <a:r>
              <a:rPr lang="en-US" sz="1600" b="1">
                <a:latin typeface="Consolas" panose="020B0609020204030204" pitchFamily="49" charset="0"/>
              </a:rPr>
              <a:t>print(get_element(my_list, 1)) </a:t>
            </a:r>
          </a:p>
          <a:p>
            <a:r>
              <a:rPr lang="en-US" sz="1600" b="1">
                <a:latin typeface="Consolas" panose="020B0609020204030204" pitchFamily="49" charset="0"/>
              </a:rPr>
              <a:t># Out-of-range index</a:t>
            </a:r>
          </a:p>
          <a:p>
            <a:r>
              <a:rPr lang="en-US" sz="1600" b="1">
                <a:latin typeface="Consolas" panose="020B0609020204030204" pitchFamily="49" charset="0"/>
              </a:rPr>
              <a:t>print(get_element(my_list, 5))</a:t>
            </a:r>
          </a:p>
          <a:p>
            <a:r>
              <a:rPr lang="en-US" sz="1600" b="1">
                <a:latin typeface="Consolas" panose="020B0609020204030204" pitchFamily="49" charset="0"/>
              </a:rPr>
              <a:t># Invalid input (not an integer)</a:t>
            </a:r>
          </a:p>
          <a:p>
            <a:r>
              <a:rPr lang="en-US" sz="1600" b="1">
                <a:latin typeface="Consolas" panose="020B0609020204030204" pitchFamily="49" charset="0"/>
              </a:rPr>
              <a:t>print(get_element(my_list, "two"))</a:t>
            </a:r>
          </a:p>
        </p:txBody>
      </p:sp>
    </p:spTree>
    <p:extLst>
      <p:ext uri="{BB962C8B-B14F-4D97-AF65-F5344CB8AC3E}">
        <p14:creationId xmlns:p14="http://schemas.microsoft.com/office/powerpoint/2010/main" val="36508694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9DE24-11E3-B58C-325C-03784DC0AB4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7948E7C-D1F5-8DD4-3848-32B003C5F3D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9947D70E-4EC6-9F57-4994-E8D33286F171}"/>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Handle Unexpected Errors Using try-except</a:t>
            </a:r>
          </a:p>
        </p:txBody>
      </p:sp>
      <p:sp>
        <p:nvSpPr>
          <p:cNvPr id="5" name="TextBox 4">
            <a:extLst>
              <a:ext uri="{FF2B5EF4-FFF2-40B4-BE49-F238E27FC236}">
                <a16:creationId xmlns:a16="http://schemas.microsoft.com/office/drawing/2014/main" id="{E5C77192-6489-D6CE-E4A5-B7C7069ED03D}"/>
              </a:ext>
            </a:extLst>
          </p:cNvPr>
          <p:cNvSpPr txBox="1"/>
          <p:nvPr/>
        </p:nvSpPr>
        <p:spPr>
          <a:xfrm>
            <a:off x="836614" y="906971"/>
            <a:ext cx="10323564" cy="4339650"/>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Use try-except to catch IndexError without crashing.</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Return a default value or a meaningful message on failure.</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Log errors for debugging instead of silently failing.</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try: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print(my_list[3])  </a:t>
            </a:r>
          </a:p>
          <a:p>
            <a:pPr marL="914400"/>
            <a:r>
              <a:rPr lang="en-US" sz="2400" b="1">
                <a:solidFill>
                  <a:schemeClr val="accent1">
                    <a:lumMod val="50000"/>
                  </a:schemeClr>
                </a:solidFill>
                <a:latin typeface="Consolas" panose="020B0609020204030204" pitchFamily="49" charset="0"/>
                <a:cs typeface="Arial" panose="020B0604020202020204" pitchFamily="34" charset="0"/>
              </a:rPr>
              <a:t>except IndexError: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print("Index out of range!")</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87011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A1856-8075-8F08-77C4-73C39503C5A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D0608FD0-99BA-AA32-CAB8-8547985C419C}"/>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2FED457-6879-E693-5503-71891DE7E4BA}"/>
              </a:ext>
            </a:extLst>
          </p:cNvPr>
          <p:cNvSpPr txBox="1"/>
          <p:nvPr/>
        </p:nvSpPr>
        <p:spPr>
          <a:xfrm>
            <a:off x="604266" y="136955"/>
            <a:ext cx="10555912"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Prefer Built-In Iteration Over Direct Indexing (Lists)</a:t>
            </a:r>
          </a:p>
        </p:txBody>
      </p:sp>
      <p:sp>
        <p:nvSpPr>
          <p:cNvPr id="5" name="TextBox 4">
            <a:extLst>
              <a:ext uri="{FF2B5EF4-FFF2-40B4-BE49-F238E27FC236}">
                <a16:creationId xmlns:a16="http://schemas.microsoft.com/office/drawing/2014/main" id="{0378DBAD-6BD3-F74B-1817-85683D357BA1}"/>
              </a:ext>
            </a:extLst>
          </p:cNvPr>
          <p:cNvSpPr txBox="1"/>
          <p:nvPr/>
        </p:nvSpPr>
        <p:spPr>
          <a:xfrm>
            <a:off x="836614" y="906971"/>
            <a:ext cx="10323564" cy="5693866"/>
          </a:xfrm>
          <a:prstGeom prst="rect">
            <a:avLst/>
          </a:prstGeom>
          <a:noFill/>
        </p:spPr>
        <p:txBody>
          <a:bodyPr wrap="square" rtlCol="0">
            <a:spAutoFit/>
          </a:bodyPr>
          <a:lstStyle/>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for loops instead of manually tracking indices</a:t>
            </a:r>
          </a:p>
          <a:p>
            <a:pPr marL="687388" lvl="2" indent="-230188">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Manual index tracking is often unnecessary and can introduce errors, making code harder to read and maintain. </a:t>
            </a:r>
          </a:p>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built-in iteration methods that automatically handle indexing.</a:t>
            </a:r>
          </a:p>
          <a:p>
            <a:pPr marL="914400" lvl="1" indent="-230188">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Instead of this:</a:t>
            </a:r>
          </a:p>
          <a:p>
            <a:pPr marL="230188" lvl="1" indent="-230188">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1371600" lvl="1"/>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index = 0  # Manually tracking index</a:t>
            </a:r>
          </a:p>
          <a:p>
            <a:pPr marL="13716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1371600" lvl="1"/>
            <a:r>
              <a:rPr lang="en-US" sz="2000" b="1">
                <a:solidFill>
                  <a:schemeClr val="accent1">
                    <a:lumMod val="50000"/>
                  </a:schemeClr>
                </a:solidFill>
                <a:latin typeface="Consolas" panose="020B0609020204030204" pitchFamily="49" charset="0"/>
                <a:cs typeface="Arial" panose="020B0604020202020204" pitchFamily="34" charset="0"/>
              </a:rPr>
              <a:t>while index &lt; len(my_list):</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    print(my_list[index])</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    index += 1  # Manually updating index</a:t>
            </a:r>
          </a:p>
          <a:p>
            <a:pPr marL="9144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914400" lvl="1" indent="-231775">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Do this:</a:t>
            </a:r>
          </a:p>
          <a:p>
            <a:pPr marL="914400"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1371600"/>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1371600"/>
            <a:r>
              <a:rPr lang="en-US" sz="2000" b="1">
                <a:solidFill>
                  <a:schemeClr val="accent1">
                    <a:lumMod val="50000"/>
                  </a:schemeClr>
                </a:solidFill>
                <a:latin typeface="Consolas" panose="020B0609020204030204" pitchFamily="49" charset="0"/>
                <a:cs typeface="Arial" panose="020B0604020202020204" pitchFamily="34" charset="0"/>
              </a:rPr>
              <a:t>for item in my_list:</a:t>
            </a:r>
          </a:p>
          <a:p>
            <a:pPr marL="1371600"/>
            <a:r>
              <a:rPr lang="en-US" sz="2000" b="1">
                <a:solidFill>
                  <a:schemeClr val="accent1">
                    <a:lumMod val="50000"/>
                  </a:schemeClr>
                </a:solidFill>
                <a:latin typeface="Consolas" panose="020B0609020204030204" pitchFamily="49" charset="0"/>
                <a:cs typeface="Arial" panose="020B0604020202020204" pitchFamily="34" charset="0"/>
              </a:rPr>
              <a:t>    print(item)  # No need to manage an index</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95901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9D4A4-18D1-38F2-5D0A-035414E0F44E}"/>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312D5526-FD7F-5DD4-7471-8D6605969C5E}"/>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E793B24-F71F-1671-8A5C-D366C264DE1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enumerate() For Index-Value Pairs</a:t>
            </a:r>
          </a:p>
        </p:txBody>
      </p:sp>
      <p:sp>
        <p:nvSpPr>
          <p:cNvPr id="5" name="TextBox 4">
            <a:extLst>
              <a:ext uri="{FF2B5EF4-FFF2-40B4-BE49-F238E27FC236}">
                <a16:creationId xmlns:a16="http://schemas.microsoft.com/office/drawing/2014/main" id="{F4090505-DE8B-8D55-006F-0D8F661FC228}"/>
              </a:ext>
            </a:extLst>
          </p:cNvPr>
          <p:cNvSpPr txBox="1"/>
          <p:nvPr/>
        </p:nvSpPr>
        <p:spPr>
          <a:xfrm>
            <a:off x="836613" y="906971"/>
            <a:ext cx="11207983" cy="4216539"/>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Need to track an index? Use enumerate()</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e.g., when reading a file line by line, to keep track of the line numbers for logging, debugging, or reporting errors. </a:t>
            </a:r>
          </a:p>
          <a:p>
            <a:pPr marL="688975" lvl="1"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fruits = ["apple", "banana", "cherry"]</a:t>
            </a:r>
          </a:p>
          <a:p>
            <a:pPr marL="914400"/>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 Using enumerate to iterate with index-value pairs</a:t>
            </a:r>
          </a:p>
          <a:p>
            <a:pPr marL="914400"/>
            <a:r>
              <a:rPr lang="en-US" sz="2400" b="1">
                <a:solidFill>
                  <a:schemeClr val="accent1">
                    <a:lumMod val="50000"/>
                  </a:schemeClr>
                </a:solidFill>
                <a:latin typeface="Consolas" panose="020B0609020204030204" pitchFamily="49" charset="0"/>
                <a:cs typeface="Arial" panose="020B0604020202020204" pitchFamily="34" charset="0"/>
              </a:rPr>
              <a:t>for index, fruit in enumerate(fruits):</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print(f"Index {index}: {fruit}")</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AF25C39-F4CE-6283-A7E9-B520E4E20F6D}"/>
              </a:ext>
            </a:extLst>
          </p:cNvPr>
          <p:cNvSpPr txBox="1"/>
          <p:nvPr/>
        </p:nvSpPr>
        <p:spPr>
          <a:xfrm>
            <a:off x="7140003" y="4739363"/>
            <a:ext cx="2197933" cy="1015663"/>
          </a:xfrm>
          <a:prstGeom prst="rect">
            <a:avLst/>
          </a:prstGeom>
          <a:solidFill>
            <a:srgbClr val="FFFF00"/>
          </a:solidFill>
        </p:spPr>
        <p:txBody>
          <a:bodyPr wrap="square">
            <a:spAutoFit/>
          </a:bodyPr>
          <a:lstStyle/>
          <a:p>
            <a:r>
              <a:rPr lang="en-US" sz="2000" b="1"/>
              <a:t>Index 0: apple</a:t>
            </a:r>
          </a:p>
          <a:p>
            <a:r>
              <a:rPr lang="en-US" sz="2000" b="1"/>
              <a:t>Index 1: banana</a:t>
            </a:r>
          </a:p>
          <a:p>
            <a:r>
              <a:rPr lang="en-US" sz="2000" b="1"/>
              <a:t>Index 2: cherry</a:t>
            </a:r>
          </a:p>
        </p:txBody>
      </p:sp>
    </p:spTree>
    <p:extLst>
      <p:ext uri="{BB962C8B-B14F-4D97-AF65-F5344CB8AC3E}">
        <p14:creationId xmlns:p14="http://schemas.microsoft.com/office/powerpoint/2010/main" val="1968607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F333D-EF11-C6D2-9B95-4827CC3F87FB}"/>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A2191C4-8420-26FA-96CF-78F530A37EBD}"/>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CE33DA99-B37E-AC95-445E-24F61CAB229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 Comprehensions</a:t>
            </a:r>
          </a:p>
        </p:txBody>
      </p:sp>
      <p:sp>
        <p:nvSpPr>
          <p:cNvPr id="5" name="TextBox 4">
            <a:extLst>
              <a:ext uri="{FF2B5EF4-FFF2-40B4-BE49-F238E27FC236}">
                <a16:creationId xmlns:a16="http://schemas.microsoft.com/office/drawing/2014/main" id="{D05A6D99-F3B2-09F3-45AA-0E6D40E01320}"/>
              </a:ext>
            </a:extLst>
          </p:cNvPr>
          <p:cNvSpPr txBox="1"/>
          <p:nvPr/>
        </p:nvSpPr>
        <p:spPr>
          <a:xfrm>
            <a:off x="836614" y="906971"/>
            <a:ext cx="10323564" cy="4401205"/>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While built-in iteration methods provide both provide security and efficiency benefits over direct indexing, list comprehensions can offer advantages</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List comprehensions:</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are more readable than built-in iteration functions, making code easier to understand.</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allow inline conditions (if-else) without needing additional filter() calls or complex lambda functions.</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are optimized at the C-level, often making them faster.</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can be simpler to debug when dealing with complex transformations.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83172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CAB27-B9C3-B935-6F8C-5FD25840F57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B89F517-1C77-81C4-CF76-ACE6293E45E2}"/>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B3DC462E-1390-0DBB-1052-5EA4EF595F9C}"/>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 Comprehensions</a:t>
            </a:r>
          </a:p>
        </p:txBody>
      </p:sp>
      <p:sp>
        <p:nvSpPr>
          <p:cNvPr id="5" name="TextBox 4">
            <a:extLst>
              <a:ext uri="{FF2B5EF4-FFF2-40B4-BE49-F238E27FC236}">
                <a16:creationId xmlns:a16="http://schemas.microsoft.com/office/drawing/2014/main" id="{F2846A13-0C2B-A4B1-0169-9A864560901B}"/>
              </a:ext>
            </a:extLst>
          </p:cNvPr>
          <p:cNvSpPr txBox="1"/>
          <p:nvPr/>
        </p:nvSpPr>
        <p:spPr>
          <a:xfrm>
            <a:off x="836614" y="906971"/>
            <a:ext cx="10323564" cy="5016758"/>
          </a:xfrm>
          <a:prstGeom prst="rect">
            <a:avLst/>
          </a:prstGeom>
          <a:noFill/>
        </p:spPr>
        <p:txBody>
          <a:bodyPr wrap="square" rtlCol="0">
            <a:spAutoFit/>
          </a:bodyPr>
          <a:lstStyle/>
          <a:p>
            <a:pPr marL="1587" lvl="1"/>
            <a:r>
              <a:rPr lang="en-US" sz="1600" b="1">
                <a:solidFill>
                  <a:schemeClr val="accent1">
                    <a:lumMod val="50000"/>
                  </a:schemeClr>
                </a:solidFill>
                <a:latin typeface="Consolas" panose="020B0609020204030204" pitchFamily="49" charset="0"/>
                <a:cs typeface="Arial" panose="020B0604020202020204" pitchFamily="34" charset="0"/>
              </a:rPr>
              <a:t>numbers = [1, 2, 3, 4, 5, 6]</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Compare list comprehension to map/filter for readability</a:t>
            </a:r>
          </a:p>
          <a:p>
            <a:pPr marL="1587" lvl="1"/>
            <a:r>
              <a:rPr lang="en-US" sz="1600" b="1">
                <a:solidFill>
                  <a:schemeClr val="accent1">
                    <a:lumMod val="50000"/>
                  </a:schemeClr>
                </a:solidFill>
                <a:latin typeface="Consolas" panose="020B0609020204030204" pitchFamily="49" charset="0"/>
                <a:cs typeface="Arial" panose="020B0604020202020204" pitchFamily="34" charset="0"/>
              </a:rPr>
              <a:t>squared_evens = [x**2 for x in numbers if x % 2 == 0]</a:t>
            </a:r>
          </a:p>
          <a:p>
            <a:pPr marL="1587" lvl="1"/>
            <a:r>
              <a:rPr lang="en-US" sz="1600" b="1">
                <a:solidFill>
                  <a:schemeClr val="accent1">
                    <a:lumMod val="50000"/>
                  </a:schemeClr>
                </a:solidFill>
                <a:latin typeface="Consolas" panose="020B0609020204030204" pitchFamily="49" charset="0"/>
                <a:cs typeface="Arial" panose="020B0604020202020204" pitchFamily="34" charset="0"/>
              </a:rPr>
              <a:t>squared_evens_map = list(map(lambda x: x**2, filter(lambda x: x % 2 == 0, numbers)))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print("List Comprehension:", squared_evens)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print("Map + Filter:", squared_evens_map)</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Inline conditions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words = ["apple", "banana", "cherry", "date"]</a:t>
            </a:r>
          </a:p>
          <a:p>
            <a:pPr marL="1587" lvl="1"/>
            <a:r>
              <a:rPr lang="en-US" sz="1600" b="1">
                <a:solidFill>
                  <a:schemeClr val="accent1">
                    <a:lumMod val="50000"/>
                  </a:schemeClr>
                </a:solidFill>
                <a:latin typeface="Consolas" panose="020B0609020204030204" pitchFamily="49" charset="0"/>
                <a:cs typeface="Arial" panose="020B0604020202020204" pitchFamily="34" charset="0"/>
              </a:rPr>
              <a:t>word_lengths = [len(word) if "a" in word else 0 for word in words]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print("Word Lengths:", word_lengths)</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Optimized execution</a:t>
            </a:r>
          </a:p>
          <a:p>
            <a:pPr marL="1587" lvl="1"/>
            <a:r>
              <a:rPr lang="en-US" sz="1600" b="1">
                <a:solidFill>
                  <a:schemeClr val="accent1">
                    <a:lumMod val="50000"/>
                  </a:schemeClr>
                </a:solidFill>
                <a:latin typeface="Consolas" panose="020B0609020204030204" pitchFamily="49" charset="0"/>
                <a:cs typeface="Arial" panose="020B0604020202020204" pitchFamily="34" charset="0"/>
              </a:rPr>
              <a:t>large_numbers = list(range(1000000))</a:t>
            </a:r>
          </a:p>
          <a:p>
            <a:pPr marL="1587" lvl="1"/>
            <a:r>
              <a:rPr lang="en-US" sz="1600" b="1">
                <a:solidFill>
                  <a:schemeClr val="accent1">
                    <a:lumMod val="50000"/>
                  </a:schemeClr>
                </a:solidFill>
                <a:latin typeface="Consolas" panose="020B0609020204030204" pitchFamily="49" charset="0"/>
                <a:cs typeface="Arial" panose="020B0604020202020204" pitchFamily="34" charset="0"/>
              </a:rPr>
              <a:t>double_numbers = [x * 2 for x in large_numbers]  # Faster than map()</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Simple debugging</a:t>
            </a:r>
          </a:p>
          <a:p>
            <a:pPr marL="1587" lvl="1"/>
            <a:r>
              <a:rPr lang="en-US" sz="1600" b="1">
                <a:solidFill>
                  <a:schemeClr val="accent1">
                    <a:lumMod val="50000"/>
                  </a:schemeClr>
                </a:solidFill>
                <a:latin typeface="Consolas" panose="020B0609020204030204" pitchFamily="49" charset="0"/>
                <a:cs typeface="Arial" panose="020B0604020202020204" pitchFamily="34" charset="0"/>
              </a:rPr>
              <a:t>debug_list = [x * 2 for x in numbers if x % 2 == 0]</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print("Debug List:", debug_list)</a:t>
            </a:r>
            <a:endParaRPr lang="en-US" sz="1400" b="1">
              <a:solidFill>
                <a:schemeClr val="accent1">
                  <a:lumMod val="50000"/>
                </a:schemeClr>
              </a:solidFill>
              <a:latin typeface="Consolas" panose="020B0609020204030204" pitchFamily="49" charset="0"/>
              <a:cs typeface="Arial" panose="020B0604020202020204" pitchFamily="34" charset="0"/>
            </a:endParaRPr>
          </a:p>
        </p:txBody>
      </p:sp>
      <p:sp>
        <p:nvSpPr>
          <p:cNvPr id="6" name="TextBox 5">
            <a:extLst>
              <a:ext uri="{FF2B5EF4-FFF2-40B4-BE49-F238E27FC236}">
                <a16:creationId xmlns:a16="http://schemas.microsoft.com/office/drawing/2014/main" id="{4FDDCAB4-2A4E-C9DA-0BB4-59EE9E1F50C5}"/>
              </a:ext>
            </a:extLst>
          </p:cNvPr>
          <p:cNvSpPr txBox="1"/>
          <p:nvPr/>
        </p:nvSpPr>
        <p:spPr>
          <a:xfrm>
            <a:off x="6848924" y="5067682"/>
            <a:ext cx="3468237" cy="1077218"/>
          </a:xfrm>
          <a:prstGeom prst="rect">
            <a:avLst/>
          </a:prstGeom>
          <a:solidFill>
            <a:srgbClr val="FFFF00"/>
          </a:solidFill>
        </p:spPr>
        <p:txBody>
          <a:bodyPr wrap="square">
            <a:spAutoFit/>
          </a:bodyPr>
          <a:lstStyle/>
          <a:p>
            <a:r>
              <a:rPr lang="en-US" sz="1600" b="1"/>
              <a:t>List Comprehension: [4, 16, 36]</a:t>
            </a:r>
          </a:p>
          <a:p>
            <a:r>
              <a:rPr lang="en-US" sz="1600" b="1"/>
              <a:t>Map + Filter: [4, 16, 36]</a:t>
            </a:r>
          </a:p>
          <a:p>
            <a:r>
              <a:rPr lang="en-US" sz="1600" b="1"/>
              <a:t>Word Lengths: [5, 6, 0, 4]</a:t>
            </a:r>
          </a:p>
          <a:p>
            <a:r>
              <a:rPr lang="en-US" sz="1600" b="1"/>
              <a:t>Debug List: [4, 8, 12]</a:t>
            </a:r>
          </a:p>
        </p:txBody>
      </p:sp>
    </p:spTree>
    <p:extLst>
      <p:ext uri="{BB962C8B-B14F-4D97-AF65-F5344CB8AC3E}">
        <p14:creationId xmlns:p14="http://schemas.microsoft.com/office/powerpoint/2010/main" val="2047788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D10-1CCD-2D6F-0867-569DF2FB333C}"/>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909D774-FE35-CD19-6DA3-5CED5638B8C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F0843EEA-BBC1-4096-1B11-DEC007FF3E4B}"/>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zip() to Iterate Over Multiple Lists Safely</a:t>
            </a:r>
          </a:p>
        </p:txBody>
      </p:sp>
      <p:sp>
        <p:nvSpPr>
          <p:cNvPr id="5" name="TextBox 4">
            <a:extLst>
              <a:ext uri="{FF2B5EF4-FFF2-40B4-BE49-F238E27FC236}">
                <a16:creationId xmlns:a16="http://schemas.microsoft.com/office/drawing/2014/main" id="{9AA23600-5227-B995-25A9-926AF1A85E90}"/>
              </a:ext>
            </a:extLst>
          </p:cNvPr>
          <p:cNvSpPr txBox="1"/>
          <p:nvPr/>
        </p:nvSpPr>
        <p:spPr>
          <a:xfrm>
            <a:off x="836614" y="906971"/>
            <a:ext cx="10323564" cy="2677656"/>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zip() allows you to iterate over multiple lists by pairing corresponding elements together.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This prevents IndexErrors, which can occur when iterating manually with indices if lists have different lengths.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By default, zip() stops at the shortest list, ensuring safe iteration.</a:t>
            </a:r>
          </a:p>
        </p:txBody>
      </p:sp>
    </p:spTree>
    <p:extLst>
      <p:ext uri="{BB962C8B-B14F-4D97-AF65-F5344CB8AC3E}">
        <p14:creationId xmlns:p14="http://schemas.microsoft.com/office/powerpoint/2010/main" val="36320077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D053E-B469-30B1-3C38-3ECBA8E6704B}"/>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17EE9B8B-B747-A1F1-B324-266762529D08}"/>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879C1A4-0DF2-4E9F-FDF6-AEED19BFC0B6}"/>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zip() to Iterate Over Multiple Lists Safely</a:t>
            </a:r>
          </a:p>
        </p:txBody>
      </p:sp>
      <p:sp>
        <p:nvSpPr>
          <p:cNvPr id="5" name="TextBox 4">
            <a:extLst>
              <a:ext uri="{FF2B5EF4-FFF2-40B4-BE49-F238E27FC236}">
                <a16:creationId xmlns:a16="http://schemas.microsoft.com/office/drawing/2014/main" id="{C05367E0-9DA3-C048-4639-F79A2EBC32D8}"/>
              </a:ext>
            </a:extLst>
          </p:cNvPr>
          <p:cNvSpPr txBox="1"/>
          <p:nvPr/>
        </p:nvSpPr>
        <p:spPr>
          <a:xfrm>
            <a:off x="836614" y="906971"/>
            <a:ext cx="10323564" cy="4154984"/>
          </a:xfrm>
          <a:prstGeom prst="rect">
            <a:avLst/>
          </a:prstGeom>
          <a:noFill/>
        </p:spPr>
        <p:txBody>
          <a:bodyPr wrap="square" rtlCol="0">
            <a:spAutoFit/>
          </a:bodyPr>
          <a:lstStyle/>
          <a:p>
            <a:pPr marL="1587" lvl="1"/>
            <a:r>
              <a:rPr lang="en-US" sz="2400" b="1">
                <a:solidFill>
                  <a:schemeClr val="accent1">
                    <a:lumMod val="50000"/>
                  </a:schemeClr>
                </a:solidFill>
                <a:latin typeface="Consolas" panose="020B0609020204030204" pitchFamily="49" charset="0"/>
                <a:cs typeface="Arial" panose="020B0604020202020204" pitchFamily="34" charset="0"/>
              </a:rPr>
              <a:t>names = ["Alice", "Bob", "Charlie"]</a:t>
            </a:r>
          </a:p>
          <a:p>
            <a:pPr marL="1587" lvl="1"/>
            <a:r>
              <a:rPr lang="en-US" sz="2400" b="1">
                <a:solidFill>
                  <a:schemeClr val="accent1">
                    <a:lumMod val="50000"/>
                  </a:schemeClr>
                </a:solidFill>
                <a:latin typeface="Consolas" panose="020B0609020204030204" pitchFamily="49" charset="0"/>
                <a:cs typeface="Arial" panose="020B0604020202020204" pitchFamily="34" charset="0"/>
              </a:rPr>
              <a:t>ages = [25, 30, 35]</a:t>
            </a:r>
          </a:p>
          <a:p>
            <a:pPr marL="1587" lvl="1"/>
            <a:r>
              <a:rPr lang="en-US" sz="2400" b="1">
                <a:solidFill>
                  <a:schemeClr val="accent1">
                    <a:lumMod val="50000"/>
                  </a:schemeClr>
                </a:solidFill>
                <a:latin typeface="Consolas" panose="020B0609020204030204" pitchFamily="49" charset="0"/>
                <a:cs typeface="Arial" panose="020B0604020202020204" pitchFamily="34" charset="0"/>
              </a:rPr>
              <a:t>cities = ["New York", "Los Angeles"]</a:t>
            </a:r>
          </a:p>
          <a:p>
            <a:pPr marL="1587" lvl="1"/>
            <a:endParaRPr lang="en-US" sz="2400" b="1">
              <a:solidFill>
                <a:schemeClr val="accent1">
                  <a:lumMod val="50000"/>
                </a:schemeClr>
              </a:solidFill>
              <a:latin typeface="Consolas" panose="020B0609020204030204" pitchFamily="49" charset="0"/>
              <a:cs typeface="Arial" panose="020B0604020202020204" pitchFamily="34" charset="0"/>
            </a:endParaRPr>
          </a:p>
          <a:p>
            <a:pPr marL="1587" lvl="1"/>
            <a:r>
              <a:rPr lang="en-US" sz="2400" b="1">
                <a:solidFill>
                  <a:schemeClr val="accent1">
                    <a:lumMod val="50000"/>
                  </a:schemeClr>
                </a:solidFill>
                <a:latin typeface="Consolas" panose="020B0609020204030204" pitchFamily="49" charset="0"/>
                <a:cs typeface="Arial" panose="020B0604020202020204" pitchFamily="34" charset="0"/>
              </a:rPr>
              <a:t># Safe iteration using zip()</a:t>
            </a:r>
          </a:p>
          <a:p>
            <a:pPr marL="1587" lvl="1"/>
            <a:r>
              <a:rPr lang="en-US" sz="2400" b="1">
                <a:solidFill>
                  <a:schemeClr val="accent1">
                    <a:lumMod val="50000"/>
                  </a:schemeClr>
                </a:solidFill>
                <a:latin typeface="Consolas" panose="020B0609020204030204" pitchFamily="49" charset="0"/>
                <a:cs typeface="Arial" panose="020B0604020202020204" pitchFamily="34" charset="0"/>
              </a:rPr>
              <a:t>for name, age, city in zip(names, ages, cities):</a:t>
            </a:r>
          </a:p>
          <a:p>
            <a:pPr marL="1587" lvl="1"/>
            <a:r>
              <a:rPr lang="en-US" sz="2400" b="1">
                <a:solidFill>
                  <a:schemeClr val="accent1">
                    <a:lumMod val="50000"/>
                  </a:schemeClr>
                </a:solidFill>
                <a:latin typeface="Consolas" panose="020B0609020204030204" pitchFamily="49" charset="0"/>
                <a:cs typeface="Arial" panose="020B0604020202020204" pitchFamily="34" charset="0"/>
              </a:rPr>
              <a:t>    print(f"{name}, {age} years old, lives in {city}")</a:t>
            </a:r>
          </a:p>
          <a:p>
            <a:pPr marL="1587" lvl="1"/>
            <a:endParaRPr lang="en-US" sz="2400" b="1">
              <a:solidFill>
                <a:schemeClr val="accent1">
                  <a:lumMod val="50000"/>
                </a:schemeClr>
              </a:solidFill>
              <a:latin typeface="Consolas" panose="020B0609020204030204" pitchFamily="49" charset="0"/>
              <a:cs typeface="Arial" panose="020B0604020202020204" pitchFamily="34" charset="0"/>
            </a:endParaRPr>
          </a:p>
          <a:p>
            <a:pPr marL="1587" lvl="1"/>
            <a:r>
              <a:rPr lang="en-US" sz="2400" b="1">
                <a:solidFill>
                  <a:schemeClr val="accent1">
                    <a:lumMod val="50000"/>
                  </a:schemeClr>
                </a:solidFill>
                <a:latin typeface="Consolas" panose="020B0609020204030204" pitchFamily="49" charset="0"/>
                <a:cs typeface="Arial" panose="020B0604020202020204" pitchFamily="34" charset="0"/>
              </a:rPr>
              <a:t># zip() stops at "Los Angeles" because cities has </a:t>
            </a:r>
          </a:p>
          <a:p>
            <a:pPr marL="1587" lvl="1"/>
            <a:r>
              <a:rPr lang="en-US" sz="2400" b="1">
                <a:solidFill>
                  <a:schemeClr val="accent1">
                    <a:lumMod val="50000"/>
                  </a:schemeClr>
                </a:solidFill>
                <a:latin typeface="Consolas" panose="020B0609020204030204" pitchFamily="49" charset="0"/>
                <a:cs typeface="Arial" panose="020B0604020202020204" pitchFamily="34" charset="0"/>
              </a:rPr>
              <a:t># fewer elements than names and ages, preventing </a:t>
            </a:r>
          </a:p>
          <a:p>
            <a:pPr marL="1587" lvl="1"/>
            <a:r>
              <a:rPr lang="en-US" sz="2400" b="1">
                <a:solidFill>
                  <a:schemeClr val="accent1">
                    <a:lumMod val="50000"/>
                  </a:schemeClr>
                </a:solidFill>
                <a:latin typeface="Consolas" panose="020B0609020204030204" pitchFamily="49" charset="0"/>
                <a:cs typeface="Arial" panose="020B0604020202020204" pitchFamily="34" charset="0"/>
              </a:rPr>
              <a:t># out-of-bounds errors</a:t>
            </a:r>
          </a:p>
        </p:txBody>
      </p:sp>
      <p:sp>
        <p:nvSpPr>
          <p:cNvPr id="6" name="TextBox 5">
            <a:extLst>
              <a:ext uri="{FF2B5EF4-FFF2-40B4-BE49-F238E27FC236}">
                <a16:creationId xmlns:a16="http://schemas.microsoft.com/office/drawing/2014/main" id="{0AEA1245-C3C3-BC8B-8AB9-869386D16D94}"/>
              </a:ext>
            </a:extLst>
          </p:cNvPr>
          <p:cNvSpPr txBox="1"/>
          <p:nvPr/>
        </p:nvSpPr>
        <p:spPr>
          <a:xfrm>
            <a:off x="5133975" y="5185640"/>
            <a:ext cx="4562475" cy="707886"/>
          </a:xfrm>
          <a:prstGeom prst="rect">
            <a:avLst/>
          </a:prstGeom>
          <a:solidFill>
            <a:srgbClr val="FFFF00"/>
          </a:solidFill>
        </p:spPr>
        <p:txBody>
          <a:bodyPr wrap="square">
            <a:spAutoFit/>
          </a:bodyPr>
          <a:lstStyle/>
          <a:p>
            <a:r>
              <a:rPr lang="en-US" sz="2000" b="1"/>
              <a:t>Alice, 25 years old, lives in New York</a:t>
            </a:r>
          </a:p>
          <a:p>
            <a:r>
              <a:rPr lang="en-US" sz="2000" b="1"/>
              <a:t>Bob, 30 years old, lives in Los Angeles</a:t>
            </a:r>
          </a:p>
        </p:txBody>
      </p:sp>
    </p:spTree>
    <p:extLst>
      <p:ext uri="{BB962C8B-B14F-4D97-AF65-F5344CB8AC3E}">
        <p14:creationId xmlns:p14="http://schemas.microsoft.com/office/powerpoint/2010/main" val="17601292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E6CC1-A969-9076-060B-B42BEDA29CC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6760D90-32DA-3DD4-38EC-7204A7E1D6E3}"/>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7FFCDD59-827D-67A1-2724-6BB535F9CD2D}"/>
              </a:ext>
            </a:extLst>
          </p:cNvPr>
          <p:cNvSpPr txBox="1"/>
          <p:nvPr/>
        </p:nvSpPr>
        <p:spPr>
          <a:xfrm>
            <a:off x="295275" y="230333"/>
            <a:ext cx="1072858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zip() to Iterate Over Multiple Lists Safely</a:t>
            </a:r>
          </a:p>
        </p:txBody>
      </p:sp>
      <p:sp>
        <p:nvSpPr>
          <p:cNvPr id="5" name="TextBox 4">
            <a:extLst>
              <a:ext uri="{FF2B5EF4-FFF2-40B4-BE49-F238E27FC236}">
                <a16:creationId xmlns:a16="http://schemas.microsoft.com/office/drawing/2014/main" id="{1C95E63F-D77B-7774-B5AF-FB73EFA2FC9C}"/>
              </a:ext>
            </a:extLst>
          </p:cNvPr>
          <p:cNvSpPr txBox="1"/>
          <p:nvPr/>
        </p:nvSpPr>
        <p:spPr>
          <a:xfrm>
            <a:off x="390526" y="1106996"/>
            <a:ext cx="11712002" cy="5016758"/>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To handle mismatched lengths differently, itertools.zip_longest() can be used.</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Here, zip_longest() ensures that Charlie is included even though cities has fewer elements, using "Unknown" as the default value.</a:t>
            </a:r>
          </a:p>
          <a:p>
            <a:pPr marL="1587" lvl="1"/>
            <a:endParaRPr lang="en-US" sz="28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from itertools import zip_longest</a:t>
            </a:r>
          </a:p>
          <a:p>
            <a:pPr lvl="1"/>
            <a:endParaRPr lang="en-US" sz="2000" b="1">
              <a:solidFill>
                <a:schemeClr val="accent1">
                  <a:lumMod val="50000"/>
                </a:schemeClr>
              </a:solidFill>
              <a:latin typeface="Consolas" panose="020B0609020204030204" pitchFamily="49"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names = ["Alice", "Bob", "Charlie"]</a:t>
            </a:r>
          </a:p>
          <a:p>
            <a:pPr lvl="1"/>
            <a:r>
              <a:rPr lang="en-US" sz="2000" b="1">
                <a:solidFill>
                  <a:schemeClr val="accent1">
                    <a:lumMod val="50000"/>
                  </a:schemeClr>
                </a:solidFill>
                <a:latin typeface="Consolas" panose="020B0609020204030204" pitchFamily="49" charset="0"/>
                <a:cs typeface="Arial" panose="020B0604020202020204" pitchFamily="34" charset="0"/>
              </a:rPr>
              <a:t>ages = [25, 30, 35]</a:t>
            </a:r>
          </a:p>
          <a:p>
            <a:pPr lvl="1"/>
            <a:r>
              <a:rPr lang="en-US" sz="2000" b="1">
                <a:solidFill>
                  <a:schemeClr val="accent1">
                    <a:lumMod val="50000"/>
                  </a:schemeClr>
                </a:solidFill>
                <a:latin typeface="Consolas" panose="020B0609020204030204" pitchFamily="49" charset="0"/>
                <a:cs typeface="Arial" panose="020B0604020202020204" pitchFamily="34" charset="0"/>
              </a:rPr>
              <a:t>cities = ["New York", "Los Angeles"]</a:t>
            </a:r>
          </a:p>
          <a:p>
            <a:pPr lvl="1"/>
            <a:endParaRPr lang="en-US" sz="2000" b="1">
              <a:solidFill>
                <a:schemeClr val="accent1">
                  <a:lumMod val="50000"/>
                </a:schemeClr>
              </a:solidFill>
              <a:latin typeface="Consolas" panose="020B0609020204030204" pitchFamily="49"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 Safe iteration using zip_longest() with a default value of "Unknown"</a:t>
            </a:r>
          </a:p>
          <a:p>
            <a:pPr lvl="1"/>
            <a:r>
              <a:rPr lang="en-US" sz="2000" b="1">
                <a:solidFill>
                  <a:schemeClr val="accent1">
                    <a:lumMod val="50000"/>
                  </a:schemeClr>
                </a:solidFill>
                <a:latin typeface="Consolas" panose="020B0609020204030204" pitchFamily="49" charset="0"/>
                <a:cs typeface="Arial" panose="020B0604020202020204" pitchFamily="34" charset="0"/>
              </a:rPr>
              <a:t>for name, age, city in zip_longest(names, ages, cities, fillvalue="Unknown"):</a:t>
            </a:r>
          </a:p>
          <a:p>
            <a:pPr lvl="1"/>
            <a:r>
              <a:rPr lang="en-US" sz="2000" b="1">
                <a:solidFill>
                  <a:schemeClr val="accent1">
                    <a:lumMod val="50000"/>
                  </a:schemeClr>
                </a:solidFill>
                <a:latin typeface="Consolas" panose="020B0609020204030204" pitchFamily="49" charset="0"/>
                <a:cs typeface="Arial" panose="020B0604020202020204" pitchFamily="34" charset="0"/>
              </a:rPr>
              <a:t>    print(f"{name}, {age} years old, lives in {city}")</a:t>
            </a:r>
            <a:endParaRPr lang="en-US" sz="2800" b="1">
              <a:solidFill>
                <a:schemeClr val="accent1">
                  <a:lumMod val="50000"/>
                </a:schemeClr>
              </a:solidFill>
              <a:latin typeface="Consolas" panose="020B0609020204030204" pitchFamily="49" charset="0"/>
              <a:cs typeface="Arial" panose="020B0604020202020204" pitchFamily="34" charset="0"/>
            </a:endParaRPr>
          </a:p>
        </p:txBody>
      </p:sp>
      <p:sp>
        <p:nvSpPr>
          <p:cNvPr id="6" name="TextBox 5">
            <a:extLst>
              <a:ext uri="{FF2B5EF4-FFF2-40B4-BE49-F238E27FC236}">
                <a16:creationId xmlns:a16="http://schemas.microsoft.com/office/drawing/2014/main" id="{0ACC1177-31C5-0085-EC2A-F66C90DE926B}"/>
              </a:ext>
            </a:extLst>
          </p:cNvPr>
          <p:cNvSpPr txBox="1"/>
          <p:nvPr/>
        </p:nvSpPr>
        <p:spPr>
          <a:xfrm>
            <a:off x="7224714" y="3759889"/>
            <a:ext cx="4214812" cy="923330"/>
          </a:xfrm>
          <a:prstGeom prst="rect">
            <a:avLst/>
          </a:prstGeom>
          <a:solidFill>
            <a:srgbClr val="FFFF00"/>
          </a:solidFill>
        </p:spPr>
        <p:txBody>
          <a:bodyPr wrap="square">
            <a:spAutoFit/>
          </a:bodyPr>
          <a:lstStyle/>
          <a:p>
            <a:r>
              <a:rPr lang="en-US" b="1"/>
              <a:t>Alice, 25 years old, lives in New York</a:t>
            </a:r>
          </a:p>
          <a:p>
            <a:r>
              <a:rPr lang="en-US" b="1"/>
              <a:t>Bob, 30 years old, lives in Los Angeles</a:t>
            </a:r>
          </a:p>
          <a:p>
            <a:r>
              <a:rPr lang="en-US" b="1"/>
              <a:t>Charlie, 35 years old, lives in Unknown</a:t>
            </a:r>
          </a:p>
        </p:txBody>
      </p:sp>
    </p:spTree>
    <p:extLst>
      <p:ext uri="{BB962C8B-B14F-4D97-AF65-F5344CB8AC3E}">
        <p14:creationId xmlns:p14="http://schemas.microsoft.com/office/powerpoint/2010/main" val="893959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5AAE6-6B16-99A4-E992-98E7B78CDB2D}"/>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C553C86-2FD2-2222-913F-1CDE76AB2355}"/>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A13D07D-96A4-DD20-3CC3-7120495EF882}"/>
              </a:ext>
            </a:extLst>
          </p:cNvPr>
          <p:cNvSpPr txBox="1"/>
          <p:nvPr/>
        </p:nvSpPr>
        <p:spPr>
          <a:xfrm>
            <a:off x="476250" y="136955"/>
            <a:ext cx="1051903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Avoid Modifying a List While Iterating Over It</a:t>
            </a:r>
          </a:p>
        </p:txBody>
      </p:sp>
      <p:sp>
        <p:nvSpPr>
          <p:cNvPr id="5" name="TextBox 4">
            <a:extLst>
              <a:ext uri="{FF2B5EF4-FFF2-40B4-BE49-F238E27FC236}">
                <a16:creationId xmlns:a16="http://schemas.microsoft.com/office/drawing/2014/main" id="{89E52092-2436-55CB-E0C7-1E02192352C9}"/>
              </a:ext>
            </a:extLst>
          </p:cNvPr>
          <p:cNvSpPr txBox="1"/>
          <p:nvPr/>
        </p:nvSpPr>
        <p:spPr>
          <a:xfrm>
            <a:off x="604267" y="906971"/>
            <a:ext cx="11101958" cy="5016758"/>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Modifying a list while iterating over it can lead to unpredictable behavior, including skipped elements, infinite loops, or IndexError exceptions.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A best practice for more secure coding is to create a copy of the list before iterating or use list comprehensions and filtering to generate a new list instead of modifying the original. </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Using list.copy(), list[:], or list() ensures that changes do not affect the iteration process.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If items need to be removed, iterate in reverse or use list comprehensions to avoid altering the list in place. </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For performance-sensitive operations, consider using filter() or itertools.dropwhile() for efficient, memory-safe modifications.</a:t>
            </a:r>
          </a:p>
        </p:txBody>
      </p:sp>
    </p:spTree>
    <p:extLst>
      <p:ext uri="{BB962C8B-B14F-4D97-AF65-F5344CB8AC3E}">
        <p14:creationId xmlns:p14="http://schemas.microsoft.com/office/powerpoint/2010/main" val="27754938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EFB84-3D0D-7367-0063-C3986B0D05C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DED5750-818D-A40F-111D-0A4652B830A3}"/>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E9A21A6-BB09-8F10-D28E-56286829E786}"/>
              </a:ext>
            </a:extLst>
          </p:cNvPr>
          <p:cNvSpPr txBox="1"/>
          <p:nvPr/>
        </p:nvSpPr>
        <p:spPr>
          <a:xfrm>
            <a:off x="476250" y="136955"/>
            <a:ext cx="1051903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Reverse Iteration (Safe Removal)</a:t>
            </a:r>
          </a:p>
        </p:txBody>
      </p:sp>
      <p:sp>
        <p:nvSpPr>
          <p:cNvPr id="5" name="TextBox 4">
            <a:extLst>
              <a:ext uri="{FF2B5EF4-FFF2-40B4-BE49-F238E27FC236}">
                <a16:creationId xmlns:a16="http://schemas.microsoft.com/office/drawing/2014/main" id="{F5389C96-476E-43CE-57A8-A9712A330B2D}"/>
              </a:ext>
            </a:extLst>
          </p:cNvPr>
          <p:cNvSpPr txBox="1"/>
          <p:nvPr/>
        </p:nvSpPr>
        <p:spPr>
          <a:xfrm>
            <a:off x="604267" y="906971"/>
            <a:ext cx="11101958" cy="4339650"/>
          </a:xfrm>
          <a:prstGeom prst="rect">
            <a:avLst/>
          </a:prstGeom>
          <a:noFill/>
        </p:spPr>
        <p:txBody>
          <a:bodyPr wrap="square" rtlCol="0">
            <a:spAutoFit/>
          </a:bodyPr>
          <a:lstStyle/>
          <a:p>
            <a:pPr marL="228600" lvl="1" indent="-228600">
              <a:buFont typeface="Arial" panose="020B0604020202020204" pitchFamily="34" charset="0"/>
              <a:buChar char="•"/>
            </a:pPr>
            <a:r>
              <a:rPr lang="en-US" sz="2800"/>
              <a:t>Iterating in reverse ensures that index shifts do not affect upcoming elements.</a:t>
            </a:r>
            <a:endParaRPr lang="en-US" sz="2800">
              <a:solidFill>
                <a:schemeClr val="accent1">
                  <a:lumMod val="50000"/>
                </a:schemeClr>
              </a:solidFill>
              <a:latin typeface="Arial" panose="020B0604020202020204" pitchFamily="34" charset="0"/>
              <a:cs typeface="Arial" panose="020B0604020202020204" pitchFamily="34" charset="0"/>
            </a:endParaRPr>
          </a:p>
          <a:p>
            <a:pPr marL="1587" lvl="1"/>
            <a:endParaRPr lang="en-US" sz="2800">
              <a:solidFill>
                <a:schemeClr val="accent1">
                  <a:lumMod val="50000"/>
                </a:schemeClr>
              </a:solidFill>
              <a:latin typeface="Arial" panose="020B0604020202020204" pitchFamily="34"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numbers = [1, 2, 3, 4, 5, 6]</a:t>
            </a:r>
          </a:p>
          <a:p>
            <a:pPr marL="9144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 Iterate in reverse</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for i in range(len(numbers) - 1, -1, -1):  </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    if numbers[i] % 2 == 0:        </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        del numbers[i]  </a:t>
            </a:r>
          </a:p>
          <a:p>
            <a:pPr marL="9144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print(numbers)</a:t>
            </a:r>
          </a:p>
        </p:txBody>
      </p:sp>
      <p:sp>
        <p:nvSpPr>
          <p:cNvPr id="6" name="TextBox 5">
            <a:extLst>
              <a:ext uri="{FF2B5EF4-FFF2-40B4-BE49-F238E27FC236}">
                <a16:creationId xmlns:a16="http://schemas.microsoft.com/office/drawing/2014/main" id="{0130E3EB-58D3-B07D-3E1E-DC0666173865}"/>
              </a:ext>
            </a:extLst>
          </p:cNvPr>
          <p:cNvSpPr txBox="1"/>
          <p:nvPr/>
        </p:nvSpPr>
        <p:spPr>
          <a:xfrm>
            <a:off x="5291138" y="5435680"/>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9690662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C2422-7CE6-7D84-0AE3-94DEF1A7E030}"/>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014DCA3-E931-CAE2-3499-0024589E6080}"/>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E17A7DD1-FFC3-B1D9-01F7-C649ABC1AD24}"/>
              </a:ext>
            </a:extLst>
          </p:cNvPr>
          <p:cNvSpPr txBox="1"/>
          <p:nvPr/>
        </p:nvSpPr>
        <p:spPr>
          <a:xfrm>
            <a:off x="476250" y="136955"/>
            <a:ext cx="11101958"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 Using List Comprehension (Creates a New List)</a:t>
            </a:r>
          </a:p>
        </p:txBody>
      </p:sp>
      <p:sp>
        <p:nvSpPr>
          <p:cNvPr id="5" name="TextBox 4">
            <a:extLst>
              <a:ext uri="{FF2B5EF4-FFF2-40B4-BE49-F238E27FC236}">
                <a16:creationId xmlns:a16="http://schemas.microsoft.com/office/drawing/2014/main" id="{8D813845-1056-402D-FA51-DC1231486164}"/>
              </a:ext>
            </a:extLst>
          </p:cNvPr>
          <p:cNvSpPr txBox="1"/>
          <p:nvPr/>
        </p:nvSpPr>
        <p:spPr>
          <a:xfrm>
            <a:off x="604267" y="906971"/>
            <a:ext cx="11101958" cy="2800767"/>
          </a:xfrm>
          <a:prstGeom prst="rect">
            <a:avLst/>
          </a:prstGeom>
          <a:noFill/>
        </p:spPr>
        <p:txBody>
          <a:bodyPr wrap="square" rtlCol="0">
            <a:spAutoFit/>
          </a:bodyPr>
          <a:lstStyle/>
          <a:p>
            <a:pPr marL="228600" lvl="1" indent="-228600">
              <a:buFont typeface="Arial" panose="020B0604020202020204" pitchFamily="34" charset="0"/>
              <a:buChar char="•"/>
            </a:pPr>
            <a:r>
              <a:rPr lang="en-US" sz="2800"/>
              <a:t> Using a list comprehension avoids modifying the original list directly.</a:t>
            </a:r>
          </a:p>
          <a:p>
            <a:pPr marL="228600" lvl="1" indent="-228600">
              <a:buFont typeface="Arial" panose="020B0604020202020204" pitchFamily="34" charset="0"/>
              <a:buChar char="•"/>
            </a:pPr>
            <a:endParaRPr lang="en-US" sz="2800">
              <a:solidFill>
                <a:schemeClr val="accent1">
                  <a:lumMod val="50000"/>
                </a:schemeClr>
              </a:solidFill>
              <a:latin typeface="Arial" panose="020B0604020202020204" pitchFamily="34"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numbers = [1, 2, 3, 4, 5, 6]</a:t>
            </a:r>
          </a:p>
          <a:p>
            <a:pPr marL="9144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 Remove even numbers</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filtered_numbers = [x for x in numbers if x % 2 != 0]  </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print(filtered_numbers)</a:t>
            </a:r>
          </a:p>
        </p:txBody>
      </p:sp>
      <p:sp>
        <p:nvSpPr>
          <p:cNvPr id="6" name="TextBox 5">
            <a:extLst>
              <a:ext uri="{FF2B5EF4-FFF2-40B4-BE49-F238E27FC236}">
                <a16:creationId xmlns:a16="http://schemas.microsoft.com/office/drawing/2014/main" id="{E4053BE7-D4E2-09FB-9A2C-57AD5C374A0B}"/>
              </a:ext>
            </a:extLst>
          </p:cNvPr>
          <p:cNvSpPr txBox="1"/>
          <p:nvPr/>
        </p:nvSpPr>
        <p:spPr>
          <a:xfrm>
            <a:off x="5472113" y="4739364"/>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13141786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8F22BC-62A8-FCA2-0FE3-1586B6A51A4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6164322-01AE-6EA7-52FF-CD53C076079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744D3C5A-FFC3-4A61-A56D-1E138C8A20B8}"/>
              </a:ext>
            </a:extLst>
          </p:cNvPr>
          <p:cNvSpPr txBox="1"/>
          <p:nvPr/>
        </p:nvSpPr>
        <p:spPr>
          <a:xfrm>
            <a:off x="476250" y="136955"/>
            <a:ext cx="11101958"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filter() (Efficient for Large Lists)</a:t>
            </a:r>
          </a:p>
        </p:txBody>
      </p:sp>
      <p:sp>
        <p:nvSpPr>
          <p:cNvPr id="5" name="TextBox 4">
            <a:extLst>
              <a:ext uri="{FF2B5EF4-FFF2-40B4-BE49-F238E27FC236}">
                <a16:creationId xmlns:a16="http://schemas.microsoft.com/office/drawing/2014/main" id="{B51D9A3C-1DE2-E900-7068-B3AD57D258E1}"/>
              </a:ext>
            </a:extLst>
          </p:cNvPr>
          <p:cNvSpPr txBox="1"/>
          <p:nvPr/>
        </p:nvSpPr>
        <p:spPr>
          <a:xfrm>
            <a:off x="614077" y="1116521"/>
            <a:ext cx="11101958" cy="3293209"/>
          </a:xfrm>
          <a:prstGeom prst="rect">
            <a:avLst/>
          </a:prstGeom>
          <a:noFill/>
        </p:spPr>
        <p:txBody>
          <a:bodyPr wrap="square" rtlCol="0">
            <a:spAutoFit/>
          </a:bodyPr>
          <a:lstStyle/>
          <a:p>
            <a:pPr marL="228600" lvl="1" indent="-228600">
              <a:buFont typeface="Arial" panose="020B0604020202020204" pitchFamily="34" charset="0"/>
              <a:buChar char="•"/>
            </a:pPr>
            <a:r>
              <a:rPr lang="en-US" sz="2800"/>
              <a:t>filter() is memory-efficient as it processes elements lazily (generates elements one by one as needed, reducing memory usage for large datasets)</a:t>
            </a:r>
          </a:p>
          <a:p>
            <a:pPr marL="228600" lvl="1" indent="-228600">
              <a:buFont typeface="Arial" panose="020B0604020202020204" pitchFamily="34" charset="0"/>
              <a:buChar char="•"/>
            </a:pPr>
            <a:endParaRPr lang="en-US" sz="28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numbers = [1, 2, 3, 4, 5, 6]</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filtered_numbers = list(filter(lambda x: x % 2 != 0, numbers))</a:t>
            </a:r>
          </a:p>
          <a:p>
            <a:pPr lvl="1"/>
            <a:r>
              <a:rPr lang="en-US" sz="2400" b="1">
                <a:solidFill>
                  <a:schemeClr val="accent1">
                    <a:lumMod val="50000"/>
                  </a:schemeClr>
                </a:solidFill>
                <a:latin typeface="Consolas" panose="020B0609020204030204" pitchFamily="49" charset="0"/>
                <a:cs typeface="Arial" panose="020B0604020202020204" pitchFamily="34" charset="0"/>
              </a:rPr>
              <a:t>print(filtered_numbers)</a:t>
            </a:r>
          </a:p>
        </p:txBody>
      </p:sp>
      <p:sp>
        <p:nvSpPr>
          <p:cNvPr id="6" name="TextBox 5">
            <a:extLst>
              <a:ext uri="{FF2B5EF4-FFF2-40B4-BE49-F238E27FC236}">
                <a16:creationId xmlns:a16="http://schemas.microsoft.com/office/drawing/2014/main" id="{4FC8CB6F-A2BC-C8D8-4ED3-11F5DA23731E}"/>
              </a:ext>
            </a:extLst>
          </p:cNvPr>
          <p:cNvSpPr txBox="1"/>
          <p:nvPr/>
        </p:nvSpPr>
        <p:spPr>
          <a:xfrm>
            <a:off x="5472113" y="4739364"/>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20350323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F0D0C-A878-2999-763A-D41CDE39731C}"/>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D6ACC45-80EF-0B98-3E40-59334FFFD759}"/>
              </a:ext>
            </a:extLst>
          </p:cNvPr>
          <p:cNvPicPr>
            <a:picLocks noChangeAspect="1"/>
          </p:cNvPicPr>
          <p:nvPr/>
        </p:nvPicPr>
        <p:blipFill>
          <a:blip r:embed="rId2"/>
          <a:stretch>
            <a:fillRect/>
          </a:stretch>
        </p:blipFill>
        <p:spPr>
          <a:xfrm>
            <a:off x="43149" y="-33129"/>
            <a:ext cx="12192000" cy="6891129"/>
          </a:xfrm>
          <a:prstGeom prst="rect">
            <a:avLst/>
          </a:prstGeom>
        </p:spPr>
      </p:pic>
      <p:sp>
        <p:nvSpPr>
          <p:cNvPr id="4" name="TextBox 3">
            <a:extLst>
              <a:ext uri="{FF2B5EF4-FFF2-40B4-BE49-F238E27FC236}">
                <a16:creationId xmlns:a16="http://schemas.microsoft.com/office/drawing/2014/main" id="{FB763A94-ED1F-39C2-78B4-657D63D0F7F9}"/>
              </a:ext>
            </a:extLst>
          </p:cNvPr>
          <p:cNvSpPr txBox="1"/>
          <p:nvPr/>
        </p:nvSpPr>
        <p:spPr>
          <a:xfrm>
            <a:off x="397668" y="228429"/>
            <a:ext cx="1153477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itertools.dropwhile() (Remove Leading Elements)</a:t>
            </a:r>
          </a:p>
        </p:txBody>
      </p:sp>
      <p:sp>
        <p:nvSpPr>
          <p:cNvPr id="5" name="TextBox 4">
            <a:extLst>
              <a:ext uri="{FF2B5EF4-FFF2-40B4-BE49-F238E27FC236}">
                <a16:creationId xmlns:a16="http://schemas.microsoft.com/office/drawing/2014/main" id="{368FE557-59CD-2CD3-F481-43813EC6378B}"/>
              </a:ext>
            </a:extLst>
          </p:cNvPr>
          <p:cNvSpPr txBox="1"/>
          <p:nvPr/>
        </p:nvSpPr>
        <p:spPr>
          <a:xfrm>
            <a:off x="614077" y="1116521"/>
            <a:ext cx="11534774" cy="3231654"/>
          </a:xfrm>
          <a:prstGeom prst="rect">
            <a:avLst/>
          </a:prstGeom>
          <a:noFill/>
        </p:spPr>
        <p:txBody>
          <a:bodyPr wrap="square" rtlCol="0">
            <a:spAutoFit/>
          </a:bodyPr>
          <a:lstStyle/>
          <a:p>
            <a:pPr marL="228600" lvl="1" indent="-228600">
              <a:buFont typeface="Arial" panose="020B0604020202020204" pitchFamily="34" charset="0"/>
              <a:buChar char="•"/>
            </a:pPr>
            <a:r>
              <a:rPr lang="en-US" sz="2800"/>
              <a:t>dropwhile() stops dropping elements as soon as a condition fails. </a:t>
            </a:r>
          </a:p>
          <a:p>
            <a:pPr marL="228600" lvl="1" indent="-228600">
              <a:buFont typeface="Arial" panose="020B0604020202020204" pitchFamily="34" charset="0"/>
              <a:buChar char="•"/>
            </a:pPr>
            <a:r>
              <a:rPr lang="en-US" sz="2800"/>
              <a:t>This is useful for sorted lists where unwanted items are at the front.</a:t>
            </a:r>
          </a:p>
          <a:p>
            <a:pPr marL="228600" lvl="1" indent="-228600">
              <a:buFont typeface="Arial" panose="020B0604020202020204" pitchFamily="34" charset="0"/>
              <a:buChar char="•"/>
            </a:pPr>
            <a:endParaRPr lang="en-US" sz="2800">
              <a:solidFill>
                <a:schemeClr val="accent1">
                  <a:lumMod val="50000"/>
                </a:schemeClr>
              </a:solidFill>
              <a:latin typeface="Arial" panose="020B0604020202020204" pitchFamily="34" charset="0"/>
              <a:cs typeface="Arial" panose="020B0604020202020204" pitchFamily="34" charset="0"/>
            </a:endParaRPr>
          </a:p>
          <a:p>
            <a:pPr marL="228600" lvl="1"/>
            <a:r>
              <a:rPr lang="en-US" sz="2400" b="1">
                <a:solidFill>
                  <a:schemeClr val="accent1">
                    <a:lumMod val="50000"/>
                  </a:schemeClr>
                </a:solidFill>
                <a:latin typeface="Consolas" panose="020B0609020204030204" pitchFamily="49" charset="0"/>
                <a:cs typeface="Arial" panose="020B0604020202020204" pitchFamily="34" charset="0"/>
              </a:rPr>
              <a:t>from itertools import dropwhile</a:t>
            </a:r>
          </a:p>
          <a:p>
            <a:pPr marL="2286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228600" lvl="1"/>
            <a:r>
              <a:rPr lang="en-US" sz="2400" b="1">
                <a:solidFill>
                  <a:schemeClr val="accent1">
                    <a:lumMod val="50000"/>
                  </a:schemeClr>
                </a:solidFill>
                <a:latin typeface="Consolas" panose="020B0609020204030204" pitchFamily="49" charset="0"/>
                <a:cs typeface="Arial" panose="020B0604020202020204" pitchFamily="34" charset="0"/>
              </a:rPr>
              <a:t>numbers = [2, 4, 6, 1, 3, 5]</a:t>
            </a:r>
          </a:p>
          <a:p>
            <a:pPr marL="228600" lvl="1"/>
            <a:r>
              <a:rPr lang="en-US" sz="2400" b="1">
                <a:solidFill>
                  <a:schemeClr val="accent1">
                    <a:lumMod val="50000"/>
                  </a:schemeClr>
                </a:solidFill>
                <a:latin typeface="Consolas" panose="020B0609020204030204" pitchFamily="49" charset="0"/>
                <a:cs typeface="Arial" panose="020B0604020202020204" pitchFamily="34" charset="0"/>
              </a:rPr>
              <a:t>remaining_numbers = list(dropwhile(lambda x: x % 2 == 0, numbers))</a:t>
            </a:r>
          </a:p>
          <a:p>
            <a:pPr marL="228600" lvl="1"/>
            <a:r>
              <a:rPr lang="en-US" sz="2400" b="1">
                <a:solidFill>
                  <a:schemeClr val="accent1">
                    <a:lumMod val="50000"/>
                  </a:schemeClr>
                </a:solidFill>
                <a:latin typeface="Consolas" panose="020B0609020204030204" pitchFamily="49" charset="0"/>
                <a:cs typeface="Arial" panose="020B0604020202020204" pitchFamily="34" charset="0"/>
              </a:rPr>
              <a:t>print(remaining_numbers)</a:t>
            </a:r>
          </a:p>
        </p:txBody>
      </p:sp>
      <p:sp>
        <p:nvSpPr>
          <p:cNvPr id="6" name="TextBox 5">
            <a:extLst>
              <a:ext uri="{FF2B5EF4-FFF2-40B4-BE49-F238E27FC236}">
                <a16:creationId xmlns:a16="http://schemas.microsoft.com/office/drawing/2014/main" id="{9D6F0A39-A3CC-C19F-B02E-AEB0AA4AE292}"/>
              </a:ext>
            </a:extLst>
          </p:cNvPr>
          <p:cNvSpPr txBox="1"/>
          <p:nvPr/>
        </p:nvSpPr>
        <p:spPr>
          <a:xfrm>
            <a:off x="5472113" y="4739364"/>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2662719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AD56E-A206-1EEC-3822-49F56A5DC2B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067919F-18A3-0674-C8E3-811FA5936DB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B5B4A96-E408-CCB1-D5A3-06E315E5F059}"/>
              </a:ext>
            </a:extLst>
          </p:cNvPr>
          <p:cNvSpPr txBox="1"/>
          <p:nvPr/>
        </p:nvSpPr>
        <p:spPr>
          <a:xfrm>
            <a:off x="604266" y="136955"/>
            <a:ext cx="10391019" cy="523220"/>
          </a:xfrm>
          <a:prstGeom prst="rect">
            <a:avLst/>
          </a:prstGeom>
          <a:noFill/>
        </p:spPr>
        <p:txBody>
          <a:bodyPr wrap="square" rtlCol="0">
            <a:spAutoFit/>
          </a:bodyPr>
          <a:lstStyle/>
          <a:p>
            <a:r>
              <a:rPr lang="en-US" sz="2800">
                <a:solidFill>
                  <a:schemeClr val="accent1">
                    <a:lumMod val="50000"/>
                  </a:schemeClr>
                </a:solidFill>
                <a:latin typeface="Arial" panose="020B0604020202020204" pitchFamily="34" charset="0"/>
                <a:cs typeface="Arial" panose="020B0604020202020204" pitchFamily="34" charset="0"/>
              </a:rPr>
              <a:t>Use dict.get() for Dictionaries Instead of Direct Key Access</a:t>
            </a:r>
          </a:p>
        </p:txBody>
      </p:sp>
      <p:sp>
        <p:nvSpPr>
          <p:cNvPr id="5" name="TextBox 4">
            <a:extLst>
              <a:ext uri="{FF2B5EF4-FFF2-40B4-BE49-F238E27FC236}">
                <a16:creationId xmlns:a16="http://schemas.microsoft.com/office/drawing/2014/main" id="{7DF1EA63-7C13-F91D-C2B9-43B469355014}"/>
              </a:ext>
            </a:extLst>
          </p:cNvPr>
          <p:cNvSpPr txBox="1"/>
          <p:nvPr/>
        </p:nvSpPr>
        <p:spPr>
          <a:xfrm>
            <a:off x="786607" y="964443"/>
            <a:ext cx="10323564" cy="3785652"/>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Using dict.get() for dictionary access in Python is generally safer than direct key access (e.g., my_dict['key']) because it prevents potential KeyError exceptions that could disrupt program flow or unintentionally expose sensitive error messages. </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dict.get() allows a default return value to be specified when the key is missing, helping to avoid unhandled exceptions and reduce the likelihood of information leakage or crashes due to unexpected input or data manipulation by malicious users. </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supports more fault-tolerant code that handles edge cases gracefully</a:t>
            </a:r>
          </a:p>
        </p:txBody>
      </p:sp>
    </p:spTree>
    <p:extLst>
      <p:ext uri="{BB962C8B-B14F-4D97-AF65-F5344CB8AC3E}">
        <p14:creationId xmlns:p14="http://schemas.microsoft.com/office/powerpoint/2010/main" val="3885808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E01A6-8AF4-78E3-42EA-F8FBD89E228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57F14B90-56D6-AA66-E232-9E890A6625E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EA694544-2C65-EB5C-92F7-652033CD5FEE}"/>
              </a:ext>
            </a:extLst>
          </p:cNvPr>
          <p:cNvSpPr txBox="1"/>
          <p:nvPr/>
        </p:nvSpPr>
        <p:spPr>
          <a:xfrm>
            <a:off x="604266" y="136955"/>
            <a:ext cx="10391019" cy="1200329"/>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defaultdict for Missing Dictionary Keys</a:t>
            </a:r>
          </a:p>
          <a:p>
            <a:endParaRPr lang="en-US" sz="3600">
              <a:solidFill>
                <a:schemeClr val="accent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2356057B-1EF2-29D3-E3C6-C8D8D8678C99}"/>
              </a:ext>
            </a:extLst>
          </p:cNvPr>
          <p:cNvSpPr txBox="1"/>
          <p:nvPr/>
        </p:nvSpPr>
        <p:spPr>
          <a:xfrm>
            <a:off x="836614" y="906971"/>
            <a:ext cx="10323564" cy="4524315"/>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Using collections.defaultdict (</a:t>
            </a:r>
            <a:r>
              <a:rPr lang="en-US" sz="2400"/>
              <a:t>a built-in class in Python) </a:t>
            </a:r>
            <a:r>
              <a:rPr lang="en-US" sz="2400">
                <a:solidFill>
                  <a:schemeClr val="accent1">
                    <a:lumMod val="50000"/>
                  </a:schemeClr>
                </a:solidFill>
                <a:latin typeface="Arial" panose="020B0604020202020204" pitchFamily="34" charset="0"/>
                <a:cs typeface="Arial" panose="020B0604020202020204" pitchFamily="34" charset="0"/>
              </a:rPr>
              <a:t>is a proactive way to handle missing dictionary keys without raising exceptions, thereby enhancing code reliability and security. </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By specifying a default factory function, such as int or list, defaultdict automatically initializes missing keys with a safe, predictable value. This prevents KeyError exceptions that might otherwise expose implementation details or crash the application due to unanticipated input. </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Especially in scenarios where input data is partially controlled by users, using defaultdict can help maintain program integrity, reduce error-handling complexity, and safeguard against logic flaws that could be exploited by attackers.</a:t>
            </a:r>
          </a:p>
        </p:txBody>
      </p:sp>
    </p:spTree>
    <p:extLst>
      <p:ext uri="{BB962C8B-B14F-4D97-AF65-F5344CB8AC3E}">
        <p14:creationId xmlns:p14="http://schemas.microsoft.com/office/powerpoint/2010/main" val="10286855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D872C-E703-1333-8961-D37AB2337B5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4AD6237-F4AC-A21A-D86F-42B6B102BD47}"/>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1A4B7406-491F-B083-FC26-26BD7458B9A8}"/>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Safer Data Structures</a:t>
            </a:r>
          </a:p>
        </p:txBody>
      </p:sp>
      <p:sp>
        <p:nvSpPr>
          <p:cNvPr id="5" name="TextBox 4">
            <a:extLst>
              <a:ext uri="{FF2B5EF4-FFF2-40B4-BE49-F238E27FC236}">
                <a16:creationId xmlns:a16="http://schemas.microsoft.com/office/drawing/2014/main" id="{B81C8176-5C01-4C22-D6C4-0DFE4E41F9F8}"/>
              </a:ext>
            </a:extLst>
          </p:cNvPr>
          <p:cNvSpPr txBox="1"/>
          <p:nvPr/>
        </p:nvSpPr>
        <p:spPr>
          <a:xfrm>
            <a:off x="836614" y="906971"/>
            <a:ext cx="10323564" cy="4770537"/>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collections.deque for fixed-size buffers.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Consider slicing to limit index access.</a:t>
            </a:r>
          </a:p>
          <a:p>
            <a:pPr marL="688975" lvl="1" indent="-230188">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Unlike direct indexing (my_list[3]), which would raise an IndexError if the index is out of bounds, slicing gracefully handles it.</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IndexError: index out of range</a:t>
            </a:r>
          </a:p>
          <a:p>
            <a:pPr marL="914400"/>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Prevents out-of-range errors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unnecessary manual index tracking when using loops.</a:t>
            </a:r>
          </a:p>
        </p:txBody>
      </p:sp>
    </p:spTree>
    <p:extLst>
      <p:ext uri="{BB962C8B-B14F-4D97-AF65-F5344CB8AC3E}">
        <p14:creationId xmlns:p14="http://schemas.microsoft.com/office/powerpoint/2010/main" val="7258529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6AAEF-67B5-DA56-3F7D-D718B0002B8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9FF758E4-E181-0F79-4E1C-1E66B093AA5B}"/>
              </a:ext>
            </a:extLst>
          </p:cNvPr>
          <p:cNvPicPr>
            <a:picLocks noChangeAspect="1"/>
          </p:cNvPicPr>
          <p:nvPr/>
        </p:nvPicPr>
        <p:blipFill>
          <a:blip r:embed="rId2"/>
          <a:stretch>
            <a:fillRect/>
          </a:stretch>
        </p:blipFill>
        <p:spPr>
          <a:xfrm>
            <a:off x="112427" y="-269823"/>
            <a:ext cx="12192000" cy="6891129"/>
          </a:xfrm>
          <a:prstGeom prst="rect">
            <a:avLst/>
          </a:prstGeom>
        </p:spPr>
      </p:pic>
      <p:sp>
        <p:nvSpPr>
          <p:cNvPr id="4" name="TextBox 3">
            <a:extLst>
              <a:ext uri="{FF2B5EF4-FFF2-40B4-BE49-F238E27FC236}">
                <a16:creationId xmlns:a16="http://schemas.microsoft.com/office/drawing/2014/main" id="{40F61035-2F11-D950-B3A8-A720C420C78E}"/>
              </a:ext>
            </a:extLst>
          </p:cNvPr>
          <p:cNvSpPr txBox="1"/>
          <p:nvPr/>
        </p:nvSpPr>
        <p:spPr>
          <a:xfrm>
            <a:off x="604266" y="136955"/>
            <a:ext cx="10391019" cy="646331"/>
          </a:xfrm>
          <a:prstGeom prst="rect">
            <a:avLst/>
          </a:prstGeom>
          <a:noFill/>
        </p:spPr>
        <p:txBody>
          <a:bodyPr wrap="square" rtlCol="0">
            <a:spAutoFit/>
          </a:bodyPr>
          <a:lstStyle/>
          <a:p>
            <a:pPr marL="457200" indent="-457200">
              <a:buFont typeface="+mj-lt"/>
              <a:buAutoNum type="arabicPeriod"/>
            </a:pPr>
            <a:r>
              <a:rPr lang="en-US" sz="3600">
                <a:solidFill>
                  <a:schemeClr val="accent1">
                    <a:lumMod val="50000"/>
                  </a:schemeClr>
                </a:solidFill>
                <a:latin typeface="Arial" panose="020B0604020202020204" pitchFamily="34" charset="0"/>
                <a:cs typeface="Arial" panose="020B0604020202020204" pitchFamily="34" charset="0"/>
              </a:rPr>
              <a:t>Loops, Lists, Tuples, and Dictionaries</a:t>
            </a:r>
          </a:p>
        </p:txBody>
      </p:sp>
      <p:sp>
        <p:nvSpPr>
          <p:cNvPr id="5" name="TextBox 4">
            <a:extLst>
              <a:ext uri="{FF2B5EF4-FFF2-40B4-BE49-F238E27FC236}">
                <a16:creationId xmlns:a16="http://schemas.microsoft.com/office/drawing/2014/main" id="{89574967-AED0-16E6-85AB-FDEB7F994609}"/>
              </a:ext>
            </a:extLst>
          </p:cNvPr>
          <p:cNvSpPr txBox="1"/>
          <p:nvPr/>
        </p:nvSpPr>
        <p:spPr>
          <a:xfrm>
            <a:off x="776653" y="876991"/>
            <a:ext cx="10323564" cy="5632311"/>
          </a:xfrm>
          <a:prstGeom prst="rect">
            <a:avLst/>
          </a:prstGeom>
          <a:noFill/>
        </p:spPr>
        <p:txBody>
          <a:bodyPr wrap="square" rtlCol="0">
            <a:spAutoFit/>
          </a:bodyPr>
          <a:lstStyle/>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Iteration Practices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ensuring proper termination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generator expressions for memory-efficient iteration</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Lists and Tuples: Security Considerations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tuples for immutable, security-sensitive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index errors and boundary overflows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Dictionaries and 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key collisions in 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Handle missing keys securely to avoid runtime errors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defaultdict and exception handling for safe lookups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Mitigating Risks in Data Structures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mutable default arguments in function definitions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race conditions when modifying shared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secure hashing techniques for dictionary keys</a:t>
            </a:r>
          </a:p>
        </p:txBody>
      </p:sp>
    </p:spTree>
    <p:extLst>
      <p:ext uri="{BB962C8B-B14F-4D97-AF65-F5344CB8AC3E}">
        <p14:creationId xmlns:p14="http://schemas.microsoft.com/office/powerpoint/2010/main" val="2144214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805</TotalTime>
  <Words>3258</Words>
  <Application>Microsoft Office PowerPoint</Application>
  <PresentationFormat>Widescreen</PresentationFormat>
  <Paragraphs>355</Paragraphs>
  <Slides>31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Aptos Display</vt:lpstr>
      <vt:lpstr>Arial</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Singletary, David S.</dc:creator>
  <cp:lastModifiedBy>Singletary, David S.</cp:lastModifiedBy>
  <cp:revision>58</cp:revision>
  <dcterms:created xsi:type="dcterms:W3CDTF">2025-03-04T14:52:01Z</dcterms:created>
  <dcterms:modified xsi:type="dcterms:W3CDTF">2025-04-29T00:01:29Z</dcterms:modified>
</cp:coreProperties>
</file>