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7" r:id="rId2"/>
    <p:sldId id="257" r:id="rId3"/>
    <p:sldId id="261" r:id="rId4"/>
    <p:sldId id="266" r:id="rId5"/>
    <p:sldId id="262" r:id="rId6"/>
    <p:sldId id="268" r:id="rId7"/>
    <p:sldId id="263" r:id="rId8"/>
    <p:sldId id="269" r:id="rId9"/>
    <p:sldId id="264" r:id="rId10"/>
    <p:sldId id="270" r:id="rId11"/>
    <p:sldId id="265" r:id="rId12"/>
    <p:sldId id="271" r:id="rId13"/>
    <p:sldId id="272" r:id="rId14"/>
    <p:sldId id="274" r:id="rId15"/>
    <p:sldId id="276" r:id="rId16"/>
    <p:sldId id="273" r:id="rId17"/>
    <p:sldId id="27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6" d="100"/>
          <a:sy n="56" d="100"/>
        </p:scale>
        <p:origin x="543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C87BD-75C3-4F3C-49C6-F3FB20AE0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3A58E0-44A6-0ABC-FD52-5C8F328C5F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7AE61-965F-93B8-8974-50E1FEBC9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A7404-22DA-508D-D6DA-65D15E5BA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F024C-123D-4490-4D90-3373CAA2B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8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3B5DD-5C50-1F91-B93A-827C3B209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15959-7146-185E-C008-7433AEBC61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25BC0-61EA-E43E-05EF-9A70D61AA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ADA4B5-EC2B-372F-3A34-13192DF50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2AA889-D69E-E8D4-C1BE-998CA0AF7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82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88F2F-C230-75FE-533E-9E4CA0815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34CD7E-CBD8-52AF-283B-3E299F79A8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2F55-B473-2F80-0D12-51D945F24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1D4E3-90DD-A3D7-64D7-AD277CA58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35185B-7391-B8FD-BE07-8BF8DC94B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90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3BAA2-F074-B2B2-470C-7A436891E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83E87-35E4-D3A4-3456-AD4522FD3E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DF6298-1189-B4B4-2BB9-C94A21223A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56914-D79E-35C7-AD6F-B6AD9D1EA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6E966-37A3-EBFC-BE8E-EBB78C57B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6654B5-9AA8-8252-A86D-411BA33AF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075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766CB-0CE9-D2C0-F8E4-CAEC52C9C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A9CD8-3A4C-3A6E-0815-401790DEAD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FF4AA7-A749-EDE4-6075-C870D14130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1B2047-3B61-0BA2-42B3-4F70D6187D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EFDE8-094B-B5D6-A4D3-F7C8EB5A9A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C5FA15-E189-8CE4-EA78-78B6E6888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DB951A-7747-6A09-D92C-C11B2D823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F5B20C-56F5-3C59-A2B7-A1C8E989F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281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C7C7B-8BEF-9803-D17D-04FBA6336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1EF248-D9BD-7267-6BDC-56EA83BEB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9A1FF-D993-8ADF-3DC2-AC641A197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33CE6-33BF-57D1-9286-9747B3615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012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84BE4B-7F83-1F3E-8A74-61A1AF01D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A67A1D-9B17-0C16-F646-33D24FEC1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5DBE0-A7C6-B1FE-A2D6-14C8812A0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10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8AC1C-069C-2200-8DCC-D2DDB3DA4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4FAF8-76C3-7EA8-CB3F-6E549E2A5E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2D651-C212-3D52-64BA-B22F9A74D0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B7D7C-54CD-8CB9-8F3D-4933A07B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F99EB-9C39-EBC4-E33C-6E99BEF1E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964F18-68BA-057A-0CF5-2637AFDA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00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D3C4-7228-8A05-86B0-DB4D5DC77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F80FD-1E71-B0C4-218F-D97B489348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3F3325-1405-8D88-D4A2-E61D94D3C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C2431-4BD1-164F-DBB2-F70EFF638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908AD9-4E95-3272-5B76-8D483F157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F59B90-8525-A2F6-92EA-CFE299612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7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EA6A7-BE66-BBC2-436A-050BD4B1C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1AEF0F-B52C-40FF-10AE-008F9E5831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E324B1-E0B1-7C6E-8AC7-0C84150FC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F1D35-5E46-0820-B2C5-88E03D4C7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41E65F-B8D8-F12E-92CC-2F6B16A2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154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3065E0-9C7F-659D-964A-ABA671FE4A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B61C1-871A-4D71-9CBF-8636EB1E5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26CCC-28C6-43D2-B3F1-F0FCB737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631E17-7F10-3D91-063D-9C4C7C820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1AE9A-AECA-369D-4FDB-4BB2B74A2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21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1F4A38-F05C-3726-5F68-C14570CC9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5FBE3-E360-709B-A091-12F940EFD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0D1F4-547C-74D9-39FE-DDA9345BC4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98FE8-610D-4628-AF37-AB11EA0DA6DB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5AAFF-BB80-8963-9031-C146310EB5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434A2-6FEC-67DE-1064-BA538B7241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916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66666-D9FE-3086-84A5-CA53306779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954123"/>
          </a:xfrm>
        </p:spPr>
        <p:txBody>
          <a:bodyPr/>
          <a:lstStyle/>
          <a:p>
            <a:r>
              <a:rPr lang="en-US"/>
              <a:t>Summer Working </a:t>
            </a:r>
            <a:br>
              <a:rPr lang="en-US"/>
            </a:br>
            <a:r>
              <a:rPr lang="en-US"/>
              <a:t>Connections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93A22-5590-167F-C6F6-931DFC52B0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516751"/>
          </a:xfrm>
        </p:spPr>
        <p:txBody>
          <a:bodyPr>
            <a:normAutofit lnSpcReduction="10000"/>
          </a:bodyPr>
          <a:lstStyle/>
          <a:p>
            <a:r>
              <a:rPr lang="en-US" sz="4000"/>
              <a:t>Secure Coding with Python</a:t>
            </a:r>
          </a:p>
          <a:p>
            <a:endParaRPr lang="en-US" sz="4000"/>
          </a:p>
          <a:p>
            <a:r>
              <a:rPr lang="en-US" sz="4000"/>
              <a:t>Pamela Brauda</a:t>
            </a:r>
          </a:p>
          <a:p>
            <a:r>
              <a:rPr lang="en-US" sz="4000"/>
              <a:t>David Singletary</a:t>
            </a:r>
          </a:p>
        </p:txBody>
      </p:sp>
    </p:spTree>
    <p:extLst>
      <p:ext uri="{BB962C8B-B14F-4D97-AF65-F5344CB8AC3E}">
        <p14:creationId xmlns:p14="http://schemas.microsoft.com/office/powerpoint/2010/main" val="4102376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97F16-438D-E2BB-15E9-351E46D6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6DC7AB0-26E7-E607-EE13-E50D1E1C2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515600" cy="848378"/>
          </a:xfrm>
        </p:spPr>
        <p:txBody>
          <a:bodyPr/>
          <a:lstStyle/>
          <a:p>
            <a:r>
              <a:rPr lang="en-US"/>
              <a:t>Day 1: Introductory Topics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0C9BA69-1281-F21D-8694-00344F343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1. GitHub</a:t>
            </a:r>
          </a:p>
          <a:p>
            <a:pPr marL="739775" lvl="1" indent="-282575"/>
            <a:r>
              <a:rPr lang="en-US" sz="2800"/>
              <a:t>Best practices for version control in secure development.</a:t>
            </a:r>
          </a:p>
          <a:p>
            <a:pPr marL="282575" indent="-282575"/>
            <a:r>
              <a:rPr lang="en-US" sz="3200"/>
              <a:t>2. Secure Coding Environments</a:t>
            </a:r>
          </a:p>
          <a:p>
            <a:pPr marL="739775" lvl="1" indent="-282575"/>
            <a:r>
              <a:rPr lang="en-US" sz="2800"/>
              <a:t>Jupyter Notebooks and Google Colab</a:t>
            </a:r>
          </a:p>
          <a:p>
            <a:pPr marL="739775" lvl="1" indent="-282575"/>
            <a:r>
              <a:rPr lang="en-US" sz="2800"/>
              <a:t>Use notebooks for secure data analysis</a:t>
            </a:r>
          </a:p>
          <a:p>
            <a:pPr marL="282575" indent="-282575"/>
            <a:r>
              <a:rPr lang="en-US" sz="3200"/>
              <a:t>3. Secure Coding Basics</a:t>
            </a:r>
          </a:p>
          <a:p>
            <a:pPr marL="739775" lvl="1" indent="-282575"/>
            <a:r>
              <a:rPr lang="en-US" sz="2800"/>
              <a:t>Input validation</a:t>
            </a:r>
          </a:p>
          <a:p>
            <a:pPr marL="739775" lvl="1" indent="-282575"/>
            <a:r>
              <a:rPr lang="en-US" sz="2800"/>
              <a:t>Python coding style guidelines for maintainable code</a:t>
            </a:r>
          </a:p>
        </p:txBody>
      </p:sp>
    </p:spTree>
    <p:extLst>
      <p:ext uri="{BB962C8B-B14F-4D97-AF65-F5344CB8AC3E}">
        <p14:creationId xmlns:p14="http://schemas.microsoft.com/office/powerpoint/2010/main" val="4203455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26A29-E9E8-E800-8EE4-C7FB89218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738EF3A-69D2-8208-732E-8886B09F4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515600" cy="848378"/>
          </a:xfrm>
        </p:spPr>
        <p:txBody>
          <a:bodyPr>
            <a:noAutofit/>
          </a:bodyPr>
          <a:lstStyle/>
          <a:p>
            <a:r>
              <a:rPr lang="en-US"/>
              <a:t>1.1 Introduction to Secure Version Control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27ED3A1-933E-BDC2-7A15-5340A6681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Overview of version control systems (focus on Git, GitHub).</a:t>
            </a:r>
          </a:p>
          <a:p>
            <a:pPr marL="282575" indent="-282575"/>
            <a:r>
              <a:rPr lang="en-US" sz="3200"/>
              <a:t>Importance of secure development practices in academic settings.</a:t>
            </a:r>
          </a:p>
          <a:p>
            <a:pPr marL="282575" indent="-282575"/>
            <a:r>
              <a:rPr lang="en-US" sz="3200"/>
              <a:t>Common security pitfalls in version control (e.g., exposing secrets, poor access management).</a:t>
            </a:r>
          </a:p>
          <a:p>
            <a:pPr marL="282575" indent="-282575"/>
            <a:r>
              <a:rPr lang="en-US" sz="3200"/>
              <a:t>Hands-on: Setting up a secure GitHub repository (private vs. public).</a:t>
            </a:r>
          </a:p>
        </p:txBody>
      </p:sp>
    </p:spTree>
    <p:extLst>
      <p:ext uri="{BB962C8B-B14F-4D97-AF65-F5344CB8AC3E}">
        <p14:creationId xmlns:p14="http://schemas.microsoft.com/office/powerpoint/2010/main" val="3067652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C22FA-BF5E-B7F1-D91A-5A606E802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8F4D0FA-4DB9-5FE3-68BF-65779AB17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515600" cy="848378"/>
          </a:xfrm>
        </p:spPr>
        <p:txBody>
          <a:bodyPr>
            <a:noAutofit/>
          </a:bodyPr>
          <a:lstStyle/>
          <a:p>
            <a:r>
              <a:rPr lang="en-US"/>
              <a:t>1.2 Secure Repository Setup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AC7221F-3719-6F7E-CD7F-EBB269433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Enforcing multi-factor authentication (MFA) for access.</a:t>
            </a:r>
          </a:p>
          <a:p>
            <a:pPr marL="282575" indent="-282575"/>
            <a:r>
              <a:rPr lang="en-US" sz="3200"/>
              <a:t>Using role-based access control (RBAC) to manage permissions.</a:t>
            </a:r>
          </a:p>
          <a:p>
            <a:pPr marL="282575" indent="-282575"/>
            <a:r>
              <a:rPr lang="en-US" sz="3200"/>
              <a:t>Assigning appropriate repository roles to students.</a:t>
            </a:r>
          </a:p>
          <a:p>
            <a:pPr marL="282575" indent="-282575"/>
            <a:r>
              <a:rPr lang="en-US" sz="3200"/>
              <a:t>Hands-on: Creating a GitHub repository with secure settings.</a:t>
            </a:r>
          </a:p>
        </p:txBody>
      </p:sp>
    </p:spTree>
    <p:extLst>
      <p:ext uri="{BB962C8B-B14F-4D97-AF65-F5344CB8AC3E}">
        <p14:creationId xmlns:p14="http://schemas.microsoft.com/office/powerpoint/2010/main" val="3064009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7B91-D324-0341-0502-5B2162A38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04C2249-DEFA-8756-55A2-7043C71FA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56848"/>
            <a:ext cx="10824029" cy="848378"/>
          </a:xfrm>
        </p:spPr>
        <p:txBody>
          <a:bodyPr/>
          <a:lstStyle/>
          <a:p>
            <a:pPr marL="282575" indent="-282575"/>
            <a:r>
              <a:rPr lang="en-US" sz="4400"/>
              <a:t>1.3 Branching Strategies and Secure Workflows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FB64EC2-884E-9EC0-089A-5B9748E29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Introduction to branching models (GitFlow, feature branches, trunk-based development).</a:t>
            </a:r>
          </a:p>
          <a:p>
            <a:pPr marL="282575" indent="-282575"/>
            <a:r>
              <a:rPr lang="en-US" sz="3200"/>
              <a:t>Implementing protected branches to prevent unauthorized changes.</a:t>
            </a:r>
          </a:p>
          <a:p>
            <a:pPr marL="282575" indent="-282575"/>
            <a:r>
              <a:rPr lang="en-US" sz="3200"/>
              <a:t>Setting up feature branches and submitting pull requests (PRs).</a:t>
            </a:r>
          </a:p>
          <a:p>
            <a:pPr marL="282575" indent="-282575"/>
            <a:r>
              <a:rPr lang="en-US" sz="3200"/>
              <a:t>Hands-on: Configuring branch protection rules in GitHub.</a:t>
            </a:r>
          </a:p>
        </p:txBody>
      </p:sp>
    </p:spTree>
    <p:extLst>
      <p:ext uri="{BB962C8B-B14F-4D97-AF65-F5344CB8AC3E}">
        <p14:creationId xmlns:p14="http://schemas.microsoft.com/office/powerpoint/2010/main" val="22560147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0842A-AE90-0CB0-7BCD-5D3E7EB8B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2F1E25C-CBDF-D2BF-4EFC-BC6EA2A24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515600" cy="848378"/>
          </a:xfrm>
        </p:spPr>
        <p:txBody>
          <a:bodyPr/>
          <a:lstStyle/>
          <a:p>
            <a:pPr marL="282575" indent="-282575"/>
            <a:r>
              <a:rPr lang="en-US" sz="4400"/>
              <a:t> 1.4 Secure Code Contributions and Reviews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3BA8398-B061-1528-A071-27C58D36F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Best practices for code reviews in a secure workflow.</a:t>
            </a:r>
          </a:p>
          <a:p>
            <a:pPr marL="282575" indent="-282575"/>
            <a:r>
              <a:rPr lang="en-US" sz="3200"/>
              <a:t>Enforcing pull request policies (e.g., requiring approvals, status checks).</a:t>
            </a:r>
          </a:p>
          <a:p>
            <a:pPr marL="282575" indent="-282575"/>
            <a:r>
              <a:rPr lang="en-US" sz="3200"/>
              <a:t>Hands-on: Conducting a secure pull request workflow (reviewing, commenting, approving).</a:t>
            </a:r>
          </a:p>
          <a:p>
            <a:pPr marL="282575" indent="-282575"/>
            <a:r>
              <a:rPr lang="en-US" sz="3200"/>
              <a:t>Exercise: Identifying security issues in a sample PR.</a:t>
            </a:r>
          </a:p>
        </p:txBody>
      </p:sp>
    </p:spTree>
    <p:extLst>
      <p:ext uri="{BB962C8B-B14F-4D97-AF65-F5344CB8AC3E}">
        <p14:creationId xmlns:p14="http://schemas.microsoft.com/office/powerpoint/2010/main" val="1091019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9BF30-7E80-2AF6-53CF-E233C84CD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B79AAEC-F6EC-01F2-911D-9098E30DA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515600" cy="848378"/>
          </a:xfrm>
        </p:spPr>
        <p:txBody>
          <a:bodyPr/>
          <a:lstStyle/>
          <a:p>
            <a:r>
              <a:rPr lang="en-US"/>
              <a:t>1.5. Secrets Management / Preventing Leaks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557BBE6-24F9-C54B-A230-9C140527B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 fontScale="85000" lnSpcReduction="10000"/>
          </a:bodyPr>
          <a:lstStyle/>
          <a:p>
            <a:pPr marL="282575" indent="-282575"/>
            <a:r>
              <a:rPr lang="en-US" sz="3200"/>
              <a:t>Why API keys, credentials, and secrets should never be committed.</a:t>
            </a:r>
          </a:p>
          <a:p>
            <a:pPr marL="282575" indent="-282575"/>
            <a:r>
              <a:rPr lang="en-US" sz="3200"/>
              <a:t>Tools for detecting and preventing secret leaks (git-secrets, truffleHog).</a:t>
            </a:r>
          </a:p>
          <a:p>
            <a:pPr marL="282575" indent="-282575"/>
            <a:r>
              <a:rPr lang="en-US" sz="3200"/>
              <a:t>Hands-on: Setting up a pre-commit hook to block sensitive data.</a:t>
            </a:r>
          </a:p>
          <a:p>
            <a:pPr marL="282575" indent="-282575"/>
            <a:r>
              <a:rPr lang="en-US" sz="3200"/>
              <a:t>Exercise: Committing a "leaked" secret and scanning for exposed credentials.</a:t>
            </a:r>
          </a:p>
          <a:p>
            <a:pPr marL="282575" indent="-282575"/>
            <a:r>
              <a:rPr lang="en-US" sz="3200"/>
              <a:t>6. Automated Security Scanning</a:t>
            </a:r>
          </a:p>
          <a:p>
            <a:pPr marL="282575" indent="-282575"/>
            <a:r>
              <a:rPr lang="en-US" sz="3200"/>
              <a:t>Overview of static analysis and dependency scanning.</a:t>
            </a:r>
          </a:p>
          <a:p>
            <a:pPr marL="282575" indent="-282575"/>
            <a:r>
              <a:rPr lang="en-US" sz="3200"/>
              <a:t>Using GitHub Advanced Security, CodeQL, and Dependabot.</a:t>
            </a:r>
          </a:p>
          <a:p>
            <a:pPr marL="282575" indent="-282575"/>
            <a:r>
              <a:rPr lang="en-US" sz="3200"/>
              <a:t>Hands-on: Running a security scan on a sample repository.</a:t>
            </a:r>
          </a:p>
          <a:p>
            <a:pPr marL="282575" indent="-282575"/>
            <a:r>
              <a:rPr lang="en-US" sz="3200"/>
              <a:t>Exercise: Interpreting scan results and patching vulnerabilities.</a:t>
            </a:r>
          </a:p>
        </p:txBody>
      </p:sp>
    </p:spTree>
    <p:extLst>
      <p:ext uri="{BB962C8B-B14F-4D97-AF65-F5344CB8AC3E}">
        <p14:creationId xmlns:p14="http://schemas.microsoft.com/office/powerpoint/2010/main" val="612910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5AAEC-F798-B19F-A486-AA5117560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103457D-2CA5-DAE1-7CBD-45D8D7352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515600" cy="848378"/>
          </a:xfrm>
        </p:spPr>
        <p:txBody>
          <a:bodyPr/>
          <a:lstStyle/>
          <a:p>
            <a:r>
              <a:rPr lang="en-US"/>
              <a:t>1.6. </a:t>
            </a:r>
            <a:r>
              <a:rPr lang="en-US" sz="4400"/>
              <a:t>Automated Security Scanning</a:t>
            </a:r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E4571C4-D133-67EB-F601-1264B9876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Overview of static analysis and dependency scanning.</a:t>
            </a:r>
          </a:p>
          <a:p>
            <a:pPr marL="282575" indent="-282575"/>
            <a:r>
              <a:rPr lang="en-US" sz="3200"/>
              <a:t>Using GitHub Advanced Security, CodeQL, and Dependabot.</a:t>
            </a:r>
          </a:p>
          <a:p>
            <a:pPr marL="282575" indent="-282575"/>
            <a:r>
              <a:rPr lang="en-US" sz="3200"/>
              <a:t>Interpreting scan results and patching vulnerabilities.</a:t>
            </a:r>
          </a:p>
          <a:p>
            <a:pPr marL="282575" indent="-282575"/>
            <a:r>
              <a:rPr lang="en-US" sz="3200"/>
              <a:t>Hands-on: Run a security scan on a sample repository.</a:t>
            </a:r>
          </a:p>
        </p:txBody>
      </p:sp>
    </p:spTree>
    <p:extLst>
      <p:ext uri="{BB962C8B-B14F-4D97-AF65-F5344CB8AC3E}">
        <p14:creationId xmlns:p14="http://schemas.microsoft.com/office/powerpoint/2010/main" val="2536463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20E9C-EBE0-98B4-D9FB-AA18E9C48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800F0A4-1323-8F4E-057B-10ED54BA6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515600" cy="848378"/>
          </a:xfrm>
        </p:spPr>
        <p:txBody>
          <a:bodyPr/>
          <a:lstStyle/>
          <a:p>
            <a:r>
              <a:rPr lang="en-US"/>
              <a:t>1.7 </a:t>
            </a:r>
            <a:r>
              <a:rPr lang="en-US" sz="4400"/>
              <a:t>Secure Commit Practices</a:t>
            </a:r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013569D-5CFB-6D9A-0DC8-99AFE88815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Enforcing GPG/SSH-signed commits for authenticity.</a:t>
            </a:r>
          </a:p>
          <a:p>
            <a:pPr marL="282575" indent="-282575"/>
            <a:r>
              <a:rPr lang="en-US" sz="3200"/>
              <a:t>Implementing commit message policies (e.g., descriptive messages, linking to issues).</a:t>
            </a:r>
          </a:p>
          <a:p>
            <a:pPr marL="282575" indent="-282575"/>
            <a:r>
              <a:rPr lang="en-US" sz="3200"/>
              <a:t>Verifying signed commits in a repository.</a:t>
            </a:r>
          </a:p>
          <a:p>
            <a:pPr marL="282575" indent="-282575"/>
            <a:r>
              <a:rPr lang="en-US" sz="3200"/>
              <a:t>Hands-on: Signing commits with a GPG key.</a:t>
            </a:r>
          </a:p>
        </p:txBody>
      </p:sp>
    </p:spTree>
    <p:extLst>
      <p:ext uri="{BB962C8B-B14F-4D97-AF65-F5344CB8AC3E}">
        <p14:creationId xmlns:p14="http://schemas.microsoft.com/office/powerpoint/2010/main" val="196191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BABD3-51ED-32C0-EE63-63B7A3DE7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505EF6AF-5F08-3FC9-A656-DE6FF562D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515600" cy="848378"/>
          </a:xfrm>
        </p:spPr>
        <p:txBody>
          <a:bodyPr/>
          <a:lstStyle/>
          <a:p>
            <a:r>
              <a:rPr lang="en-US"/>
              <a:t>1.8 </a:t>
            </a:r>
            <a:r>
              <a:rPr lang="en-US" sz="4400"/>
              <a:t>Access Control and Incident Response</a:t>
            </a:r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C8F800F-6BFA-DF82-AEED-CCACE521E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Applying the principle of least privilege (PoLP) in repository access.</a:t>
            </a:r>
          </a:p>
          <a:p>
            <a:pPr marL="282575" indent="-282575"/>
            <a:r>
              <a:rPr lang="en-US" sz="3200"/>
              <a:t>Monitoring repository activity with audit logs.</a:t>
            </a:r>
          </a:p>
          <a:p>
            <a:pPr marL="282575" indent="-282575"/>
            <a:r>
              <a:rPr lang="en-US" sz="3200"/>
              <a:t>Revoking access and responding to a security incident.</a:t>
            </a:r>
          </a:p>
          <a:p>
            <a:pPr marL="282575" indent="-282575"/>
            <a:r>
              <a:rPr lang="en-US" sz="3200"/>
              <a:t>Hands-on: Reviewing access logs and detecting unauthorized access.</a:t>
            </a:r>
          </a:p>
        </p:txBody>
      </p:sp>
    </p:spTree>
    <p:extLst>
      <p:ext uri="{BB962C8B-B14F-4D97-AF65-F5344CB8AC3E}">
        <p14:creationId xmlns:p14="http://schemas.microsoft.com/office/powerpoint/2010/main" val="1581064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B6DD1-A700-98CD-3110-F9749D483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49E33B-D790-495C-F727-BACE06C8E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515600" cy="848378"/>
          </a:xfrm>
        </p:spPr>
        <p:txBody>
          <a:bodyPr/>
          <a:lstStyle/>
          <a:p>
            <a:r>
              <a:rPr lang="en-US"/>
              <a:t>1.9 </a:t>
            </a:r>
            <a:r>
              <a:rPr lang="en-US" sz="4400"/>
              <a:t>. Backup and Disaster Recovery</a:t>
            </a:r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6916D03-31CB-C2EC-B589-300DC43DD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Best practices for repository backups and mirroring.</a:t>
            </a:r>
          </a:p>
          <a:p>
            <a:pPr marL="282575" indent="-282575"/>
            <a:r>
              <a:rPr lang="en-US" sz="3200"/>
              <a:t>Recovering from a repository compromise.</a:t>
            </a:r>
          </a:p>
          <a:p>
            <a:pPr marL="282575" indent="-282575"/>
            <a:r>
              <a:rPr lang="en-US" sz="3200"/>
              <a:t>Hands-on: Cloning and mirroring a repository securely.</a:t>
            </a:r>
          </a:p>
        </p:txBody>
      </p:sp>
    </p:spTree>
    <p:extLst>
      <p:ext uri="{BB962C8B-B14F-4D97-AF65-F5344CB8AC3E}">
        <p14:creationId xmlns:p14="http://schemas.microsoft.com/office/powerpoint/2010/main" val="1716258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74C28-673E-996B-1697-55657DFC4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8E1ECAD-85FA-8A8C-2B50-0E937F7FA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809718" cy="848378"/>
          </a:xfrm>
        </p:spPr>
        <p:txBody>
          <a:bodyPr>
            <a:noAutofit/>
          </a:bodyPr>
          <a:lstStyle/>
          <a:p>
            <a:r>
              <a:rPr lang="en-US" sz="3600"/>
              <a:t>1.10 Integration with Secure Development Environments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E02B15D-6056-19E8-EBBC-D6ADA704E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Connecting CI/CD pipelines securely (e.g., GitHub Actions, Jenkins).</a:t>
            </a:r>
          </a:p>
          <a:p>
            <a:pPr marL="282575" indent="-282575"/>
            <a:r>
              <a:rPr lang="en-US" sz="3200"/>
              <a:t>Implementing code signing and artifact verification.</a:t>
            </a:r>
          </a:p>
          <a:p>
            <a:pPr marL="282575" indent="-282575"/>
            <a:r>
              <a:rPr lang="en-US" sz="3200"/>
              <a:t>Deploying code securely with GitHub Actions.</a:t>
            </a:r>
          </a:p>
          <a:p>
            <a:pPr marL="282575" indent="-282575"/>
            <a:r>
              <a:rPr lang="en-US" sz="3200"/>
              <a:t>Hands-on: Setting up a basic CI/CD pipeline with security checks.</a:t>
            </a:r>
          </a:p>
        </p:txBody>
      </p:sp>
    </p:spTree>
    <p:extLst>
      <p:ext uri="{BB962C8B-B14F-4D97-AF65-F5344CB8AC3E}">
        <p14:creationId xmlns:p14="http://schemas.microsoft.com/office/powerpoint/2010/main" val="3838753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DDCEA-45DB-44DA-708F-0734D4A6E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B271F46-209C-792F-498C-B33D5F489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809718" cy="848378"/>
          </a:xfrm>
        </p:spPr>
        <p:txBody>
          <a:bodyPr>
            <a:noAutofit/>
          </a:bodyPr>
          <a:lstStyle/>
          <a:p>
            <a:r>
              <a:rPr lang="en-US" sz="3600"/>
              <a:t>2.1 Secure Coding Environments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51BEDBE-E0A1-2121-74DC-7189DD37D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2155777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8E2E4-D5C3-7E0F-D680-F53B22F4D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EF68961-14AA-FB3C-4C26-3D7775CC0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809718" cy="848378"/>
          </a:xfrm>
        </p:spPr>
        <p:txBody>
          <a:bodyPr>
            <a:noAutofit/>
          </a:bodyPr>
          <a:lstStyle/>
          <a:p>
            <a:r>
              <a:rPr lang="en-US" sz="3600"/>
              <a:t>2.2 Using Jupyter Notebooks and Colab for Secure Coding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1B18173-9818-19D6-D961-BE1E19561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905438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7F48B-00F8-D349-1620-6C4BB7C1F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046873F-0694-788B-C149-D5E5A12A0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809718" cy="848378"/>
          </a:xfrm>
        </p:spPr>
        <p:txBody>
          <a:bodyPr>
            <a:noAutofit/>
          </a:bodyPr>
          <a:lstStyle/>
          <a:p>
            <a:r>
              <a:rPr lang="en-US" sz="3600"/>
              <a:t>2.3 Using Notebooks for Secure Data Analysis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112198B-62A3-3CCD-BBB4-5F7A531B1E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8001153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745D0-D333-B88F-D500-1D01AC76B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CE47C4D-5624-2880-F8B2-6D6380203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809718" cy="848378"/>
          </a:xfrm>
        </p:spPr>
        <p:txBody>
          <a:bodyPr>
            <a:noAutofit/>
          </a:bodyPr>
          <a:lstStyle/>
          <a:p>
            <a:r>
              <a:rPr lang="en-US" sz="3600"/>
              <a:t>3.1 Secure Coding Basics: Input Validation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EB4C9A6-5396-D452-59E5-1C7A1C34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4959103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71A6-7906-ED6B-A908-BB4C04A00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1610D1C-9617-EF88-6B0D-23C1A2A4B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809718" cy="848378"/>
          </a:xfrm>
        </p:spPr>
        <p:txBody>
          <a:bodyPr>
            <a:noAutofit/>
          </a:bodyPr>
          <a:lstStyle/>
          <a:p>
            <a:r>
              <a:rPr lang="en-US" sz="3600"/>
              <a:t>3.2 Python Coding Style Guidelines for Maintainable Code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D147611-9C34-AD47-5210-D36D8FD398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16407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609</Words>
  <Application>Microsoft Office PowerPoint</Application>
  <PresentationFormat>Widescreen</PresentationFormat>
  <Paragraphs>73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Summer Working  Connections 2025</vt:lpstr>
      <vt:lpstr>Day 1: Introductory Topics</vt:lpstr>
      <vt:lpstr>1.1 Introduction to Secure Version Control</vt:lpstr>
      <vt:lpstr>1.2 Secure Repository Setup</vt:lpstr>
      <vt:lpstr>1.3 Branching Strategies and Secure Workflows</vt:lpstr>
      <vt:lpstr> 1.4 Secure Code Contributions and Reviews</vt:lpstr>
      <vt:lpstr>1.5. Secrets Management / Preventing Leaks</vt:lpstr>
      <vt:lpstr>1.6. Automated Security Scanning</vt:lpstr>
      <vt:lpstr>1.7 Secure Commit Practices</vt:lpstr>
      <vt:lpstr>1.8 Access Control and Incident Response</vt:lpstr>
      <vt:lpstr>1.9 . Backup and Disaster Recovery</vt:lpstr>
      <vt:lpstr>1.10 Integration with Secure Development Environments</vt:lpstr>
      <vt:lpstr>2.1 Secure Coding Environments</vt:lpstr>
      <vt:lpstr>2.2 Using Jupyter Notebooks and Colab for Secure Coding</vt:lpstr>
      <vt:lpstr>2.3 Using Notebooks for Secure Data Analysis</vt:lpstr>
      <vt:lpstr>3.1 Secure Coding Basics: Input Validation</vt:lpstr>
      <vt:lpstr>3.2 Python Coding Style Guidelines for Maintainable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Singletary, David S.</dc:creator>
  <cp:lastModifiedBy>Singletary, David S.</cp:lastModifiedBy>
  <cp:revision>11</cp:revision>
  <dcterms:created xsi:type="dcterms:W3CDTF">2025-02-10T02:34:02Z</dcterms:created>
  <dcterms:modified xsi:type="dcterms:W3CDTF">2025-02-21T21:00:13Z</dcterms:modified>
</cp:coreProperties>
</file>