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83" r:id="rId10"/>
    <p:sldId id="284" r:id="rId11"/>
    <p:sldId id="315" r:id="rId12"/>
    <p:sldId id="285" r:id="rId13"/>
    <p:sldId id="316" r:id="rId14"/>
    <p:sldId id="298" r:id="rId15"/>
    <p:sldId id="317" r:id="rId16"/>
    <p:sldId id="299" r:id="rId17"/>
    <p:sldId id="318" r:id="rId18"/>
    <p:sldId id="300" r:id="rId19"/>
    <p:sldId id="301" r:id="rId20"/>
    <p:sldId id="319" r:id="rId21"/>
    <p:sldId id="302" r:id="rId22"/>
    <p:sldId id="320" r:id="rId23"/>
    <p:sldId id="303" r:id="rId24"/>
    <p:sldId id="321" r:id="rId25"/>
    <p:sldId id="304" r:id="rId26"/>
    <p:sldId id="305" r:id="rId27"/>
    <p:sldId id="306" r:id="rId28"/>
    <p:sldId id="308" r:id="rId29"/>
    <p:sldId id="310" r:id="rId30"/>
    <p:sldId id="309" r:id="rId31"/>
    <p:sldId id="311" r:id="rId32"/>
    <p:sldId id="312" r:id="rId33"/>
    <p:sldId id="313" r:id="rId34"/>
    <p:sldId id="314" r:id="rId35"/>
    <p:sldId id="322" r:id="rId3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3" autoAdjust="0"/>
    <p:restoredTop sz="94660"/>
  </p:normalViewPr>
  <p:slideViewPr>
    <p:cSldViewPr snapToGrid="0">
      <p:cViewPr varScale="1">
        <p:scale>
          <a:sx n="64" d="100"/>
          <a:sy n="64" d="100"/>
        </p:scale>
        <p:origin x="177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30E2BB-20E6-0956-B616-F8614FD3E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396F44E-2110-E3ED-1204-3FF28E5B81A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BF0E85-5CA9-8FB6-67A5-41AC48F5EC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08682-F225-87A0-C1D4-379BBF5411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5A1E74-1940-6F7C-D67B-4B6D0AAC31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007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5B07B-D227-A285-7724-DA284819B9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FD2E3F-0726-2B54-DC8B-3742FD053E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7F692-BC87-A235-493D-DFC63A187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88A945-E39C-E88B-2976-99A570A4EA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DED4097-DD67-9F00-913A-13A3A0E3FF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46040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39F9BA-8650-5EC6-0F29-C8DB70A826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B02C07-032F-BBDC-2E2A-3CC2F162C8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D00128-E977-C08D-8116-39D9A67F0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61D3D-BD60-96D3-B37A-D56BD7524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48EC03-32BD-9F7A-58FD-9948BFDAD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4513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19CBD-6F94-2F0A-F6F7-D4266C0111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233851-1F24-C304-3CFB-8395362982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213CD2-FAFC-4987-9110-46A9F06E12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9F100-E6B5-AC68-4FE7-039EC33245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D235D4E-D334-185E-1834-41C16F81DF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FA161E-739F-CDFA-FA0D-8D561332E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26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3C4C38-B07C-64B6-8D41-F203F5B406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53FF04-124B-36BF-5515-BB2E0C6C6A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1B8F87-043C-0B58-A2EE-EF577D1A61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61D101-41BD-22AE-935C-0D328AFF57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423B19-1419-62F2-C40E-65A1A915726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569A519-F5AC-1757-7C00-8C030AAE24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2FB47A0-94D5-197F-739D-D172BB6859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CDA654-C9B0-3652-DAEA-7D22099DD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6719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E1256-B08A-0FB8-EFB5-A15C8FE9C0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19A16B-3F98-983D-D98C-0EE3D5D639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3F83A9-59AC-315F-AFB9-7326323219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248D6B-8074-3C29-6A1D-4B71A0AAC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8311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9E3971-070E-BDCB-A62C-54C729BF6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EF875B-2F68-2130-F747-6E0D870E7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95F536-AA1E-B46F-4D69-600C109F3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6322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8FF891-DE41-7EB8-2FF9-7CE6738E0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0D73BB-0578-CB9F-52F7-6F92429E5F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EFC085-198C-E876-2F6F-0E3984A68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E52EB-1185-7831-9BF2-3F75ECF46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C3BF32-17C6-C45D-E35D-12D754FE9C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287CAC7-6E6C-2A1B-6662-AA2A2D473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10324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2F174E-2EC1-FE2B-23E6-EEBA332EF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AE9D2B-8F10-E570-6AA2-9005CCCCCB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3BB990-549D-32B9-A44B-D363BD126E7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37EB96-1423-9B8F-9103-3BFAB9F8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A23C72-9519-023B-6578-913613F17C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5F21B-2381-A0D7-6FE1-3AFA83C4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53519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1F72F-7D73-E9A7-A054-03E6DBE4AF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0BE10C7-5219-326D-EB47-3C1AF5035D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D457E5-DDB9-15CE-FBF5-5E1A66486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1E55EF-1556-96C2-4263-D427DA1DD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FA212C-B5FA-CE2C-96A6-178C2916A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530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EED0CE7-DC28-2C2C-5B28-9F104A9AB84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25F80D-1747-5A22-92A6-FBBF976F03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A41304-0E41-DD11-9738-C91035E2BA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0AD9F9-261F-13B3-CE6D-D064092AB3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CE0C96-F0D5-DD0D-DA33-764FE8A6DF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6866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F8199E-6D30-F850-391E-D4F7153285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5C7E5-4EC7-8EBC-7A44-1A895030C5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4C0EFF-C0CE-7D0C-6CC5-A28F0BC40A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989C08-BA69-4AD3-98E9-D53C63F6E1B1}" type="datetimeFigureOut">
              <a:rPr lang="en-US" smtClean="0"/>
              <a:t>3/6/2025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348B3E-3497-73AD-4083-286A12425D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6BD70E-84F0-E72A-2386-9CDC39949D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130911-4412-46A4-9A4B-B11E804AFF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610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008/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008/#indentation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peps.python.org/pep-0008/#maximum-line-length" TargetMode="Externa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008/#naming-convention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008/#import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008/#whitespace-in-expressions-and-statement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peps.python.org/pep-0008/#programming-recommendation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234ED57C-5D50-6FB0-386A-B1C0BAF5E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FBEF78-6835-9381-046A-65D3362579B3}"/>
              </a:ext>
            </a:extLst>
          </p:cNvPr>
          <p:cNvSpPr txBox="1"/>
          <p:nvPr/>
        </p:nvSpPr>
        <p:spPr>
          <a:xfrm>
            <a:off x="604266" y="136955"/>
            <a:ext cx="65059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Day 1: Introductory Topics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2A35BB2-B247-A830-CD48-8D50E0ACDB9D}"/>
              </a:ext>
            </a:extLst>
          </p:cNvPr>
          <p:cNvSpPr txBox="1"/>
          <p:nvPr/>
        </p:nvSpPr>
        <p:spPr>
          <a:xfrm>
            <a:off x="604267" y="1221698"/>
            <a:ext cx="10323564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practices for version control in secure development.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Coding Environments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Jupyter Notebooks and Google Colab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notebooks for secure data analysis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Coding Basics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Input validation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Python coding style guidelines for maintainable code</a:t>
            </a:r>
            <a:endParaRPr lang="en-US" sz="24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71906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27252-E975-9FC8-258E-A73B3830B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8DEEC2F5-56A7-B695-B5F6-459783C1C0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6E05592-F352-416E-AA02-F64ACB2D6B5E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Secure Version Control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633B80-D681-05C8-937E-80D895C6C127}"/>
              </a:ext>
            </a:extLst>
          </p:cNvPr>
          <p:cNvSpPr txBox="1"/>
          <p:nvPr/>
        </p:nvSpPr>
        <p:spPr>
          <a:xfrm>
            <a:off x="604267" y="1221698"/>
            <a:ext cx="10323564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 and GitHub allow students to learn secure coding practices, conduct peer reviews, and detect vulnerabilities early in the development cycle.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Multiple contributors can work on projects without conflicts.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Improves reproducibility by offering transparency and traceability in research projects.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Enforces access control and permissions by restricting  unauthorized modifications using protected branches.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Encourages structured, versioned, and well-documented coding workflows.</a:t>
            </a:r>
          </a:p>
        </p:txBody>
      </p:sp>
    </p:spTree>
    <p:extLst>
      <p:ext uri="{BB962C8B-B14F-4D97-AF65-F5344CB8AC3E}">
        <p14:creationId xmlns:p14="http://schemas.microsoft.com/office/powerpoint/2010/main" val="27247725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A7712-A2A5-6663-A47D-4A3AED9B86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6860C389-B763-AD5E-FD94-DD2A22899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0C2081-E29B-1899-444B-D70F4741B823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Secure Version Control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6AF2759-5DDD-81CA-5317-5D537C05C9B3}"/>
              </a:ext>
            </a:extLst>
          </p:cNvPr>
          <p:cNvSpPr txBox="1"/>
          <p:nvPr/>
        </p:nvSpPr>
        <p:spPr>
          <a:xfrm>
            <a:off x="604267" y="1221698"/>
            <a:ext cx="10323564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ensures code changes are tracked, managed, and reviewed systematically for security and accountability.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Branching and merging allow teams to develop features and security patches separately before integrating them into the main codebase.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Commit history and diffs provide visibility into changes, helping to identify and prevent security vulnerabilities.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Rollback and recovery capabilities enable reverting to previous versions to mitigate security breaches or accidental changes.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00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</a:t>
            </a: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provides cloud-based tools for managing repositories, enforcing security policies, and controlling access.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Pull requests and code reviews ensure changes are reviewed by peers before merging, reducing the risk of introducing vulnerabilities.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tools in GitHub (e.g., Dependabot, secret scanning, code scanning) help detect vulnerabilities in dependencies and source code.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controls and compliance features, such as protected branches and role-based permissions, enforce secure coding practices and industry standards.</a:t>
            </a:r>
          </a:p>
        </p:txBody>
      </p:sp>
    </p:spTree>
    <p:extLst>
      <p:ext uri="{BB962C8B-B14F-4D97-AF65-F5344CB8AC3E}">
        <p14:creationId xmlns:p14="http://schemas.microsoft.com/office/powerpoint/2010/main" val="4104696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332F99-6480-14D5-D926-A4BF949792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415CEB33-1159-9969-53AF-FF4374941D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AB57269-BDA0-13E5-7FE4-22DB83129DA8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Introduction to Secure Version Control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FB46ECC-92AE-072B-57CE-F9DC8737B6C0}"/>
              </a:ext>
            </a:extLst>
          </p:cNvPr>
          <p:cNvSpPr txBox="1"/>
          <p:nvPr/>
        </p:nvSpPr>
        <p:spPr>
          <a:xfrm>
            <a:off x="604267" y="1221698"/>
            <a:ext cx="10323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Hands-on: Set up a private GitHub repository, use Dependabot to scan dependencies.</a:t>
            </a:r>
          </a:p>
        </p:txBody>
      </p:sp>
    </p:spTree>
    <p:extLst>
      <p:ext uri="{BB962C8B-B14F-4D97-AF65-F5344CB8AC3E}">
        <p14:creationId xmlns:p14="http://schemas.microsoft.com/office/powerpoint/2010/main" val="32566198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95D27-26CE-8FA7-CF43-09D5C9A3CA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834451B6-6007-A7BC-F0F7-F0D4B8D95D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27B082E-5EE2-0DFB-BDE6-9631F26436A1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Multi-Factor Authentication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959D8D-88EC-987B-8F52-083105CB09A1}"/>
              </a:ext>
            </a:extLst>
          </p:cNvPr>
          <p:cNvSpPr txBox="1"/>
          <p:nvPr/>
        </p:nvSpPr>
        <p:spPr>
          <a:xfrm>
            <a:off x="604267" y="1221698"/>
            <a:ext cx="10323564" cy="46474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uses Multi-Factor Authentication (MFA) to enhance account security by requiring users to provide an additional verification factor beyond their password.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Users can enable MFA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Time-based one-time passwords (TOTP) generated by authenticator apps like Google Authenticator, Authy, or the GitHub mobile app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Security keys that support FIDO2/WebAuthn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SMS-based authentication (less recommended due to security concerns).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Once enabled, MFA is required during login and when performing sensitive actions, such as modifying account settings or accessing repositories with heightened security policies.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Additionally, GitHub allows organizations to enforce MFA for members, ensuring stronger protection for repositories and codebases.</a:t>
            </a:r>
          </a:p>
        </p:txBody>
      </p:sp>
    </p:spTree>
    <p:extLst>
      <p:ext uri="{BB962C8B-B14F-4D97-AF65-F5344CB8AC3E}">
        <p14:creationId xmlns:p14="http://schemas.microsoft.com/office/powerpoint/2010/main" val="7346963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381928-53D5-0F85-7C52-1D2C60998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D0D6C27D-FC74-36EE-8405-C1834A684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2EF7E4-4244-9FA4-A73D-D57FF37B3441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Role-Based Access Control (RBAC)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1CFD63-5934-8D2C-6280-54D19B19662C}"/>
              </a:ext>
            </a:extLst>
          </p:cNvPr>
          <p:cNvSpPr txBox="1"/>
          <p:nvPr/>
        </p:nvSpPr>
        <p:spPr>
          <a:xfrm>
            <a:off x="604267" y="1221698"/>
            <a:ext cx="10323564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RBAC is a security model that restricts system access based on predefined roles assigned to users, ensuring they have only the necessary permissions to perform their tasks.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Instead of granting individual permissions directly, RBAC assigns permissions to roles, which are then assigned to users, simplifying access management and reducing security risks.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Originally formalized by NIST, RBAC is widely used in enterprise environments, databases, operating systems, and cloud platforms to enforce least privilege and improve compliance with security policies.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helps organizations efficiently manage user access, streamline administrative tasks, and minimize the risk of unauthorized actions.</a:t>
            </a:r>
          </a:p>
        </p:txBody>
      </p:sp>
    </p:spTree>
    <p:extLst>
      <p:ext uri="{BB962C8B-B14F-4D97-AF65-F5344CB8AC3E}">
        <p14:creationId xmlns:p14="http://schemas.microsoft.com/office/powerpoint/2010/main" val="1735770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A0A7F7-86CC-42F4-5B05-CAD582B34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AF2D0879-ADA0-89DE-3696-311ED8AEC8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D953218-399B-607C-A36A-92E820BF059B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Student Repositories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E0D3C63-F773-C353-8D32-7D2A94FC9F1A}"/>
              </a:ext>
            </a:extLst>
          </p:cNvPr>
          <p:cNvSpPr txBox="1"/>
          <p:nvPr/>
        </p:nvSpPr>
        <p:spPr>
          <a:xfrm>
            <a:off x="604267" y="1221698"/>
            <a:ext cx="103235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to balance access control with collaborative learning when using GitHub in a classroom environment.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goal is to promote collaboration while maintaining the integrity of the repository and preventing accidental or unauthorized modifications.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Instructors can assign Read access to students who only need to view a repository, Write access for those contributing code without merging, and Maintain or Admin roles for team leads or advanced students managing repository settings.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protection rules allows instructors to ensure students follow proper version control workflows, such as requiring pull requests and code reviews before merging.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GitHub Classroom allows use of private (template) repositories to generate private forkable repos for students to support academic integrity.</a:t>
            </a:r>
          </a:p>
        </p:txBody>
      </p:sp>
    </p:spTree>
    <p:extLst>
      <p:ext uri="{BB962C8B-B14F-4D97-AF65-F5344CB8AC3E}">
        <p14:creationId xmlns:p14="http://schemas.microsoft.com/office/powerpoint/2010/main" val="21935020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014509-C7CA-C966-1C7A-32EE94E23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046CEFA4-06DA-A519-0C91-24A72782E9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3078DCD-E5DD-04DA-2152-F7B6C035DBB0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Protection Rules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CB87D3-206C-7AD9-1ECC-7DC9500C4707}"/>
              </a:ext>
            </a:extLst>
          </p:cNvPr>
          <p:cNvSpPr txBox="1"/>
          <p:nvPr/>
        </p:nvSpPr>
        <p:spPr>
          <a:xfrm>
            <a:off x="604266" y="920241"/>
            <a:ext cx="1032356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protection rules in GitHub help enforce version control best practices by restricting direct changes to important branches. To set them up: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repository on GitHub, click on the "Settings" tab.In the left sidebar, under "Code and automation", click "Branches".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"Branch protection rules" section, click "Add rule". In the "Branch name pattern" field, enter the branch name you want to protect (e.g., main, develop, or use wildcards like feature/*).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Select Protection Options. GitHub provides several protection rules you can enable: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 pull request reviews before mergingSet a required number of approvals (e.g., at least one review).Block self-reviews to enforce team feedback.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 status checks to pass before mergingEnsure automated tests (CI/CD) pass before merging.Select specific checks (e.g., Linting, Unit Tests, Build).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 commit signaturesEnforce cryptographic signatures to verify commit authenticity.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Restrict who can push to the branchAllow only instructors or specific team members to push directly.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Require branches to be up to date before mergingPrevent merging outdated branches to avoid conflicts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Prevent branch deletionStops accidental or malicious deletion of protected branches.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0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Save the RuleReview the settings.Click "Create" to apply the protection rule.</a:t>
            </a:r>
          </a:p>
        </p:txBody>
      </p:sp>
    </p:spTree>
    <p:extLst>
      <p:ext uri="{BB962C8B-B14F-4D97-AF65-F5344CB8AC3E}">
        <p14:creationId xmlns:p14="http://schemas.microsoft.com/office/powerpoint/2010/main" val="168189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AC3244-AAF3-C873-BEB8-C88BC3AC5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5FD59222-7FCF-7C76-2962-8E3F9F6EA7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37475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97D270-DF7E-0D92-21EF-B22D1C8228A7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 Protection Rule Examples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3C8114D2-8784-9C21-0C53-415856055E50}"/>
              </a:ext>
            </a:extLst>
          </p:cNvPr>
          <p:cNvSpPr txBox="1">
            <a:spLocks/>
          </p:cNvSpPr>
          <p:nvPr/>
        </p:nvSpPr>
        <p:spPr>
          <a:xfrm>
            <a:off x="673308" y="1043466"/>
            <a:ext cx="5364480" cy="2700827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1. Require Pull Request Reviews Before Merging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👉 Prevents direct commits to the main branch 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        and enforces a code review process.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 b="1"/>
              <a:t>Example Rule: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✅ Require at least one approved review before merging.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✅ Prevent self-approval (someone else must review the changes).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✅ Dismiss stale approvals if new commits are added.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💡 Use case: Ensures students get feedback before merging code.</a:t>
            </a:r>
          </a:p>
        </p:txBody>
      </p:sp>
      <p:sp>
        <p:nvSpPr>
          <p:cNvPr id="6" name="Content Placeholder 10">
            <a:extLst>
              <a:ext uri="{FF2B5EF4-FFF2-40B4-BE49-F238E27FC236}">
                <a16:creationId xmlns:a16="http://schemas.microsoft.com/office/drawing/2014/main" id="{A9FD5367-8EEF-3BAC-596C-04F128ECA8B6}"/>
              </a:ext>
            </a:extLst>
          </p:cNvPr>
          <p:cNvSpPr txBox="1">
            <a:spLocks/>
          </p:cNvSpPr>
          <p:nvPr/>
        </p:nvSpPr>
        <p:spPr>
          <a:xfrm>
            <a:off x="6398052" y="1043792"/>
            <a:ext cx="5120640" cy="2700501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2. Require Status Checks to Pass Before Merging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👉 Prevents merging unless automated tests (CI/CD pipelines) pass.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Example Rule: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✅ Require GitHub Actions tests to pass before merging.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✅ Block merging if tests fail.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💡 Use case: Prevents merging broken code into main.</a:t>
            </a:r>
          </a:p>
        </p:txBody>
      </p:sp>
      <p:sp>
        <p:nvSpPr>
          <p:cNvPr id="7" name="Content Placeholder 10">
            <a:extLst>
              <a:ext uri="{FF2B5EF4-FFF2-40B4-BE49-F238E27FC236}">
                <a16:creationId xmlns:a16="http://schemas.microsoft.com/office/drawing/2014/main" id="{6E2B06B2-1707-EE23-5E43-EDE1E0B299A6}"/>
              </a:ext>
            </a:extLst>
          </p:cNvPr>
          <p:cNvSpPr txBox="1">
            <a:spLocks/>
          </p:cNvSpPr>
          <p:nvPr/>
        </p:nvSpPr>
        <p:spPr>
          <a:xfrm>
            <a:off x="673308" y="3931623"/>
            <a:ext cx="5364480" cy="2129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3. Restrict Who Can Push to a Branch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👉 Limits who can make direct changes to critical branches.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Example Rule: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✅ Only instructors can push directly to main.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✅ Students must use feature branches and open pull requests.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💡 Use case: Prevents accidental overwrites by students.</a:t>
            </a:r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FF5E18CE-0337-B732-BC63-A0DEE90121FE}"/>
              </a:ext>
            </a:extLst>
          </p:cNvPr>
          <p:cNvSpPr txBox="1">
            <a:spLocks/>
          </p:cNvSpPr>
          <p:nvPr/>
        </p:nvSpPr>
        <p:spPr>
          <a:xfrm>
            <a:off x="6398052" y="3922028"/>
            <a:ext cx="5036820" cy="2129979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4. Prevent Deletion of Protected Branches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👉 Stops accidental or malicious deletion of important branches.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Example Rule: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✅ Prevent deletion of the main and develop branches.</a:t>
            </a:r>
          </a:p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1400"/>
              <a:t>💡 Use case: Ensures project stability and avoids data loss.</a:t>
            </a:r>
          </a:p>
        </p:txBody>
      </p:sp>
    </p:spTree>
    <p:extLst>
      <p:ext uri="{BB962C8B-B14F-4D97-AF65-F5344CB8AC3E}">
        <p14:creationId xmlns:p14="http://schemas.microsoft.com/office/powerpoint/2010/main" val="8066431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C6748E-C8E0-A06D-12A2-2852300FC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8D2A4E90-F553-3451-440D-5971C8070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E1C8454-BEAA-84AA-1869-785AFB5A4278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Branching Strategies and Secure Workflows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D9ED82-B4E1-F317-BF89-F4DE2882841F}"/>
              </a:ext>
            </a:extLst>
          </p:cNvPr>
          <p:cNvSpPr txBox="1"/>
          <p:nvPr/>
        </p:nvSpPr>
        <p:spPr>
          <a:xfrm>
            <a:off x="604266" y="920241"/>
            <a:ext cx="103235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Branching models include GitFlow, feature branches, trunk-based development, and others.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 protected branches to prevent unauthorized changes.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Setting up feature branches and submitting pull requests (PRs).</a:t>
            </a:r>
          </a:p>
        </p:txBody>
      </p:sp>
    </p:spTree>
    <p:extLst>
      <p:ext uri="{BB962C8B-B14F-4D97-AF65-F5344CB8AC3E}">
        <p14:creationId xmlns:p14="http://schemas.microsoft.com/office/powerpoint/2010/main" val="1645376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031AA-637E-789D-B31C-F78FB654F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CBBCA846-04BD-F2AC-9492-F34AA0664A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C6F2EB-0655-8519-B1D4-352AE3FD885E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Branching Strategies and Secure Workflows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ABA58E-CFF6-A09C-7857-9B7689B3BD68}"/>
              </a:ext>
            </a:extLst>
          </p:cNvPr>
          <p:cNvSpPr txBox="1"/>
          <p:nvPr/>
        </p:nvSpPr>
        <p:spPr>
          <a:xfrm>
            <a:off x="604266" y="920241"/>
            <a:ext cx="1032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Hands-on: Configure branch protection rules in a GitHub repo</a:t>
            </a:r>
          </a:p>
        </p:txBody>
      </p:sp>
    </p:spTree>
    <p:extLst>
      <p:ext uri="{BB962C8B-B14F-4D97-AF65-F5344CB8AC3E}">
        <p14:creationId xmlns:p14="http://schemas.microsoft.com/office/powerpoint/2010/main" val="42055388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A564A-E864-72CA-C2E2-C06EE9E8E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B8EB0BAE-C8BE-3464-A548-503B92301D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A061701-6177-6CE9-AD79-D8446611B546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Secure Code Contributions and Reviews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16F51CE-AAF2-34E9-630F-A55BC70CBF38}"/>
              </a:ext>
            </a:extLst>
          </p:cNvPr>
          <p:cNvSpPr txBox="1"/>
          <p:nvPr/>
        </p:nvSpPr>
        <p:spPr>
          <a:xfrm>
            <a:off x="604266" y="920241"/>
            <a:ext cx="1032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practices for code reviews in a secure workflow.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Enforcing pull request policies (e.g., requiring approvals, status checks).</a:t>
            </a:r>
          </a:p>
        </p:txBody>
      </p:sp>
    </p:spTree>
    <p:extLst>
      <p:ext uri="{BB962C8B-B14F-4D97-AF65-F5344CB8AC3E}">
        <p14:creationId xmlns:p14="http://schemas.microsoft.com/office/powerpoint/2010/main" val="32158297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67287-05F0-CE4C-6F46-1C064022C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0D55403C-3905-9641-7B9B-5FD137B948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0AF5AAC-F8C1-5DF5-D6C4-8434AE3FD8E0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Secure Code Contributions and Reviews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CAC3863-255F-9FC9-374E-6B91951C5D4C}"/>
              </a:ext>
            </a:extLst>
          </p:cNvPr>
          <p:cNvSpPr txBox="1"/>
          <p:nvPr/>
        </p:nvSpPr>
        <p:spPr>
          <a:xfrm>
            <a:off x="604266" y="920241"/>
            <a:ext cx="1032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Hands-on: Conduct a secure pull request workflow (review, comment, approve).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Exercise: Identifying security issues in a sample PR.</a:t>
            </a:r>
          </a:p>
        </p:txBody>
      </p:sp>
    </p:spTree>
    <p:extLst>
      <p:ext uri="{BB962C8B-B14F-4D97-AF65-F5344CB8AC3E}">
        <p14:creationId xmlns:p14="http://schemas.microsoft.com/office/powerpoint/2010/main" val="29314021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62D0B-C482-A2A9-1766-2680C3733A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27DEA5E3-A007-8A39-7CC0-7D8CD7667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3494F12-541B-5A75-EE10-26487A233301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Secrets Management / Preventing Leaks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3FEDD-07FC-591C-8E8C-6B320502832C}"/>
              </a:ext>
            </a:extLst>
          </p:cNvPr>
          <p:cNvSpPr txBox="1"/>
          <p:nvPr/>
        </p:nvSpPr>
        <p:spPr>
          <a:xfrm>
            <a:off x="604266" y="920241"/>
            <a:ext cx="10323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Why API keys, credentials, and secrets should never be committed.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Tools for detecting and preventing secret leaks (git-secrets, truffleHog).</a:t>
            </a:r>
          </a:p>
        </p:txBody>
      </p:sp>
    </p:spTree>
    <p:extLst>
      <p:ext uri="{BB962C8B-B14F-4D97-AF65-F5344CB8AC3E}">
        <p14:creationId xmlns:p14="http://schemas.microsoft.com/office/powerpoint/2010/main" val="11710163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FCF569-F83F-AE5F-6369-F8145FF891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FD7959A3-9090-4568-A71B-D4161108C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0A343D8-81DF-3A09-B0D4-4D738D835618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Secrets Management / Preventing Leaks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3570D7-9628-5525-B955-AA69C1F5C980}"/>
              </a:ext>
            </a:extLst>
          </p:cNvPr>
          <p:cNvSpPr txBox="1"/>
          <p:nvPr/>
        </p:nvSpPr>
        <p:spPr>
          <a:xfrm>
            <a:off x="604266" y="920241"/>
            <a:ext cx="10323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Hands-on: Set up a pre-commit hook to block sensitive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Exercise: Commit a "leaked" secret and scan for exposed credentials.</a:t>
            </a:r>
          </a:p>
        </p:txBody>
      </p:sp>
    </p:spTree>
    <p:extLst>
      <p:ext uri="{BB962C8B-B14F-4D97-AF65-F5344CB8AC3E}">
        <p14:creationId xmlns:p14="http://schemas.microsoft.com/office/powerpoint/2010/main" val="495565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EE7DA-6AA5-9BF9-D7B9-FC68CCB94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A19FF54D-ABB5-8C87-E59C-DE28E2AFF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CF88AC9-3136-B7B0-F52A-99D542DC9697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Security Scanning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27F66B9-FEF4-7C09-DF8B-7FD9EB82C827}"/>
              </a:ext>
            </a:extLst>
          </p:cNvPr>
          <p:cNvSpPr txBox="1"/>
          <p:nvPr/>
        </p:nvSpPr>
        <p:spPr>
          <a:xfrm>
            <a:off x="604266" y="920241"/>
            <a:ext cx="1032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Overview of static analysis and dependency scanning.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Using GitHub Advanced Security, CodeQL, and Dependabot.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Interpreting scan results and patching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8456968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B45D90-7C6F-1A3E-84F2-1326A9D45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84E19320-6A3E-8AB1-F14E-1C24D73B04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212C70-0D7B-9929-24B7-3E94B066528E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Automated Security Scanning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6EA9DC9-4874-B2EC-DC4D-B2BA4AA1A628}"/>
              </a:ext>
            </a:extLst>
          </p:cNvPr>
          <p:cNvSpPr txBox="1"/>
          <p:nvPr/>
        </p:nvSpPr>
        <p:spPr>
          <a:xfrm>
            <a:off x="604266" y="920241"/>
            <a:ext cx="1032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Hands-on: Run a security scan on a sample repository.</a:t>
            </a:r>
          </a:p>
        </p:txBody>
      </p:sp>
    </p:spTree>
    <p:extLst>
      <p:ext uri="{BB962C8B-B14F-4D97-AF65-F5344CB8AC3E}">
        <p14:creationId xmlns:p14="http://schemas.microsoft.com/office/powerpoint/2010/main" val="38391759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C5B174-5FF6-1711-522F-B378C157A8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8C3ED825-1CF5-EAC4-2526-B7D767552F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E4940C0-82A8-0D69-F88D-D18A051E9108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Commit Practices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0F34C99-C6CB-8015-E42C-A87321EA1B9D}"/>
              </a:ext>
            </a:extLst>
          </p:cNvPr>
          <p:cNvSpPr txBox="1"/>
          <p:nvPr/>
        </p:nvSpPr>
        <p:spPr>
          <a:xfrm>
            <a:off x="604266" y="920241"/>
            <a:ext cx="1032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Enforcing GPG/SSH-signed commits for authenticity.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 commit message policies (e.g., descriptive messages, linking to issues).</a:t>
            </a:r>
          </a:p>
        </p:txBody>
      </p:sp>
    </p:spTree>
    <p:extLst>
      <p:ext uri="{BB962C8B-B14F-4D97-AF65-F5344CB8AC3E}">
        <p14:creationId xmlns:p14="http://schemas.microsoft.com/office/powerpoint/2010/main" val="23383584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B446B6-8BEF-513A-B6E0-FA543151D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EEC03A38-C552-7B97-3C39-622495D31E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9020F29-6F4B-A52A-4285-C849B440039D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Control and Incident Response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FC20204-04CE-1992-22F7-2E9FBEBDC3C6}"/>
              </a:ext>
            </a:extLst>
          </p:cNvPr>
          <p:cNvSpPr txBox="1"/>
          <p:nvPr/>
        </p:nvSpPr>
        <p:spPr>
          <a:xfrm>
            <a:off x="604266" y="920241"/>
            <a:ext cx="1032356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Applying the principle of least privilege (PoLP) in repository access.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Monitoring repository activity with audit logs.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Revoking access and responding to a security incident.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244753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D49A02-2D52-6BAD-3435-7F505E16A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EB45CC12-69B9-970E-F1FA-26CA80D3D2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B54B6EE-CBE2-2545-90B8-F3CE6D010E75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Access Control and Incident Response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B2D474A-8525-5404-5158-FA779982C7A3}"/>
              </a:ext>
            </a:extLst>
          </p:cNvPr>
          <p:cNvSpPr txBox="1"/>
          <p:nvPr/>
        </p:nvSpPr>
        <p:spPr>
          <a:xfrm>
            <a:off x="604266" y="920241"/>
            <a:ext cx="1032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Hands-on: Reviewing access logs and detecting unauthorized access.</a:t>
            </a:r>
          </a:p>
        </p:txBody>
      </p:sp>
    </p:spTree>
    <p:extLst>
      <p:ext uri="{BB962C8B-B14F-4D97-AF65-F5344CB8AC3E}">
        <p14:creationId xmlns:p14="http://schemas.microsoft.com/office/powerpoint/2010/main" val="119768571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BE1EE-EC62-5870-C046-55D77A0DEB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87FC449E-3DB0-30AE-5010-3829A69C5A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99B7E37-C0D5-2ABD-535E-D56F5E837EC4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 and Disaster Recovery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E9862-B142-0BDC-DA53-590B772501CC}"/>
              </a:ext>
            </a:extLst>
          </p:cNvPr>
          <p:cNvSpPr txBox="1"/>
          <p:nvPr/>
        </p:nvSpPr>
        <p:spPr>
          <a:xfrm>
            <a:off x="604266" y="920241"/>
            <a:ext cx="10323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Best practices for repository backups and mirroring.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Recovering from a repository compromise.</a:t>
            </a:r>
          </a:p>
        </p:txBody>
      </p:sp>
    </p:spTree>
    <p:extLst>
      <p:ext uri="{BB962C8B-B14F-4D97-AF65-F5344CB8AC3E}">
        <p14:creationId xmlns:p14="http://schemas.microsoft.com/office/powerpoint/2010/main" val="22413670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DA5AE-D40F-2945-0C1E-9C79F19B9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BB6B211E-934B-6085-46BC-7E131571F8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C62D691-E0B4-18F7-D636-BACDC8CCFFE3}"/>
              </a:ext>
            </a:extLst>
          </p:cNvPr>
          <p:cNvSpPr txBox="1"/>
          <p:nvPr/>
        </p:nvSpPr>
        <p:spPr>
          <a:xfrm>
            <a:off x="604266" y="136955"/>
            <a:ext cx="10391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Backup and Disaster Recovery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0B9CB-FCAC-C128-0279-BD9ECF5A68CB}"/>
              </a:ext>
            </a:extLst>
          </p:cNvPr>
          <p:cNvSpPr txBox="1"/>
          <p:nvPr/>
        </p:nvSpPr>
        <p:spPr>
          <a:xfrm>
            <a:off x="604266" y="920241"/>
            <a:ext cx="1032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Hands-on: Clone and mirror a repository securely.</a:t>
            </a:r>
          </a:p>
        </p:txBody>
      </p:sp>
    </p:spTree>
    <p:extLst>
      <p:ext uri="{BB962C8B-B14F-4D97-AF65-F5344CB8AC3E}">
        <p14:creationId xmlns:p14="http://schemas.microsoft.com/office/powerpoint/2010/main" val="625128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B85017-FD5C-A278-CD7F-A88EACDC9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62706B00-22F1-41EA-B8AF-ED9D9DF985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2BABF70-BBBD-A631-E013-8DF9FEDCE400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with Secure Development Environments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0E6A69-A91E-832D-0395-A8D603A08FBD}"/>
              </a:ext>
            </a:extLst>
          </p:cNvPr>
          <p:cNvSpPr txBox="1"/>
          <p:nvPr/>
        </p:nvSpPr>
        <p:spPr>
          <a:xfrm>
            <a:off x="604266" y="920241"/>
            <a:ext cx="103235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Connecting CI/CD pipelines securely (e.g., GitHub Actions, Jenkins).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Implementing code signing and artifact verification.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Deploying code securely with GitHub Actions.</a:t>
            </a:r>
          </a:p>
        </p:txBody>
      </p:sp>
    </p:spTree>
    <p:extLst>
      <p:ext uri="{BB962C8B-B14F-4D97-AF65-F5344CB8AC3E}">
        <p14:creationId xmlns:p14="http://schemas.microsoft.com/office/powerpoint/2010/main" val="39132305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69640-6833-9A24-27A1-E95671D60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B3FFDC3D-3CB3-FBC6-42F0-0810FEC025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2A6C581-AC3F-15EE-2435-4F9F1D1F1D14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Integration with Secure Development Environments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AAB43D-AA41-C548-7641-798AB93C8D3A}"/>
              </a:ext>
            </a:extLst>
          </p:cNvPr>
          <p:cNvSpPr txBox="1"/>
          <p:nvPr/>
        </p:nvSpPr>
        <p:spPr>
          <a:xfrm>
            <a:off x="604266" y="920241"/>
            <a:ext cx="103235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Hands-on: Setting up a basic CI/CD pipeline with security checks.</a:t>
            </a:r>
          </a:p>
        </p:txBody>
      </p:sp>
    </p:spTree>
    <p:extLst>
      <p:ext uri="{BB962C8B-B14F-4D97-AF65-F5344CB8AC3E}">
        <p14:creationId xmlns:p14="http://schemas.microsoft.com/office/powerpoint/2010/main" val="3268498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D46BB9-1041-7E01-867B-FFE6D56E4D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F93BFD01-B84C-F782-7B7B-03BCF100CC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E7DD7C39-CE57-5CB7-1B36-B9939F7F3E6C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2.1 Secure Coding Environments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5BE3DA0-F611-B704-D715-8A7F483F8C41}"/>
              </a:ext>
            </a:extLst>
          </p:cNvPr>
          <p:cNvSpPr txBox="1"/>
          <p:nvPr/>
        </p:nvSpPr>
        <p:spPr>
          <a:xfrm>
            <a:off x="604266" y="920241"/>
            <a:ext cx="10323564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coding environments provide controlled development spaces that incorporate tools, policies, and best practices to minimize security risks during software development.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includes access controls, such as Role-Based Access Control (RBAC), to restrict unauthorized modifications, code analysis tools for detecting vulnerabilities, and sandboxed environments to isolate untrusted code execution.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Secure development environments often integrate version control protections, like branch protection rules in GitHub, and enforce secure coding standards through automated testing, linting, and dependency scanning (e.g., with Dependabot).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By implementing these security measures, organizations and educators can ensure that software is developed, tested, and deployed with minimal exposure to security threats.</a:t>
            </a:r>
          </a:p>
        </p:txBody>
      </p:sp>
    </p:spTree>
    <p:extLst>
      <p:ext uri="{BB962C8B-B14F-4D97-AF65-F5344CB8AC3E}">
        <p14:creationId xmlns:p14="http://schemas.microsoft.com/office/powerpoint/2010/main" val="7916935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D819A-8019-5948-F4CB-28B1D9D400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3846330E-450E-84D1-43DC-A50F41F843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82CF48A-56B2-ACF2-5DDE-20CBDE44F840}"/>
              </a:ext>
            </a:extLst>
          </p:cNvPr>
          <p:cNvSpPr txBox="1"/>
          <p:nvPr/>
        </p:nvSpPr>
        <p:spPr>
          <a:xfrm>
            <a:off x="604266" y="136955"/>
            <a:ext cx="1117050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2.2 Using Jupyter Notebooks and Colab for Secure Coding</a:t>
            </a:r>
            <a:endParaRPr lang="en-US" sz="32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8A99EE9-FED8-E005-348F-A05E68E26F28}"/>
              </a:ext>
            </a:extLst>
          </p:cNvPr>
          <p:cNvSpPr txBox="1"/>
          <p:nvPr/>
        </p:nvSpPr>
        <p:spPr>
          <a:xfrm>
            <a:off x="659566" y="858685"/>
            <a:ext cx="9691141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Jupyter Notebooks and Google Colab provide flexible, interactive environments for secure coding practices, enabling developers to test and refine security-focused scripts in isolated, controlled settings.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 platforms support Python and various security-related libraries, making them useful for tasks like penetration testing, secure coding education, and cryptographic implementations.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With built-in execution controls, users can safely run code in segmented cells, reducing the risk of unintended operations.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Colab’s cloud-based execution adds an extra layer of security by sandboxing processes away from local machines, preventing potential malware execution.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Both platforms facilitate reproducibility and collaboration, allowing security teams to document vulnerabilities and share insights while maintaining strict access controls.</a:t>
            </a:r>
          </a:p>
        </p:txBody>
      </p:sp>
    </p:spTree>
    <p:extLst>
      <p:ext uri="{BB962C8B-B14F-4D97-AF65-F5344CB8AC3E}">
        <p14:creationId xmlns:p14="http://schemas.microsoft.com/office/powerpoint/2010/main" val="34754092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2CE929-AE37-0479-778E-9E0E363EA9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9968F127-4FDD-AD7A-73B0-52ACED7A23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ACB7F33-1051-52A6-4D6F-535B8FB4EBC0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2.3 Using Notebooks for Secure Data Analysis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B349E24-EB7B-8C7F-527F-50828B8CFEDE}"/>
              </a:ext>
            </a:extLst>
          </p:cNvPr>
          <p:cNvSpPr txBox="1"/>
          <p:nvPr/>
        </p:nvSpPr>
        <p:spPr>
          <a:xfrm>
            <a:off x="689548" y="1031771"/>
            <a:ext cx="10575560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Jupyter Notebooks provide a structured approach to secure data analysis by allowing users to compartmentalize workflows and apply rigorous data validation techniques.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Analysts can integrate automated integrity checks, anomaly detection, and logging mechanisms to ensure that data remains accurate and tamper-proof throughout the analysis process.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Notebooks support controlled execution of scripts, helping to mitigate the risk of introducing errors or inconsistencies when handling large datasets.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By enabling modular code organization and detailed documentation within the same interface, notebooks enhance traceability and accountability, making them valuable tools for maintaining data security in analytical workflows.</a:t>
            </a:r>
          </a:p>
        </p:txBody>
      </p:sp>
    </p:spTree>
    <p:extLst>
      <p:ext uri="{BB962C8B-B14F-4D97-AF65-F5344CB8AC3E}">
        <p14:creationId xmlns:p14="http://schemas.microsoft.com/office/powerpoint/2010/main" val="331530814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039C52-E8D1-14E2-B6C2-FCFA9FA945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07B4228A-552F-F35F-AD6A-92F7F5B9F5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A379D09-8557-E352-251A-A6C1A085A1FF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Style Guidelines for Maintainable Code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228532-259B-47ED-96B5-0002B32CAB46}"/>
              </a:ext>
            </a:extLst>
          </p:cNvPr>
          <p:cNvSpPr txBox="1"/>
          <p:nvPr/>
        </p:nvSpPr>
        <p:spPr>
          <a:xfrm>
            <a:off x="604266" y="1308769"/>
            <a:ext cx="10908180" cy="48320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>
                <a:hlinkClick r:id="rId3"/>
              </a:rPr>
              <a:t>PEP 8</a:t>
            </a:r>
            <a:r>
              <a:rPr lang="en-US" sz="2800"/>
              <a:t>, Python’s style guide, includes several guidelines that contribute to writing maintainable and more secure Python code.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As instructors of introductory programming courses, we have the opportunity to impart the need for code style discipline and best practices early in a student's learning journey.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By emphasizing the importance of concepts such as the items included below, we help students develop habits that lead to more reliable and professional software.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/>
              <a:t>Teaching these principles not only enhances code readability but also fosters a mindset that prioritizes security and maintainability—critical skills for any aspiring developer.</a:t>
            </a:r>
          </a:p>
        </p:txBody>
      </p:sp>
    </p:spTree>
    <p:extLst>
      <p:ext uri="{BB962C8B-B14F-4D97-AF65-F5344CB8AC3E}">
        <p14:creationId xmlns:p14="http://schemas.microsoft.com/office/powerpoint/2010/main" val="429230005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AB1F79-1134-616F-4893-56F2AAEC93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6D15EA22-780F-222A-FF4E-E2FE8228E2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6C5FCA8-212A-5E5B-9CF3-DB0376306BD3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 Readability and Maintainability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D8D270A-AE64-C23E-C739-D192C87E229C}"/>
              </a:ext>
            </a:extLst>
          </p:cNvPr>
          <p:cNvSpPr txBox="1"/>
          <p:nvPr/>
        </p:nvSpPr>
        <p:spPr>
          <a:xfrm>
            <a:off x="604266" y="1308769"/>
            <a:ext cx="1090818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3200"/>
              <a:t>Consistent Indentation (</a:t>
            </a:r>
            <a:r>
              <a:rPr lang="en-US" sz="3200">
                <a:hlinkClick r:id="rId3"/>
              </a:rPr>
              <a:t>PEP 8 Reference</a:t>
            </a:r>
            <a:r>
              <a:rPr lang="en-US" sz="3200"/>
              <a:t>)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/>
              <a:t>Use 4 spaces per indentation level to avoid confusion that could lead to logical errors.</a:t>
            </a:r>
          </a:p>
          <a:p>
            <a:pPr marL="914400" indent="-457200">
              <a:buFont typeface="Arial" panose="020B0604020202020204" pitchFamily="34" charset="0"/>
              <a:buChar char="•"/>
            </a:pPr>
            <a:r>
              <a:rPr lang="en-US" sz="3200"/>
              <a:t>Maximum Line Length (</a:t>
            </a:r>
            <a:r>
              <a:rPr lang="en-US" sz="3200">
                <a:hlinkClick r:id="rId4"/>
              </a:rPr>
              <a:t>PEP 8 Reference</a:t>
            </a:r>
            <a:r>
              <a:rPr lang="en-US" sz="3200"/>
              <a:t>)</a:t>
            </a:r>
          </a:p>
          <a:p>
            <a:pPr marL="1371600" lvl="1" indent="-457200">
              <a:buFont typeface="Arial" panose="020B0604020202020204" pitchFamily="34" charset="0"/>
              <a:buChar char="•"/>
            </a:pPr>
            <a:r>
              <a:rPr lang="en-US" sz="2800"/>
              <a:t>79 characters prevents the need for horizontal scrolling, making it easier to audit code for security flaws.</a:t>
            </a:r>
          </a:p>
        </p:txBody>
      </p:sp>
    </p:spTree>
    <p:extLst>
      <p:ext uri="{BB962C8B-B14F-4D97-AF65-F5344CB8AC3E}">
        <p14:creationId xmlns:p14="http://schemas.microsoft.com/office/powerpoint/2010/main" val="1308204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01340B-AB89-B344-5F5C-0EE0CAAACC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C398703F-DA8B-F8D8-652D-9531D74C9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B440105-7AF8-0A4C-FFD0-D8A8FEC4B5F2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2. Naming Conventions for Clarity and Security 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EF08943-DD1D-4CC8-8779-05B875FFFECF}"/>
              </a:ext>
            </a:extLst>
          </p:cNvPr>
          <p:cNvSpPr txBox="1"/>
          <p:nvPr/>
        </p:nvSpPr>
        <p:spPr>
          <a:xfrm>
            <a:off x="604266" y="1308769"/>
            <a:ext cx="1090818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457200"/>
            <a:r>
              <a:rPr lang="en-US" sz="3200">
                <a:hlinkClick r:id="rId3"/>
              </a:rPr>
              <a:t>PEP 8 Reference</a:t>
            </a:r>
            <a:endParaRPr lang="en-US" sz="320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200"/>
              <a:t>Use meaningful names for variables, functions, and classes.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200"/>
              <a:t>Avoid names that resemble Python built-ins (e.g., don’t name a variable id, list, or eval).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200"/>
              <a:t>Use CAPITALIZED_NAMES for constants that shouldn’t be modified.</a:t>
            </a:r>
          </a:p>
        </p:txBody>
      </p:sp>
    </p:spTree>
    <p:extLst>
      <p:ext uri="{BB962C8B-B14F-4D97-AF65-F5344CB8AC3E}">
        <p14:creationId xmlns:p14="http://schemas.microsoft.com/office/powerpoint/2010/main" val="391681518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E964A3-6BF2-057C-4FCF-B173A2FEC7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E112E35B-7ABF-80D0-6A0B-BEB3900519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218912-BC53-75D0-485F-905551A0FBC2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 Avoid wildcard imports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4B59548-2CD9-0BCB-EA8A-8026919D406A}"/>
              </a:ext>
            </a:extLst>
          </p:cNvPr>
          <p:cNvSpPr txBox="1"/>
          <p:nvPr/>
        </p:nvSpPr>
        <p:spPr>
          <a:xfrm>
            <a:off x="604266" y="1308769"/>
            <a:ext cx="10908180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457200"/>
            <a:r>
              <a:rPr lang="en-US" sz="3200">
                <a:hlinkClick r:id="rId3"/>
              </a:rPr>
              <a:t>PEP 8 Reference</a:t>
            </a:r>
            <a:endParaRPr lang="en-US" sz="320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200"/>
              <a:t>Avoid</a:t>
            </a:r>
          </a:p>
          <a:p>
            <a:pPr marL="68580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1371600" indent="0">
              <a:buNone/>
            </a:pPr>
            <a:r>
              <a:rPr lang="en-US" sz="3200">
                <a:latin typeface="Consolas" panose="020B0609020204030204" pitchFamily="49" charset="0"/>
              </a:rPr>
              <a:t>from module import *</a:t>
            </a:r>
          </a:p>
          <a:p>
            <a:pPr marL="685800" indent="0">
              <a:buNone/>
            </a:pPr>
            <a:endParaRPr lang="en-US" sz="1400">
              <a:latin typeface="Consolas" panose="020B0609020204030204" pitchFamily="49" charset="0"/>
            </a:endParaRP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3200"/>
              <a:t>This can introduce unintended variables and functions into the namespace, leading to unpredictable behavior.</a:t>
            </a:r>
          </a:p>
        </p:txBody>
      </p:sp>
    </p:spTree>
    <p:extLst>
      <p:ext uri="{BB962C8B-B14F-4D97-AF65-F5344CB8AC3E}">
        <p14:creationId xmlns:p14="http://schemas.microsoft.com/office/powerpoint/2010/main" val="426790771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094810-B10A-FFA1-C314-A21DEB6549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CCE78C07-B8F6-1268-1FA2-C5149590B5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02AC7B3-1296-7564-4B3F-F089307FB0FB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4. Whitespace and Readability to Avoid Logical Errors 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FAB7B4-813F-2EA6-043C-7DD5617CE702}"/>
              </a:ext>
            </a:extLst>
          </p:cNvPr>
          <p:cNvSpPr txBox="1"/>
          <p:nvPr/>
        </p:nvSpPr>
        <p:spPr>
          <a:xfrm>
            <a:off x="604266" y="1308769"/>
            <a:ext cx="10908180" cy="5401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685800" indent="-457200"/>
            <a:r>
              <a:rPr lang="en-US" sz="2400">
                <a:hlinkClick r:id="rId3"/>
              </a:rPr>
              <a:t>PEP 8 Reference</a:t>
            </a:r>
            <a:endParaRPr lang="en-US" sz="2400"/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/>
              <a:t>Use spaces around operators and after commas to improve readability.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/>
              <a:t>Do this:</a:t>
            </a:r>
          </a:p>
          <a:p>
            <a:pPr marL="685800" indent="-457200"/>
            <a:endParaRPr lang="en-US" sz="1200">
              <a:latin typeface="Consolas" panose="020B0609020204030204" pitchFamily="49" charset="0"/>
            </a:endParaRPr>
          </a:p>
          <a:p>
            <a:pPr marL="1431925"/>
            <a:r>
              <a:rPr lang="en-US" sz="2400" b="1">
                <a:latin typeface="Consolas" panose="020B0609020204030204" pitchFamily="49" charset="0"/>
              </a:rPr>
              <a:t>x = a + b</a:t>
            </a:r>
          </a:p>
          <a:p>
            <a:pPr marL="685800" indent="0">
              <a:buNone/>
            </a:pPr>
            <a:endParaRPr lang="en-US" sz="1200"/>
          </a:p>
          <a:p>
            <a:pPr marL="685800" indent="0">
              <a:buNone/>
            </a:pPr>
            <a:r>
              <a:rPr lang="en-US" sz="2400"/>
              <a:t>instead of this:</a:t>
            </a:r>
          </a:p>
          <a:p>
            <a:pPr marL="685800" indent="0">
              <a:buNone/>
            </a:pPr>
            <a:endParaRPr lang="en-US" sz="1200" b="1">
              <a:latin typeface="Consolas" panose="020B0609020204030204" pitchFamily="49" charset="0"/>
            </a:endParaRPr>
          </a:p>
          <a:p>
            <a:pPr marL="1431925" indent="0">
              <a:buNone/>
            </a:pPr>
            <a:r>
              <a:rPr lang="en-US" sz="2400" b="1">
                <a:latin typeface="Consolas" panose="020B0609020204030204" pitchFamily="49" charset="0"/>
              </a:rPr>
              <a:t>x=a+b</a:t>
            </a:r>
          </a:p>
          <a:p>
            <a:pPr marL="1431925" indent="0">
              <a:buNone/>
            </a:pPr>
            <a:endParaRPr lang="en-US" sz="1200" b="1">
              <a:latin typeface="Consolas" panose="020B0609020204030204" pitchFamily="49" charset="0"/>
            </a:endParaRP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/>
              <a:t>Avoid extraneous whitespace in expressions. </a:t>
            </a: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/>
              <a:t>Instead of:</a:t>
            </a:r>
          </a:p>
          <a:p>
            <a:pPr marL="685800" indent="-457200"/>
            <a:endParaRPr lang="en-US" sz="1100"/>
          </a:p>
          <a:p>
            <a:pPr marL="1431925" indent="0">
              <a:buNone/>
            </a:pPr>
            <a:r>
              <a:rPr lang="en-US" sz="2400" b="1">
                <a:latin typeface="Consolas" panose="020B0609020204030204" pitchFamily="49" charset="0"/>
              </a:rPr>
              <a:t>x = (a + b ) # (trailing space inside parentheses)</a:t>
            </a:r>
          </a:p>
          <a:p>
            <a:pPr marL="685800" indent="-457200"/>
            <a:endParaRPr lang="en-US" sz="1100" b="1">
              <a:latin typeface="Consolas" panose="020B0609020204030204" pitchFamily="49" charset="0"/>
            </a:endParaRPr>
          </a:p>
          <a:p>
            <a:pPr marL="685800" indent="-457200">
              <a:buFont typeface="Arial" panose="020B0604020202020204" pitchFamily="34" charset="0"/>
              <a:buChar char="•"/>
            </a:pPr>
            <a:r>
              <a:rPr lang="en-US" sz="2400"/>
              <a:t>Do this: </a:t>
            </a:r>
          </a:p>
          <a:p>
            <a:pPr marL="685800" indent="-457200"/>
            <a:endParaRPr lang="en-US" sz="1100"/>
          </a:p>
          <a:p>
            <a:pPr marL="1431925"/>
            <a:r>
              <a:rPr lang="en-US" sz="2400" b="1">
                <a:latin typeface="Consolas" panose="020B0609020204030204" pitchFamily="49" charset="0"/>
              </a:rPr>
              <a:t>x = (a + b)</a:t>
            </a:r>
          </a:p>
        </p:txBody>
      </p:sp>
    </p:spTree>
    <p:extLst>
      <p:ext uri="{BB962C8B-B14F-4D97-AF65-F5344CB8AC3E}">
        <p14:creationId xmlns:p14="http://schemas.microsoft.com/office/powerpoint/2010/main" val="167051177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8CDC4-9216-A098-F3B4-E1FF8224D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41CACE23-3609-C98F-9969-78765E20E5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DB95467-650C-E0F5-91BE-5102D05DEEB7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Proper Exception Handling 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02442C-6A8F-E8C5-4FB8-37352B697D7F}"/>
              </a:ext>
            </a:extLst>
          </p:cNvPr>
          <p:cNvSpPr txBox="1"/>
          <p:nvPr/>
        </p:nvSpPr>
        <p:spPr>
          <a:xfrm>
            <a:off x="604266" y="1308769"/>
            <a:ext cx="10908180" cy="4539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8925" indent="-288925"/>
            <a:r>
              <a:rPr lang="en-US" sz="2800">
                <a:hlinkClick r:id="rId3"/>
              </a:rPr>
              <a:t>PEP 8 Reference</a:t>
            </a:r>
            <a:endParaRPr lang="en-US" sz="28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/>
              <a:t>Don’t use "bare except" statements.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Instead of:</a:t>
            </a:r>
          </a:p>
          <a:p>
            <a:pPr marL="288925" indent="-288925"/>
            <a:endParaRPr lang="en-US" sz="1100"/>
          </a:p>
          <a:p>
            <a:pPr marL="914400" indent="0">
              <a:buNone/>
            </a:pPr>
            <a:r>
              <a:rPr lang="en-US" sz="2000" b="1">
                <a:latin typeface="Consolas" panose="020B0609020204030204" pitchFamily="49" charset="0"/>
              </a:rPr>
              <a:t>try:</a:t>
            </a:r>
          </a:p>
          <a:p>
            <a:pPr marL="914400" indent="0">
              <a:buNone/>
            </a:pPr>
            <a:r>
              <a:rPr lang="en-US" sz="2000" b="1">
                <a:latin typeface="Consolas" panose="020B0609020204030204" pitchFamily="49" charset="0"/>
              </a:rPr>
              <a:t>    process_data()</a:t>
            </a:r>
          </a:p>
          <a:p>
            <a:pPr marL="914400" indent="0">
              <a:buNone/>
            </a:pPr>
            <a:r>
              <a:rPr lang="en-US" sz="2000" b="1">
                <a:latin typeface="Consolas" panose="020B0609020204030204" pitchFamily="49" charset="0"/>
              </a:rPr>
              <a:t>except:</a:t>
            </a:r>
          </a:p>
          <a:p>
            <a:pPr marL="914400" indent="0">
              <a:buNone/>
            </a:pPr>
            <a:r>
              <a:rPr lang="en-US" sz="2000" b="1">
                <a:latin typeface="Consolas" panose="020B0609020204030204" pitchFamily="49" charset="0"/>
              </a:rPr>
              <a:t>    pass # Silently ignores errors (including critical ones)</a:t>
            </a:r>
          </a:p>
          <a:p>
            <a:pPr marL="288925" indent="-288925">
              <a:buNone/>
            </a:pPr>
            <a:endParaRPr lang="en-US" sz="1100" b="1">
              <a:latin typeface="Consolas" panose="020B0609020204030204" pitchFamily="49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Do this:</a:t>
            </a:r>
          </a:p>
          <a:p>
            <a:pPr marL="288925" indent="-288925"/>
            <a:endParaRPr lang="en-US" sz="1100"/>
          </a:p>
          <a:p>
            <a:pPr marL="914400" indent="0">
              <a:buNone/>
            </a:pPr>
            <a:r>
              <a:rPr lang="en-US" b="1">
                <a:latin typeface="Consolas" panose="020B0609020204030204" pitchFamily="49" charset="0"/>
              </a:rPr>
              <a:t>try:</a:t>
            </a:r>
          </a:p>
          <a:p>
            <a:pPr marL="914400" indent="0">
              <a:buNone/>
            </a:pPr>
            <a:r>
              <a:rPr lang="en-US" b="1">
                <a:latin typeface="Consolas" panose="020B0609020204030204" pitchFamily="49" charset="0"/>
              </a:rPr>
              <a:t>    process_data()</a:t>
            </a:r>
          </a:p>
          <a:p>
            <a:pPr marL="914400" indent="0">
              <a:buNone/>
            </a:pPr>
            <a:r>
              <a:rPr lang="en-US" b="1">
                <a:latin typeface="Consolas" panose="020B0609020204030204" pitchFamily="49" charset="0"/>
              </a:rPr>
              <a:t>except (ValueError, KeyError) as e:</a:t>
            </a:r>
          </a:p>
          <a:p>
            <a:pPr marL="914400" indent="0">
              <a:buNone/>
            </a:pPr>
            <a:r>
              <a:rPr lang="en-US" b="1">
                <a:latin typeface="Consolas" panose="020B0609020204030204" pitchFamily="49" charset="0"/>
              </a:rPr>
              <a:t>    logger.error(f"Processing failed: {e}")  # Log the issue</a:t>
            </a:r>
          </a:p>
        </p:txBody>
      </p:sp>
    </p:spTree>
    <p:extLst>
      <p:ext uri="{BB962C8B-B14F-4D97-AF65-F5344CB8AC3E}">
        <p14:creationId xmlns:p14="http://schemas.microsoft.com/office/powerpoint/2010/main" val="3092521530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9F678D-1656-B1C8-1727-DC83117D93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6F91B1F6-AD89-1B99-5C15-E6E9D2E398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33B9BC8-C5CF-70D6-F138-F3DBD574096E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5. Proper Exception Handling 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666F50-9F72-AC9D-A915-57C962BA1615}"/>
              </a:ext>
            </a:extLst>
          </p:cNvPr>
          <p:cNvSpPr txBox="1"/>
          <p:nvPr/>
        </p:nvSpPr>
        <p:spPr>
          <a:xfrm>
            <a:off x="604266" y="1308769"/>
            <a:ext cx="1090818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Raise exceptions explicitly.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Instead of: </a:t>
            </a:r>
          </a:p>
          <a:p>
            <a:pPr marL="457200" indent="-457200"/>
            <a:endParaRPr lang="en-US" sz="2400" b="1">
              <a:latin typeface="Consolas" panose="020B0609020204030204" pitchFamily="49" charset="0"/>
            </a:endParaRPr>
          </a:p>
          <a:p>
            <a:pPr marL="860425" indent="0">
              <a:buNone/>
            </a:pPr>
            <a:r>
              <a:rPr lang="en-US" sz="2400" b="1">
                <a:latin typeface="Consolas" panose="020B0609020204030204" pitchFamily="49" charset="0"/>
              </a:rPr>
              <a:t>raise "Error occurred" # (raises a string -- invalid)</a:t>
            </a:r>
          </a:p>
          <a:p>
            <a:pPr marL="457200" indent="-457200"/>
            <a:endParaRPr lang="en-US" sz="2400" b="1">
              <a:latin typeface="Consolas" panose="020B0609020204030204" pitchFamily="49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Do this: </a:t>
            </a:r>
          </a:p>
          <a:p>
            <a:pPr marL="457200" indent="-457200"/>
            <a:endParaRPr lang="en-US" sz="2400" b="1">
              <a:latin typeface="Consolas" panose="020B0609020204030204" pitchFamily="49" charset="0"/>
            </a:endParaRPr>
          </a:p>
          <a:p>
            <a:pPr marL="860425" indent="0">
              <a:buNone/>
            </a:pPr>
            <a:r>
              <a:rPr lang="en-US" sz="2400" b="1">
                <a:latin typeface="Consolas" panose="020B0609020204030204" pitchFamily="49" charset="0"/>
              </a:rPr>
              <a:t>raise ValueError("Invalid input")</a:t>
            </a:r>
          </a:p>
        </p:txBody>
      </p:sp>
    </p:spTree>
    <p:extLst>
      <p:ext uri="{BB962C8B-B14F-4D97-AF65-F5344CB8AC3E}">
        <p14:creationId xmlns:p14="http://schemas.microsoft.com/office/powerpoint/2010/main" val="368756797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B1C7E0-F491-1A8F-8ABA-2BA7853BEE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white and blue background&#10;&#10;Description automatically generated">
            <a:extLst>
              <a:ext uri="{FF2B5EF4-FFF2-40B4-BE49-F238E27FC236}">
                <a16:creationId xmlns:a16="http://schemas.microsoft.com/office/drawing/2014/main" id="{170D34A6-0A99-A99C-51F0-F0AD1950C4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9112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1F8B7C-0EBC-3D34-9479-C03D2C9162F1}"/>
              </a:ext>
            </a:extLst>
          </p:cNvPr>
          <p:cNvSpPr txBox="1"/>
          <p:nvPr/>
        </p:nvSpPr>
        <p:spPr>
          <a:xfrm>
            <a:off x="604266" y="136955"/>
            <a:ext cx="111705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6. Documentation and Comments</a:t>
            </a:r>
            <a:endParaRPr lang="en-US" sz="3600" dirty="0">
              <a:solidFill>
                <a:schemeClr val="accent1">
                  <a:lumMod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B2287B-3D15-55B6-0E24-D13664E457E8}"/>
              </a:ext>
            </a:extLst>
          </p:cNvPr>
          <p:cNvSpPr txBox="1"/>
          <p:nvPr/>
        </p:nvSpPr>
        <p:spPr>
          <a:xfrm>
            <a:off x="604266" y="1308769"/>
            <a:ext cx="1090818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Documentation (PEP 8 Reference) and Comments (PEP 8 Reference)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Use docstrings for function behavior and security concerns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Avoid inline comments disclosing security-sensitive information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Instead of: # Hashing passwords with MD5 (insecure)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/>
              <a:t>Do This: # Securely hashing passwords using bcrypt</a:t>
            </a:r>
          </a:p>
        </p:txBody>
      </p:sp>
    </p:spTree>
    <p:extLst>
      <p:ext uri="{BB962C8B-B14F-4D97-AF65-F5344CB8AC3E}">
        <p14:creationId xmlns:p14="http://schemas.microsoft.com/office/powerpoint/2010/main" val="72186427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</TotalTime>
  <Words>2341</Words>
  <Application>Microsoft Office PowerPoint</Application>
  <PresentationFormat>Widescreen</PresentationFormat>
  <Paragraphs>217</Paragraphs>
  <Slides>35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0" baseType="lpstr">
      <vt:lpstr>Aptos</vt:lpstr>
      <vt:lpstr>Aptos Display</vt:lpstr>
      <vt:lpstr>Arial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Singletary, David S.</dc:creator>
  <cp:lastModifiedBy>Singletary, David S.</cp:lastModifiedBy>
  <cp:revision>25</cp:revision>
  <dcterms:created xsi:type="dcterms:W3CDTF">2025-03-04T14:52:01Z</dcterms:created>
  <dcterms:modified xsi:type="dcterms:W3CDTF">2025-03-06T23:57:05Z</dcterms:modified>
</cp:coreProperties>
</file>