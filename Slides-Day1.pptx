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77" r:id="rId2"/>
    <p:sldId id="257" r:id="rId3"/>
    <p:sldId id="278" r:id="rId4"/>
    <p:sldId id="261" r:id="rId5"/>
    <p:sldId id="279" r:id="rId6"/>
    <p:sldId id="266" r:id="rId7"/>
    <p:sldId id="280" r:id="rId8"/>
    <p:sldId id="281" r:id="rId9"/>
    <p:sldId id="283" r:id="rId10"/>
    <p:sldId id="282" r:id="rId11"/>
    <p:sldId id="262" r:id="rId12"/>
    <p:sldId id="268" r:id="rId13"/>
    <p:sldId id="263" r:id="rId14"/>
    <p:sldId id="269" r:id="rId15"/>
    <p:sldId id="264" r:id="rId16"/>
    <p:sldId id="270" r:id="rId17"/>
    <p:sldId id="265" r:id="rId18"/>
    <p:sldId id="271" r:id="rId19"/>
    <p:sldId id="272" r:id="rId20"/>
    <p:sldId id="274" r:id="rId21"/>
    <p:sldId id="276" r:id="rId22"/>
    <p:sldId id="273" r:id="rId23"/>
    <p:sldId id="275" r:id="rId24"/>
    <p:sldId id="284" r:id="rId25"/>
    <p:sldId id="285" r:id="rId26"/>
    <p:sldId id="286" r:id="rId27"/>
    <p:sldId id="287" r:id="rId28"/>
    <p:sldId id="288" r:id="rId29"/>
    <p:sldId id="289" r:id="rId30"/>
    <p:sldId id="290" r:id="rId31"/>
    <p:sldId id="291" r:id="rId32"/>
    <p:sldId id="29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123" autoAdjust="0"/>
  </p:normalViewPr>
  <p:slideViewPr>
    <p:cSldViewPr snapToGrid="0">
      <p:cViewPr varScale="1">
        <p:scale>
          <a:sx n="63" d="100"/>
          <a:sy n="63" d="100"/>
        </p:scale>
        <p:origin x="28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6287C1-7E9C-4D69-8005-B03B9EFC4376}" type="datetimeFigureOut">
              <a:rPr lang="en-US" smtClean="0"/>
              <a:t>2/26/2025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71A709-7DB7-492E-B774-C30A7044C218}" type="slidenum">
              <a:rPr lang="en-US" smtClean="0"/>
              <a:t>‹#›</a:t>
            </a:fld>
            <a:endParaRPr lang="en-US"/>
          </a:p>
        </p:txBody>
      </p:sp>
    </p:spTree>
    <p:extLst>
      <p:ext uri="{BB962C8B-B14F-4D97-AF65-F5344CB8AC3E}">
        <p14:creationId xmlns:p14="http://schemas.microsoft.com/office/powerpoint/2010/main" val="1778854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7D1C1-3107-3E97-F25E-607F52248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89A905-D6BD-1970-CFB7-B5DC6B9819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9D940D-ECEC-007D-83D0-71609C3D62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a:extLst>
              <a:ext uri="{FF2B5EF4-FFF2-40B4-BE49-F238E27FC236}">
                <a16:creationId xmlns:a16="http://schemas.microsoft.com/office/drawing/2014/main" id="{A589DDCD-B7F4-3725-A412-78733E3CE91A}"/>
              </a:ext>
            </a:extLst>
          </p:cNvPr>
          <p:cNvSpPr>
            <a:spLocks noGrp="1"/>
          </p:cNvSpPr>
          <p:nvPr>
            <p:ph type="sldNum" sz="quarter" idx="5"/>
          </p:nvPr>
        </p:nvSpPr>
        <p:spPr/>
        <p:txBody>
          <a:bodyPr/>
          <a:lstStyle/>
          <a:p>
            <a:fld id="{B571A709-7DB7-492E-B774-C30A7044C218}" type="slidenum">
              <a:rPr lang="en-US" smtClean="0"/>
              <a:t>3</a:t>
            </a:fld>
            <a:endParaRPr lang="en-US"/>
          </a:p>
        </p:txBody>
      </p:sp>
    </p:spTree>
    <p:extLst>
      <p:ext uri="{BB962C8B-B14F-4D97-AF65-F5344CB8AC3E}">
        <p14:creationId xmlns:p14="http://schemas.microsoft.com/office/powerpoint/2010/main" val="3166776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571A709-7DB7-492E-B774-C30A7044C218}" type="slidenum">
              <a:rPr lang="en-US" smtClean="0"/>
              <a:t>4</a:t>
            </a:fld>
            <a:endParaRPr lang="en-US"/>
          </a:p>
        </p:txBody>
      </p:sp>
    </p:spTree>
    <p:extLst>
      <p:ext uri="{BB962C8B-B14F-4D97-AF65-F5344CB8AC3E}">
        <p14:creationId xmlns:p14="http://schemas.microsoft.com/office/powerpoint/2010/main" val="3695043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33949-8EDB-494E-0778-1DB4DE5A5E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D9B710-C93B-E937-1CDA-1B946D6F6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6187C-607B-D7D9-86D9-D3059411B66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C3E1A8-43A5-813F-D8BA-D7F5385AEDD1}"/>
              </a:ext>
            </a:extLst>
          </p:cNvPr>
          <p:cNvSpPr>
            <a:spLocks noGrp="1"/>
          </p:cNvSpPr>
          <p:nvPr>
            <p:ph type="sldNum" sz="quarter" idx="5"/>
          </p:nvPr>
        </p:nvSpPr>
        <p:spPr/>
        <p:txBody>
          <a:bodyPr/>
          <a:lstStyle/>
          <a:p>
            <a:fld id="{B571A709-7DB7-492E-B774-C30A7044C218}" type="slidenum">
              <a:rPr lang="en-US" smtClean="0"/>
              <a:t>5</a:t>
            </a:fld>
            <a:endParaRPr lang="en-US"/>
          </a:p>
        </p:txBody>
      </p:sp>
    </p:spTree>
    <p:extLst>
      <p:ext uri="{BB962C8B-B14F-4D97-AF65-F5344CB8AC3E}">
        <p14:creationId xmlns:p14="http://schemas.microsoft.com/office/powerpoint/2010/main" val="3071150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C87BD-75C3-4F3C-49C6-F3FB20AE01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A3A58E0-44A6-0ABC-FD52-5C8F328C5F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7D7AE61-965F-93B8-8974-50E1FEBC9AA8}"/>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5" name="Footer Placeholder 4">
            <a:extLst>
              <a:ext uri="{FF2B5EF4-FFF2-40B4-BE49-F238E27FC236}">
                <a16:creationId xmlns:a16="http://schemas.microsoft.com/office/drawing/2014/main" id="{91EA7404-22DA-508D-D6DA-65D15E5BA6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2F024C-123D-4490-4D90-3373CAA2B61E}"/>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2778789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3B5DD-5C50-1F91-B93A-827C3B2097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9315959-7146-185E-C008-7433AEBC61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225BC0-61EA-E43E-05EF-9A70D61AA380}"/>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5" name="Footer Placeholder 4">
            <a:extLst>
              <a:ext uri="{FF2B5EF4-FFF2-40B4-BE49-F238E27FC236}">
                <a16:creationId xmlns:a16="http://schemas.microsoft.com/office/drawing/2014/main" id="{97ADA4B5-EC2B-372F-3A34-13192DF501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2AA889-D69E-E8D4-C1BE-998CA0AF731B}"/>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56582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88F2F-C230-75FE-533E-9E4CA08150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834CD7E-CBD8-52AF-283B-3E299F79A8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5A2F55-B473-2F80-0D12-51D945F24501}"/>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5" name="Footer Placeholder 4">
            <a:extLst>
              <a:ext uri="{FF2B5EF4-FFF2-40B4-BE49-F238E27FC236}">
                <a16:creationId xmlns:a16="http://schemas.microsoft.com/office/drawing/2014/main" id="{B2B1D4E3-90DD-A3D7-64D7-AD277CA58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35185B-7391-B8FD-BE07-8BF8DC94BF87}"/>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3623090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3BAA2-F074-B2B2-470C-7A436891E4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983E87-35E4-D3A4-3456-AD4522FD3E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DF6298-1189-B4B4-2BB9-C94A21223A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8556914-D79E-35C7-AD6F-B6AD9D1EA6B6}"/>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6" name="Footer Placeholder 5">
            <a:extLst>
              <a:ext uri="{FF2B5EF4-FFF2-40B4-BE49-F238E27FC236}">
                <a16:creationId xmlns:a16="http://schemas.microsoft.com/office/drawing/2014/main" id="{2806E966-37A3-EBFC-BE8E-EBB78C57BD1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6654B5-9AA8-8252-A86D-411BA33AF24D}"/>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3798075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766CB-0CE9-D2C0-F8E4-CAEC52C9C2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E0A9CD8-3A4C-3A6E-0815-401790DEAD6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2FF4AA7-A749-EDE4-6075-C870D141307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1B2047-3B61-0BA2-42B3-4F70D6187D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BEFDE8-094B-B5D6-A4D3-F7C8EB5A9A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BC5FA15-E189-8CE4-EA78-78B6E688884C}"/>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8" name="Footer Placeholder 7">
            <a:extLst>
              <a:ext uri="{FF2B5EF4-FFF2-40B4-BE49-F238E27FC236}">
                <a16:creationId xmlns:a16="http://schemas.microsoft.com/office/drawing/2014/main" id="{09DB951A-7747-6A09-D92C-C11B2D823B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F5B20C-56F5-3C59-A2B7-A1C8E989FA20}"/>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9902819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7C7B-8BEF-9803-D17D-04FBA633665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41EF248-D9BD-7267-6BDC-56EA83BEB0A2}"/>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4" name="Footer Placeholder 3">
            <a:extLst>
              <a:ext uri="{FF2B5EF4-FFF2-40B4-BE49-F238E27FC236}">
                <a16:creationId xmlns:a16="http://schemas.microsoft.com/office/drawing/2014/main" id="{BA29A1FF-D993-8ADF-3DC2-AC641A1972A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4B33CE6-33BF-57D1-9286-9747B361511A}"/>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3832012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884BE4B-7F83-1F3E-8A74-61A1AF01D5DB}"/>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3" name="Footer Placeholder 2">
            <a:extLst>
              <a:ext uri="{FF2B5EF4-FFF2-40B4-BE49-F238E27FC236}">
                <a16:creationId xmlns:a16="http://schemas.microsoft.com/office/drawing/2014/main" id="{0DA67A1D-9B17-0C16-F646-33D24FEC190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F5DBE0-A7C6-B1FE-A2D6-14C8812A0995}"/>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268107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8AC1C-069C-2200-8DCC-D2DDB3DA431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F14FAF8-76C3-7EA8-CB3F-6E549E2A5E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82D651-C212-3D52-64BA-B22F9A74D0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9B7D7C-54CD-8CB9-8F3D-4933A07BCAED}"/>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6" name="Footer Placeholder 5">
            <a:extLst>
              <a:ext uri="{FF2B5EF4-FFF2-40B4-BE49-F238E27FC236}">
                <a16:creationId xmlns:a16="http://schemas.microsoft.com/office/drawing/2014/main" id="{615F99EB-9C39-EBC4-E33C-6E99BEF1E0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964F18-68BA-057A-0CF5-2637AFDA65D3}"/>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995900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AD3C4-7228-8A05-86B0-DB4D5DC776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F80FD-1E71-B0C4-218F-D97B489348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3F3325-1405-8D88-D4A2-E61D94D3C6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3C2431-4BD1-164F-DBB2-F70EFF638672}"/>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6" name="Footer Placeholder 5">
            <a:extLst>
              <a:ext uri="{FF2B5EF4-FFF2-40B4-BE49-F238E27FC236}">
                <a16:creationId xmlns:a16="http://schemas.microsoft.com/office/drawing/2014/main" id="{09908AD9-4E95-3272-5B76-8D483F1576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F59B90-8525-A2F6-92EA-CFE29961278C}"/>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49717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EA6A7-BE66-BBC2-436A-050BD4B1CA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1AEF0F-B52C-40FF-10AE-008F9E58310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E324B1-E0B1-7C6E-8AC7-0C84150FC3A8}"/>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5" name="Footer Placeholder 4">
            <a:extLst>
              <a:ext uri="{FF2B5EF4-FFF2-40B4-BE49-F238E27FC236}">
                <a16:creationId xmlns:a16="http://schemas.microsoft.com/office/drawing/2014/main" id="{2C3F1D35-5E46-0820-B2C5-88E03D4C7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41E65F-B8D8-F12E-92CC-2F6B16A2A389}"/>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406154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3065E0-9C7F-659D-964A-ABA671FE4AF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4B61C1-871A-4D71-9CBF-8636EB1E5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326CCC-28C6-43D2-B3F1-F0FCB737C57A}"/>
              </a:ext>
            </a:extLst>
          </p:cNvPr>
          <p:cNvSpPr>
            <a:spLocks noGrp="1"/>
          </p:cNvSpPr>
          <p:nvPr>
            <p:ph type="dt" sz="half" idx="10"/>
          </p:nvPr>
        </p:nvSpPr>
        <p:spPr/>
        <p:txBody>
          <a:bodyPr/>
          <a:lstStyle/>
          <a:p>
            <a:fld id="{2F598FE8-610D-4628-AF37-AB11EA0DA6DB}" type="datetimeFigureOut">
              <a:rPr lang="en-US" smtClean="0"/>
              <a:t>2/26/2025</a:t>
            </a:fld>
            <a:endParaRPr lang="en-US"/>
          </a:p>
        </p:txBody>
      </p:sp>
      <p:sp>
        <p:nvSpPr>
          <p:cNvPr id="5" name="Footer Placeholder 4">
            <a:extLst>
              <a:ext uri="{FF2B5EF4-FFF2-40B4-BE49-F238E27FC236}">
                <a16:creationId xmlns:a16="http://schemas.microsoft.com/office/drawing/2014/main" id="{61631E17-7F10-3D91-063D-9C4C7C820F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51AE9A-AECA-369D-4FDB-4BB2B74A2395}"/>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28639215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1F4A38-F05C-3726-5F68-C14570CC9E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E05FBE3-E360-709B-A091-12F940EFD6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0D1F4-547C-74D9-39FE-DDA9345BC4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F598FE8-610D-4628-AF37-AB11EA0DA6DB}" type="datetimeFigureOut">
              <a:rPr lang="en-US" smtClean="0"/>
              <a:t>2/26/2025</a:t>
            </a:fld>
            <a:endParaRPr lang="en-US"/>
          </a:p>
        </p:txBody>
      </p:sp>
      <p:sp>
        <p:nvSpPr>
          <p:cNvPr id="5" name="Footer Placeholder 4">
            <a:extLst>
              <a:ext uri="{FF2B5EF4-FFF2-40B4-BE49-F238E27FC236}">
                <a16:creationId xmlns:a16="http://schemas.microsoft.com/office/drawing/2014/main" id="{8C25AAFF-BB80-8963-9031-C146310EB5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94434A2-6FEC-67DE-1064-BA538B7241A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416592-90E1-40DE-B7D6-0C05183E6B3B}" type="slidenum">
              <a:rPr lang="en-US" smtClean="0"/>
              <a:t>‹#›</a:t>
            </a:fld>
            <a:endParaRPr lang="en-US"/>
          </a:p>
        </p:txBody>
      </p:sp>
    </p:spTree>
    <p:extLst>
      <p:ext uri="{BB962C8B-B14F-4D97-AF65-F5344CB8AC3E}">
        <p14:creationId xmlns:p14="http://schemas.microsoft.com/office/powerpoint/2010/main" val="16999165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okta.com/resources/whitepaper-how-webauthn-works" TargetMode="External"/><Relationship Id="rId2" Type="http://schemas.openxmlformats.org/officeDocument/2006/relationships/hyperlink" Target="https://fidoalliance.org/fido2/"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csrc.nist.gov/projects/role-based-access-contro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peps.python.org/pep-0008/"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peps.python.org/pep-0008/#maximum-line-length" TargetMode="External"/><Relationship Id="rId2" Type="http://schemas.openxmlformats.org/officeDocument/2006/relationships/hyperlink" Target="https://peps.python.org/pep-0008/#indentation"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peps.python.org/pep-0008/#naming-conventions"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peps.python.org/pep-0008/#imports"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peps.python.org/pep-0008/#whitespace-in-expressions-and-statements"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peps.python.org/pep-0008/#programming-recommendations"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66666-D9FE-3086-84A5-CA53306779D3}"/>
              </a:ext>
            </a:extLst>
          </p:cNvPr>
          <p:cNvSpPr>
            <a:spLocks noGrp="1"/>
          </p:cNvSpPr>
          <p:nvPr>
            <p:ph type="ctrTitle"/>
          </p:nvPr>
        </p:nvSpPr>
        <p:spPr>
          <a:xfrm>
            <a:off x="1524000" y="1122363"/>
            <a:ext cx="9144000" cy="1954123"/>
          </a:xfrm>
        </p:spPr>
        <p:txBody>
          <a:bodyPr/>
          <a:lstStyle/>
          <a:p>
            <a:r>
              <a:rPr lang="en-US"/>
              <a:t>Summer Working </a:t>
            </a:r>
            <a:br>
              <a:rPr lang="en-US"/>
            </a:br>
            <a:r>
              <a:rPr lang="en-US"/>
              <a:t>Connections 2025</a:t>
            </a:r>
          </a:p>
        </p:txBody>
      </p:sp>
      <p:sp>
        <p:nvSpPr>
          <p:cNvPr id="3" name="Content Placeholder 2">
            <a:extLst>
              <a:ext uri="{FF2B5EF4-FFF2-40B4-BE49-F238E27FC236}">
                <a16:creationId xmlns:a16="http://schemas.microsoft.com/office/drawing/2014/main" id="{07E93A22-5590-167F-C6F6-931DFC52B0B4}"/>
              </a:ext>
            </a:extLst>
          </p:cNvPr>
          <p:cNvSpPr>
            <a:spLocks noGrp="1"/>
          </p:cNvSpPr>
          <p:nvPr>
            <p:ph type="subTitle" idx="1"/>
          </p:nvPr>
        </p:nvSpPr>
        <p:spPr>
          <a:xfrm>
            <a:off x="1524000" y="3602037"/>
            <a:ext cx="9144000" cy="2516751"/>
          </a:xfrm>
        </p:spPr>
        <p:txBody>
          <a:bodyPr>
            <a:normAutofit lnSpcReduction="10000"/>
          </a:bodyPr>
          <a:lstStyle/>
          <a:p>
            <a:r>
              <a:rPr lang="en-US" sz="4000"/>
              <a:t>Secure Coding with Python</a:t>
            </a:r>
          </a:p>
          <a:p>
            <a:endParaRPr lang="en-US" sz="4000"/>
          </a:p>
          <a:p>
            <a:r>
              <a:rPr lang="en-US" sz="4000"/>
              <a:t>Pamela Brauda</a:t>
            </a:r>
          </a:p>
          <a:p>
            <a:r>
              <a:rPr lang="en-US" sz="4000"/>
              <a:t>David Singletary</a:t>
            </a:r>
          </a:p>
        </p:txBody>
      </p:sp>
    </p:spTree>
    <p:extLst>
      <p:ext uri="{BB962C8B-B14F-4D97-AF65-F5344CB8AC3E}">
        <p14:creationId xmlns:p14="http://schemas.microsoft.com/office/powerpoint/2010/main" val="4102376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97F16-438D-E2BB-15E9-351E46D69F3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6DC7AB0-26E7-E607-EE13-E50D1E1C2B9D}"/>
              </a:ext>
            </a:extLst>
          </p:cNvPr>
          <p:cNvSpPr>
            <a:spLocks noGrp="1"/>
          </p:cNvSpPr>
          <p:nvPr>
            <p:ph type="title"/>
          </p:nvPr>
        </p:nvSpPr>
        <p:spPr>
          <a:xfrm>
            <a:off x="838200" y="256848"/>
            <a:ext cx="10515600" cy="848378"/>
          </a:xfrm>
        </p:spPr>
        <p:txBody>
          <a:bodyPr/>
          <a:lstStyle/>
          <a:p>
            <a:r>
              <a:rPr lang="en-US"/>
              <a:t>Day 1: Introductory Topics</a:t>
            </a:r>
          </a:p>
        </p:txBody>
      </p:sp>
      <p:sp>
        <p:nvSpPr>
          <p:cNvPr id="11" name="Content Placeholder 10">
            <a:extLst>
              <a:ext uri="{FF2B5EF4-FFF2-40B4-BE49-F238E27FC236}">
                <a16:creationId xmlns:a16="http://schemas.microsoft.com/office/drawing/2014/main" id="{60C9BA69-1281-F21D-8694-00344F343EC7}"/>
              </a:ext>
            </a:extLst>
          </p:cNvPr>
          <p:cNvSpPr>
            <a:spLocks noGrp="1"/>
          </p:cNvSpPr>
          <p:nvPr>
            <p:ph idx="1"/>
          </p:nvPr>
        </p:nvSpPr>
        <p:spPr>
          <a:xfrm>
            <a:off x="838200" y="1375873"/>
            <a:ext cx="10515600" cy="4801090"/>
          </a:xfrm>
        </p:spPr>
        <p:txBody>
          <a:bodyPr>
            <a:normAutofit/>
          </a:bodyPr>
          <a:lstStyle/>
          <a:p>
            <a:pPr marL="282575" indent="-282575"/>
            <a:r>
              <a:rPr lang="en-US" sz="3200"/>
              <a:t>1. GitHub</a:t>
            </a:r>
          </a:p>
          <a:p>
            <a:pPr marL="739775" lvl="1" indent="-282575"/>
            <a:r>
              <a:rPr lang="en-US" sz="2800"/>
              <a:t>Best practices for version control in secure development.</a:t>
            </a:r>
          </a:p>
          <a:p>
            <a:pPr marL="282575" indent="-282575"/>
            <a:r>
              <a:rPr lang="en-US" sz="3200"/>
              <a:t>2. Secure Coding Environments</a:t>
            </a:r>
          </a:p>
          <a:p>
            <a:pPr marL="739775" lvl="1" indent="-282575"/>
            <a:r>
              <a:rPr lang="en-US" sz="2800"/>
              <a:t>Jupyter Notebooks and Google Colab</a:t>
            </a:r>
          </a:p>
          <a:p>
            <a:pPr marL="739775" lvl="1" indent="-282575"/>
            <a:r>
              <a:rPr lang="en-US" sz="2800"/>
              <a:t>Use notebooks for secure data analysis</a:t>
            </a:r>
          </a:p>
          <a:p>
            <a:pPr marL="282575" indent="-282575"/>
            <a:r>
              <a:rPr lang="en-US" sz="3200"/>
              <a:t>3. Secure Coding Basics</a:t>
            </a:r>
          </a:p>
          <a:p>
            <a:pPr marL="739775" lvl="1" indent="-282575"/>
            <a:r>
              <a:rPr lang="en-US" sz="2800"/>
              <a:t>Input validation</a:t>
            </a:r>
          </a:p>
          <a:p>
            <a:pPr marL="739775" lvl="1" indent="-282575"/>
            <a:r>
              <a:rPr lang="en-US" sz="2800"/>
              <a:t>Python coding style guidelines for maintainable code</a:t>
            </a:r>
          </a:p>
        </p:txBody>
      </p:sp>
    </p:spTree>
    <p:extLst>
      <p:ext uri="{BB962C8B-B14F-4D97-AF65-F5344CB8AC3E}">
        <p14:creationId xmlns:p14="http://schemas.microsoft.com/office/powerpoint/2010/main" val="4203455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EDA66-9776-DF72-BB1A-73A50CAE075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CC779B4-3594-DB91-27A3-28F1C86DE4AD}"/>
              </a:ext>
            </a:extLst>
          </p:cNvPr>
          <p:cNvSpPr>
            <a:spLocks noGrp="1"/>
          </p:cNvSpPr>
          <p:nvPr>
            <p:ph type="title"/>
          </p:nvPr>
        </p:nvSpPr>
        <p:spPr>
          <a:xfrm>
            <a:off x="838200" y="256848"/>
            <a:ext cx="10515600" cy="848378"/>
          </a:xfrm>
        </p:spPr>
        <p:txBody>
          <a:bodyPr>
            <a:noAutofit/>
          </a:bodyPr>
          <a:lstStyle/>
          <a:p>
            <a:r>
              <a:rPr lang="en-US"/>
              <a:t>Introduction to Secure Version Control</a:t>
            </a:r>
          </a:p>
        </p:txBody>
      </p:sp>
      <p:sp>
        <p:nvSpPr>
          <p:cNvPr id="11" name="Content Placeholder 10">
            <a:extLst>
              <a:ext uri="{FF2B5EF4-FFF2-40B4-BE49-F238E27FC236}">
                <a16:creationId xmlns:a16="http://schemas.microsoft.com/office/drawing/2014/main" id="{3FBDD9F2-2560-FE55-0FAE-2B2B9DAE6391}"/>
              </a:ext>
            </a:extLst>
          </p:cNvPr>
          <p:cNvSpPr>
            <a:spLocks noGrp="1"/>
          </p:cNvSpPr>
          <p:nvPr>
            <p:ph idx="1"/>
          </p:nvPr>
        </p:nvSpPr>
        <p:spPr>
          <a:xfrm>
            <a:off x="838200" y="1375873"/>
            <a:ext cx="10515600" cy="4801090"/>
          </a:xfrm>
        </p:spPr>
        <p:txBody>
          <a:bodyPr>
            <a:normAutofit fontScale="92500"/>
          </a:bodyPr>
          <a:lstStyle/>
          <a:p>
            <a:pPr marL="282575" indent="-282575"/>
            <a:r>
              <a:rPr lang="en-US" sz="3200"/>
              <a:t>Git and GitHub allow students to learn secure coding practices, conduct peer reviews, and detect vulnerabilities early in the development cycle. </a:t>
            </a:r>
          </a:p>
          <a:p>
            <a:pPr marL="282575" indent="-282575"/>
            <a:r>
              <a:rPr lang="en-US" sz="3200"/>
              <a:t>Multiple contributors can work on projects without conflicts.</a:t>
            </a:r>
          </a:p>
          <a:p>
            <a:pPr marL="282575" indent="-282575"/>
            <a:r>
              <a:rPr lang="en-US" sz="3200"/>
              <a:t>Improves reproducibility by offering transparency and traceability in research projects.</a:t>
            </a:r>
          </a:p>
          <a:p>
            <a:pPr marL="282575" indent="-282575"/>
            <a:r>
              <a:rPr lang="en-US" sz="3200"/>
              <a:t>Enforces access control and permissions by restricting  unauthorized modifications using protected branches.</a:t>
            </a:r>
          </a:p>
          <a:p>
            <a:pPr marL="282575" indent="-282575"/>
            <a:r>
              <a:rPr lang="en-US" sz="3200"/>
              <a:t>Encourages structured, versioned, and well-documented coding workflows.</a:t>
            </a:r>
          </a:p>
        </p:txBody>
      </p:sp>
    </p:spTree>
    <p:extLst>
      <p:ext uri="{BB962C8B-B14F-4D97-AF65-F5344CB8AC3E}">
        <p14:creationId xmlns:p14="http://schemas.microsoft.com/office/powerpoint/2010/main" val="3584772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26A29-E9E8-E800-8EE4-C7FB89218AA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A738EF3A-69D2-8208-732E-8886B09F4BA9}"/>
              </a:ext>
            </a:extLst>
          </p:cNvPr>
          <p:cNvSpPr>
            <a:spLocks noGrp="1"/>
          </p:cNvSpPr>
          <p:nvPr>
            <p:ph type="title"/>
          </p:nvPr>
        </p:nvSpPr>
        <p:spPr>
          <a:xfrm>
            <a:off x="838200" y="256848"/>
            <a:ext cx="10515600" cy="848378"/>
          </a:xfrm>
        </p:spPr>
        <p:txBody>
          <a:bodyPr>
            <a:noAutofit/>
          </a:bodyPr>
          <a:lstStyle/>
          <a:p>
            <a:r>
              <a:rPr lang="en-US"/>
              <a:t>Introduction to Secure Version Control</a:t>
            </a:r>
          </a:p>
        </p:txBody>
      </p:sp>
      <p:sp>
        <p:nvSpPr>
          <p:cNvPr id="11" name="Content Placeholder 10">
            <a:extLst>
              <a:ext uri="{FF2B5EF4-FFF2-40B4-BE49-F238E27FC236}">
                <a16:creationId xmlns:a16="http://schemas.microsoft.com/office/drawing/2014/main" id="{E27ED3A1-933E-BDC2-7A15-5340A66814AE}"/>
              </a:ext>
            </a:extLst>
          </p:cNvPr>
          <p:cNvSpPr>
            <a:spLocks noGrp="1"/>
          </p:cNvSpPr>
          <p:nvPr>
            <p:ph idx="1"/>
          </p:nvPr>
        </p:nvSpPr>
        <p:spPr>
          <a:xfrm>
            <a:off x="838200" y="1204957"/>
            <a:ext cx="10515600" cy="4972006"/>
          </a:xfrm>
        </p:spPr>
        <p:txBody>
          <a:bodyPr>
            <a:normAutofit fontScale="62500" lnSpcReduction="20000"/>
          </a:bodyPr>
          <a:lstStyle/>
          <a:p>
            <a:pPr marL="282575" indent="-282575"/>
            <a:r>
              <a:rPr lang="en-US" sz="3200" b="1"/>
              <a:t>Git</a:t>
            </a:r>
            <a:r>
              <a:rPr lang="en-US" sz="3200"/>
              <a:t> ensures code changes are tracked, managed, and reviewed systematically for security and accountability.</a:t>
            </a:r>
          </a:p>
          <a:p>
            <a:pPr marL="282575" indent="-282575"/>
            <a:r>
              <a:rPr lang="en-US" sz="3200"/>
              <a:t>Branching and merging allow teams to develop features and security patches separately before integrating them into the main codebase.</a:t>
            </a:r>
          </a:p>
          <a:p>
            <a:pPr marL="282575" indent="-282575"/>
            <a:r>
              <a:rPr lang="en-US" sz="3200"/>
              <a:t>Commit history and diffs provide visibility into changes, helping to identify and prevent security vulnerabilities.</a:t>
            </a:r>
          </a:p>
          <a:p>
            <a:pPr marL="282575" indent="-282575"/>
            <a:r>
              <a:rPr lang="en-US" sz="3200"/>
              <a:t>Rollback and recovery capabilities enable reverting to previous versions to mitigate security breaches or accidental changes.</a:t>
            </a:r>
          </a:p>
          <a:p>
            <a:pPr marL="282575" indent="-282575"/>
            <a:endParaRPr lang="en-US" sz="1600"/>
          </a:p>
          <a:p>
            <a:pPr marL="282575" indent="-282575"/>
            <a:r>
              <a:rPr lang="en-US" sz="3200" b="1"/>
              <a:t>GitHub</a:t>
            </a:r>
            <a:r>
              <a:rPr lang="en-US" sz="3200"/>
              <a:t> provides cloud-based tools for managing repositories, enforcing security policies, and controlling access.</a:t>
            </a:r>
          </a:p>
          <a:p>
            <a:pPr marL="282575" indent="-282575"/>
            <a:r>
              <a:rPr lang="en-US" sz="3200"/>
              <a:t>Pull requests and code reviews ensure changes are reviewed by peers before merging, reducing the risk of introducing vulnerabilities.</a:t>
            </a:r>
          </a:p>
          <a:p>
            <a:pPr marL="282575" indent="-282575"/>
            <a:r>
              <a:rPr lang="en-US" sz="3200"/>
              <a:t>Security tools in GitHub (e.g., Dependabot, secret scanning, code scanning) help detect vulnerabilities in dependencies and source code.</a:t>
            </a:r>
          </a:p>
          <a:p>
            <a:pPr marL="282575" indent="-282575"/>
            <a:r>
              <a:rPr lang="en-US" sz="3200"/>
              <a:t>Access controls and compliance features, such as protected branches and role-based permissions, enforce secure coding practices and industry standards.</a:t>
            </a:r>
          </a:p>
        </p:txBody>
      </p:sp>
    </p:spTree>
    <p:extLst>
      <p:ext uri="{BB962C8B-B14F-4D97-AF65-F5344CB8AC3E}">
        <p14:creationId xmlns:p14="http://schemas.microsoft.com/office/powerpoint/2010/main" val="3067652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28146-386D-8E56-4610-EC70327B2F6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BDE352B-D371-09DE-8239-41C7C9EE0BF8}"/>
              </a:ext>
            </a:extLst>
          </p:cNvPr>
          <p:cNvSpPr>
            <a:spLocks noGrp="1"/>
          </p:cNvSpPr>
          <p:nvPr>
            <p:ph type="title"/>
          </p:nvPr>
        </p:nvSpPr>
        <p:spPr>
          <a:xfrm>
            <a:off x="838200" y="256848"/>
            <a:ext cx="10515600" cy="848378"/>
          </a:xfrm>
        </p:spPr>
        <p:txBody>
          <a:bodyPr>
            <a:noAutofit/>
          </a:bodyPr>
          <a:lstStyle/>
          <a:p>
            <a:r>
              <a:rPr lang="en-US"/>
              <a:t>Introduction to Secure Version Control</a:t>
            </a:r>
          </a:p>
        </p:txBody>
      </p:sp>
      <p:sp>
        <p:nvSpPr>
          <p:cNvPr id="11" name="Content Placeholder 10">
            <a:extLst>
              <a:ext uri="{FF2B5EF4-FFF2-40B4-BE49-F238E27FC236}">
                <a16:creationId xmlns:a16="http://schemas.microsoft.com/office/drawing/2014/main" id="{2DE612B2-F3BE-E853-3504-5285543090BB}"/>
              </a:ext>
            </a:extLst>
          </p:cNvPr>
          <p:cNvSpPr>
            <a:spLocks noGrp="1"/>
          </p:cNvSpPr>
          <p:nvPr>
            <p:ph idx="1"/>
          </p:nvPr>
        </p:nvSpPr>
        <p:spPr>
          <a:xfrm>
            <a:off x="838200" y="1375873"/>
            <a:ext cx="10515600" cy="4801090"/>
          </a:xfrm>
        </p:spPr>
        <p:txBody>
          <a:bodyPr>
            <a:normAutofit/>
          </a:bodyPr>
          <a:lstStyle/>
          <a:p>
            <a:pPr marL="282575" indent="-282575"/>
            <a:r>
              <a:rPr lang="en-US" sz="3200"/>
              <a:t>Hands-on: Setting up a secure GitHub repository (private vs. public), using Dependabot to scan dependencies.</a:t>
            </a:r>
          </a:p>
        </p:txBody>
      </p:sp>
    </p:spTree>
    <p:extLst>
      <p:ext uri="{BB962C8B-B14F-4D97-AF65-F5344CB8AC3E}">
        <p14:creationId xmlns:p14="http://schemas.microsoft.com/office/powerpoint/2010/main" val="841127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22FA-BF5E-B7F1-D91A-5A606E802A5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8F4D0FA-4DB9-5FE3-68BF-65779AB1726E}"/>
              </a:ext>
            </a:extLst>
          </p:cNvPr>
          <p:cNvSpPr>
            <a:spLocks noGrp="1"/>
          </p:cNvSpPr>
          <p:nvPr>
            <p:ph type="title"/>
          </p:nvPr>
        </p:nvSpPr>
        <p:spPr>
          <a:xfrm>
            <a:off x="838200" y="256848"/>
            <a:ext cx="10515600" cy="848378"/>
          </a:xfrm>
        </p:spPr>
        <p:txBody>
          <a:bodyPr>
            <a:noAutofit/>
          </a:bodyPr>
          <a:lstStyle/>
          <a:p>
            <a:r>
              <a:rPr lang="en-US"/>
              <a:t>Secure Repository Setup</a:t>
            </a:r>
          </a:p>
        </p:txBody>
      </p:sp>
      <p:sp>
        <p:nvSpPr>
          <p:cNvPr id="11" name="Content Placeholder 10">
            <a:extLst>
              <a:ext uri="{FF2B5EF4-FFF2-40B4-BE49-F238E27FC236}">
                <a16:creationId xmlns:a16="http://schemas.microsoft.com/office/drawing/2014/main" id="{2AC7221F-3719-6F7E-CD7F-EBB2694336B3}"/>
              </a:ext>
            </a:extLst>
          </p:cNvPr>
          <p:cNvSpPr>
            <a:spLocks noGrp="1"/>
          </p:cNvSpPr>
          <p:nvPr>
            <p:ph idx="1"/>
          </p:nvPr>
        </p:nvSpPr>
        <p:spPr>
          <a:xfrm>
            <a:off x="838200" y="1203960"/>
            <a:ext cx="10515600" cy="4973003"/>
          </a:xfrm>
        </p:spPr>
        <p:txBody>
          <a:bodyPr>
            <a:normAutofit fontScale="92500"/>
          </a:bodyPr>
          <a:lstStyle/>
          <a:p>
            <a:pPr marL="282575" indent="-282575">
              <a:lnSpc>
                <a:spcPct val="120000"/>
              </a:lnSpc>
            </a:pPr>
            <a:r>
              <a:rPr lang="en-US" sz="2400"/>
              <a:t>GitHub uses Multi-Factor Authentication (MFA) to enhance account security by requiring users to provide an additional verification factor beyond their password. </a:t>
            </a:r>
          </a:p>
          <a:p>
            <a:pPr marL="282575" indent="-282575">
              <a:lnSpc>
                <a:spcPct val="120000"/>
              </a:lnSpc>
            </a:pPr>
            <a:r>
              <a:rPr lang="en-US" sz="2400"/>
              <a:t>Users can enable MFA through time-based one-time passwords (TOTP) generated by authenticator apps like Google Authenticator or Authy, security keys that support </a:t>
            </a:r>
            <a:r>
              <a:rPr lang="en-US" sz="2400">
                <a:hlinkClick r:id="rId2"/>
              </a:rPr>
              <a:t>FIDO2</a:t>
            </a:r>
            <a:r>
              <a:rPr lang="en-US" sz="2400"/>
              <a:t>/</a:t>
            </a:r>
            <a:r>
              <a:rPr lang="en-US" sz="2400">
                <a:hlinkClick r:id="rId3"/>
              </a:rPr>
              <a:t>WebAuthn</a:t>
            </a:r>
            <a:r>
              <a:rPr lang="en-US" sz="2400"/>
              <a:t>, or SMS-based authentication (less recommended due to security concerns). </a:t>
            </a:r>
          </a:p>
          <a:p>
            <a:pPr marL="282575" indent="-282575">
              <a:lnSpc>
                <a:spcPct val="120000"/>
              </a:lnSpc>
            </a:pPr>
            <a:r>
              <a:rPr lang="en-US" sz="2400"/>
              <a:t>Once enabled, MFA is required during login and when performing sensitive actions, such as modifying account settings or accessing repositories with heightened security policies. </a:t>
            </a:r>
          </a:p>
          <a:p>
            <a:pPr marL="282575" indent="-282575">
              <a:lnSpc>
                <a:spcPct val="120000"/>
              </a:lnSpc>
            </a:pPr>
            <a:r>
              <a:rPr lang="en-US" sz="2400"/>
              <a:t>Additionally, GitHub allows organizations to enforce MFA for members, ensuring stronger protection for repositories and codebases.</a:t>
            </a:r>
          </a:p>
        </p:txBody>
      </p:sp>
    </p:spTree>
    <p:extLst>
      <p:ext uri="{BB962C8B-B14F-4D97-AF65-F5344CB8AC3E}">
        <p14:creationId xmlns:p14="http://schemas.microsoft.com/office/powerpoint/2010/main" val="30640090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39206-2367-8448-5F56-EC04C277B0BB}"/>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F8E37B1-8F69-00AC-0ADB-937DB05A80D0}"/>
              </a:ext>
            </a:extLst>
          </p:cNvPr>
          <p:cNvSpPr>
            <a:spLocks noGrp="1"/>
          </p:cNvSpPr>
          <p:nvPr>
            <p:ph type="title"/>
          </p:nvPr>
        </p:nvSpPr>
        <p:spPr>
          <a:xfrm>
            <a:off x="838200" y="256848"/>
            <a:ext cx="10515600" cy="848378"/>
          </a:xfrm>
        </p:spPr>
        <p:txBody>
          <a:bodyPr>
            <a:noAutofit/>
          </a:bodyPr>
          <a:lstStyle/>
          <a:p>
            <a:r>
              <a:rPr lang="en-US"/>
              <a:t>Role-Based Access Control (RBAC)</a:t>
            </a:r>
          </a:p>
        </p:txBody>
      </p:sp>
      <p:sp>
        <p:nvSpPr>
          <p:cNvPr id="11" name="Content Placeholder 10">
            <a:extLst>
              <a:ext uri="{FF2B5EF4-FFF2-40B4-BE49-F238E27FC236}">
                <a16:creationId xmlns:a16="http://schemas.microsoft.com/office/drawing/2014/main" id="{063D6459-4107-9FB7-79D6-709B5E33D57B}"/>
              </a:ext>
            </a:extLst>
          </p:cNvPr>
          <p:cNvSpPr>
            <a:spLocks noGrp="1"/>
          </p:cNvSpPr>
          <p:nvPr>
            <p:ph idx="1"/>
          </p:nvPr>
        </p:nvSpPr>
        <p:spPr>
          <a:xfrm>
            <a:off x="838200" y="1242060"/>
            <a:ext cx="10515600" cy="4934903"/>
          </a:xfrm>
        </p:spPr>
        <p:txBody>
          <a:bodyPr>
            <a:normAutofit fontScale="85000" lnSpcReduction="20000"/>
          </a:bodyPr>
          <a:lstStyle/>
          <a:p>
            <a:pPr marL="282575" indent="-282575">
              <a:lnSpc>
                <a:spcPct val="110000"/>
              </a:lnSpc>
            </a:pPr>
            <a:r>
              <a:rPr lang="en-US" sz="3200">
                <a:hlinkClick r:id="rId2"/>
              </a:rPr>
              <a:t>RBAC</a:t>
            </a:r>
            <a:r>
              <a:rPr lang="en-US" sz="3200"/>
              <a:t> is a security model that restricts system access based on predefined roles assigned to users, ensuring they have only the necessary permissions to perform their tasks. </a:t>
            </a:r>
          </a:p>
          <a:p>
            <a:pPr marL="282575" indent="-282575">
              <a:lnSpc>
                <a:spcPct val="110000"/>
              </a:lnSpc>
            </a:pPr>
            <a:r>
              <a:rPr lang="en-US" sz="3200"/>
              <a:t>Instead of granting individual permissions directly, RBAC assigns permissions to roles, which are then assigned to users, simplifying access management and reducing security risks. </a:t>
            </a:r>
          </a:p>
          <a:p>
            <a:pPr marL="282575" indent="-282575">
              <a:lnSpc>
                <a:spcPct val="110000"/>
              </a:lnSpc>
            </a:pPr>
            <a:r>
              <a:rPr lang="en-US" sz="3200"/>
              <a:t>Originally formalized by NIST, RBAC is widely used in enterprise environments, databases, operating systems, and cloud platforms to enforce least privilege and improve compliance with security policies. </a:t>
            </a:r>
          </a:p>
          <a:p>
            <a:pPr marL="282575" indent="-282575">
              <a:lnSpc>
                <a:spcPct val="110000"/>
              </a:lnSpc>
            </a:pPr>
            <a:r>
              <a:rPr lang="en-US" sz="3200"/>
              <a:t>It helps organizations efficiently manage user access, streamline administrative tasks, and minimize the risk of unauthorized actions.</a:t>
            </a:r>
          </a:p>
        </p:txBody>
      </p:sp>
    </p:spTree>
    <p:extLst>
      <p:ext uri="{BB962C8B-B14F-4D97-AF65-F5344CB8AC3E}">
        <p14:creationId xmlns:p14="http://schemas.microsoft.com/office/powerpoint/2010/main" val="1181577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BC51-6305-0FEF-38F0-62A4D5A402F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5BA03EF-AAD4-364C-9EC8-2426758D5626}"/>
              </a:ext>
            </a:extLst>
          </p:cNvPr>
          <p:cNvSpPr>
            <a:spLocks noGrp="1"/>
          </p:cNvSpPr>
          <p:nvPr>
            <p:ph type="title"/>
          </p:nvPr>
        </p:nvSpPr>
        <p:spPr>
          <a:xfrm>
            <a:off x="838200" y="256848"/>
            <a:ext cx="10515600" cy="848378"/>
          </a:xfrm>
        </p:spPr>
        <p:txBody>
          <a:bodyPr>
            <a:noAutofit/>
          </a:bodyPr>
          <a:lstStyle/>
          <a:p>
            <a:r>
              <a:rPr lang="en-US"/>
              <a:t>Student Repository Roles</a:t>
            </a:r>
          </a:p>
        </p:txBody>
      </p:sp>
      <p:sp>
        <p:nvSpPr>
          <p:cNvPr id="11" name="Content Placeholder 10">
            <a:extLst>
              <a:ext uri="{FF2B5EF4-FFF2-40B4-BE49-F238E27FC236}">
                <a16:creationId xmlns:a16="http://schemas.microsoft.com/office/drawing/2014/main" id="{DD29C7A3-9A45-A9C6-D189-C76B79E6CCDA}"/>
              </a:ext>
            </a:extLst>
          </p:cNvPr>
          <p:cNvSpPr>
            <a:spLocks noGrp="1"/>
          </p:cNvSpPr>
          <p:nvPr>
            <p:ph idx="1"/>
          </p:nvPr>
        </p:nvSpPr>
        <p:spPr>
          <a:xfrm>
            <a:off x="838200" y="1375873"/>
            <a:ext cx="10515600" cy="4801090"/>
          </a:xfrm>
        </p:spPr>
        <p:txBody>
          <a:bodyPr>
            <a:normAutofit fontScale="77500" lnSpcReduction="20000"/>
          </a:bodyPr>
          <a:lstStyle/>
          <a:p>
            <a:pPr marL="282575" indent="-282575">
              <a:lnSpc>
                <a:spcPct val="110000"/>
              </a:lnSpc>
            </a:pPr>
            <a:r>
              <a:rPr lang="en-US" sz="3200"/>
              <a:t>It is essential to balance access control with collaborative learning when using GitHub in a classroom environment. </a:t>
            </a:r>
          </a:p>
          <a:p>
            <a:pPr marL="282575" indent="-282575">
              <a:lnSpc>
                <a:spcPct val="110000"/>
              </a:lnSpc>
            </a:pPr>
            <a:r>
              <a:rPr lang="en-US" sz="3200"/>
              <a:t>The goal is to promote collaboration while maintaining the integrity of the repository and preventing accidental or unauthorized modifications.</a:t>
            </a:r>
          </a:p>
          <a:p>
            <a:pPr marL="282575" indent="-282575">
              <a:lnSpc>
                <a:spcPct val="110000"/>
              </a:lnSpc>
            </a:pPr>
            <a:r>
              <a:rPr lang="en-US" sz="3200"/>
              <a:t>Instructors can assign Read access to students who only need to view a repository, Write access for those contributing code without merging, and Maintain or Admin roles for team leads or advanced students managing repository settings. </a:t>
            </a:r>
          </a:p>
          <a:p>
            <a:pPr marL="282575" indent="-282575">
              <a:lnSpc>
                <a:spcPct val="110000"/>
              </a:lnSpc>
            </a:pPr>
            <a:r>
              <a:rPr lang="en-US" sz="3200"/>
              <a:t>Branch protection rules allows instructors to ensure students follow proper version control workflows, such as requiring pull requests and code reviews before merging. </a:t>
            </a:r>
          </a:p>
        </p:txBody>
      </p:sp>
    </p:spTree>
    <p:extLst>
      <p:ext uri="{BB962C8B-B14F-4D97-AF65-F5344CB8AC3E}">
        <p14:creationId xmlns:p14="http://schemas.microsoft.com/office/powerpoint/2010/main" val="4167986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C363B-5E6C-097D-B9A3-201AD641469C}"/>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71EF1A4-2618-2390-1F9F-0868824453F8}"/>
              </a:ext>
            </a:extLst>
          </p:cNvPr>
          <p:cNvSpPr>
            <a:spLocks noGrp="1"/>
          </p:cNvSpPr>
          <p:nvPr>
            <p:ph type="title"/>
          </p:nvPr>
        </p:nvSpPr>
        <p:spPr>
          <a:xfrm>
            <a:off x="838200" y="256848"/>
            <a:ext cx="10515600" cy="848378"/>
          </a:xfrm>
        </p:spPr>
        <p:txBody>
          <a:bodyPr>
            <a:noAutofit/>
          </a:bodyPr>
          <a:lstStyle/>
          <a:p>
            <a:r>
              <a:rPr lang="en-US" sz="4000"/>
              <a:t>How to Create Branch Protection Rules in GitHub</a:t>
            </a:r>
          </a:p>
        </p:txBody>
      </p:sp>
      <p:sp>
        <p:nvSpPr>
          <p:cNvPr id="11" name="Content Placeholder 10">
            <a:extLst>
              <a:ext uri="{FF2B5EF4-FFF2-40B4-BE49-F238E27FC236}">
                <a16:creationId xmlns:a16="http://schemas.microsoft.com/office/drawing/2014/main" id="{61D52030-DF36-48B0-CF4C-BD540C668ED1}"/>
              </a:ext>
            </a:extLst>
          </p:cNvPr>
          <p:cNvSpPr>
            <a:spLocks noGrp="1"/>
          </p:cNvSpPr>
          <p:nvPr>
            <p:ph idx="1"/>
          </p:nvPr>
        </p:nvSpPr>
        <p:spPr>
          <a:xfrm>
            <a:off x="838200" y="1105226"/>
            <a:ext cx="10515600" cy="5495925"/>
          </a:xfrm>
        </p:spPr>
        <p:txBody>
          <a:bodyPr>
            <a:normAutofit fontScale="55000" lnSpcReduction="20000"/>
          </a:bodyPr>
          <a:lstStyle/>
          <a:p>
            <a:pPr marL="282575" indent="-282575">
              <a:lnSpc>
                <a:spcPct val="110000"/>
              </a:lnSpc>
            </a:pPr>
            <a:r>
              <a:rPr lang="en-US" sz="3200"/>
              <a:t>Branch protection rules in GitHub help enforce version control best practices by restricting direct changes to important branches. To set them up:</a:t>
            </a:r>
          </a:p>
          <a:p>
            <a:pPr marL="282575" indent="-282575">
              <a:lnSpc>
                <a:spcPct val="110000"/>
              </a:lnSpc>
            </a:pPr>
            <a:r>
              <a:rPr lang="en-US" sz="3200"/>
              <a:t>1️⃣ to your repository on GitHub. Click on the "Settings" tab.In the left sidebar, under "Code and automation", click "Branches".</a:t>
            </a:r>
          </a:p>
          <a:p>
            <a:pPr marL="282575" indent="-282575">
              <a:lnSpc>
                <a:spcPct val="110000"/>
              </a:lnSpc>
            </a:pPr>
            <a:r>
              <a:rPr lang="en-US" sz="3200"/>
              <a:t>2️⃣In the "Branch protection rules" section, click "Add rule". In the "Branch name pattern" field, enter the branch name you want to protect (e.g., main, develop, or use wildcards like feature/*).</a:t>
            </a:r>
          </a:p>
          <a:p>
            <a:pPr marL="282575" indent="-282575">
              <a:lnSpc>
                <a:spcPct val="110000"/>
              </a:lnSpc>
            </a:pPr>
            <a:r>
              <a:rPr lang="en-US" sz="3200"/>
              <a:t>3️⃣ Select Protection Options</a:t>
            </a:r>
          </a:p>
          <a:p>
            <a:pPr marL="282575" indent="-282575">
              <a:lnSpc>
                <a:spcPct val="110000"/>
              </a:lnSpc>
            </a:pPr>
            <a:r>
              <a:rPr lang="en-US" sz="3200"/>
              <a:t>GitHub provides several protection rules you can enable:</a:t>
            </a:r>
          </a:p>
          <a:p>
            <a:pPr marL="739775" lvl="1" indent="-282575">
              <a:lnSpc>
                <a:spcPct val="110000"/>
              </a:lnSpc>
            </a:pPr>
            <a:r>
              <a:rPr lang="en-US" sz="2800"/>
              <a:t>✅ Require pull request reviews before mergingSet a required number of approvals (e.g., at least one review).Block self-reviews to enforce team feedback.</a:t>
            </a:r>
          </a:p>
          <a:p>
            <a:pPr marL="739775" lvl="1" indent="-282575">
              <a:lnSpc>
                <a:spcPct val="110000"/>
              </a:lnSpc>
            </a:pPr>
            <a:r>
              <a:rPr lang="en-US" sz="2800"/>
              <a:t>✅ Require status checks to pass before mergingEnsure automated tests (CI/CD) pass before merging.Select specific checks (e.g., Linting, Unit Tests, Build).</a:t>
            </a:r>
          </a:p>
          <a:p>
            <a:pPr marL="739775" lvl="1" indent="-282575">
              <a:lnSpc>
                <a:spcPct val="110000"/>
              </a:lnSpc>
            </a:pPr>
            <a:r>
              <a:rPr lang="en-US" sz="2800"/>
              <a:t>✅ Require commit signaturesEnforce cryptographic signatures to verify commit authenticity.</a:t>
            </a:r>
          </a:p>
          <a:p>
            <a:pPr marL="739775" lvl="1" indent="-282575">
              <a:lnSpc>
                <a:spcPct val="110000"/>
              </a:lnSpc>
            </a:pPr>
            <a:r>
              <a:rPr lang="en-US" sz="2800"/>
              <a:t>✅ Restrict who can push to the branchAllow only instructors or specific team members to push directly.</a:t>
            </a:r>
          </a:p>
          <a:p>
            <a:pPr marL="739775" lvl="1" indent="-282575">
              <a:lnSpc>
                <a:spcPct val="110000"/>
              </a:lnSpc>
            </a:pPr>
            <a:r>
              <a:rPr lang="en-US" sz="2800"/>
              <a:t>✅ Require branches to be up to date before mergingPrevent merging outdated branches to avoid conflicts</a:t>
            </a:r>
          </a:p>
          <a:p>
            <a:pPr marL="739775" lvl="1" indent="-282575">
              <a:lnSpc>
                <a:spcPct val="110000"/>
              </a:lnSpc>
            </a:pPr>
            <a:r>
              <a:rPr lang="en-US" sz="2800"/>
              <a:t>✅ Prevent branch deletionStops accidental or malicious deletion of protected branches.</a:t>
            </a:r>
          </a:p>
          <a:p>
            <a:pPr marL="282575" indent="-282575">
              <a:lnSpc>
                <a:spcPct val="110000"/>
              </a:lnSpc>
            </a:pPr>
            <a:r>
              <a:rPr lang="en-US" sz="3200"/>
              <a:t>4️⃣ Save the RuleReview the settings.Click "Create" to apply the protection rule.</a:t>
            </a:r>
          </a:p>
        </p:txBody>
      </p:sp>
    </p:spTree>
    <p:extLst>
      <p:ext uri="{BB962C8B-B14F-4D97-AF65-F5344CB8AC3E}">
        <p14:creationId xmlns:p14="http://schemas.microsoft.com/office/powerpoint/2010/main" val="8631213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4CB62-43F2-3D9A-A277-018F2E1FBEA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D6FB160-674F-C54A-FAA2-1B24B218A0A5}"/>
              </a:ext>
            </a:extLst>
          </p:cNvPr>
          <p:cNvSpPr>
            <a:spLocks noGrp="1"/>
          </p:cNvSpPr>
          <p:nvPr>
            <p:ph type="title"/>
          </p:nvPr>
        </p:nvSpPr>
        <p:spPr>
          <a:xfrm>
            <a:off x="838200" y="256848"/>
            <a:ext cx="10515600" cy="848378"/>
          </a:xfrm>
        </p:spPr>
        <p:txBody>
          <a:bodyPr>
            <a:noAutofit/>
          </a:bodyPr>
          <a:lstStyle/>
          <a:p>
            <a:r>
              <a:rPr lang="en-US"/>
              <a:t>Branch Protection Rule Examples</a:t>
            </a:r>
          </a:p>
        </p:txBody>
      </p:sp>
      <p:sp>
        <p:nvSpPr>
          <p:cNvPr id="11" name="Content Placeholder 10">
            <a:extLst>
              <a:ext uri="{FF2B5EF4-FFF2-40B4-BE49-F238E27FC236}">
                <a16:creationId xmlns:a16="http://schemas.microsoft.com/office/drawing/2014/main" id="{788F6032-E7E0-9E09-CA78-3C98E6F65551}"/>
              </a:ext>
            </a:extLst>
          </p:cNvPr>
          <p:cNvSpPr>
            <a:spLocks noGrp="1"/>
          </p:cNvSpPr>
          <p:nvPr>
            <p:ph idx="1"/>
          </p:nvPr>
        </p:nvSpPr>
        <p:spPr>
          <a:xfrm>
            <a:off x="838200" y="1215853"/>
            <a:ext cx="5364480" cy="2700827"/>
          </a:xfrm>
          <a:ln>
            <a:solidFill>
              <a:schemeClr val="tx1"/>
            </a:solidFill>
          </a:ln>
        </p:spPr>
        <p:txBody>
          <a:bodyPr>
            <a:normAutofit/>
          </a:bodyPr>
          <a:lstStyle/>
          <a:p>
            <a:pPr marL="0" indent="0">
              <a:lnSpc>
                <a:spcPct val="100000"/>
              </a:lnSpc>
              <a:buNone/>
            </a:pPr>
            <a:r>
              <a:rPr lang="en-US" sz="1400"/>
              <a:t>1. Require Pull Request Reviews Before Merging</a:t>
            </a:r>
          </a:p>
          <a:p>
            <a:pPr marL="0" indent="0">
              <a:lnSpc>
                <a:spcPct val="100000"/>
              </a:lnSpc>
              <a:buNone/>
            </a:pPr>
            <a:r>
              <a:rPr lang="en-US" sz="1400"/>
              <a:t>👉 Prevents direct commits to the main branch </a:t>
            </a:r>
          </a:p>
          <a:p>
            <a:pPr marL="0" indent="0">
              <a:lnSpc>
                <a:spcPct val="100000"/>
              </a:lnSpc>
              <a:buNone/>
            </a:pPr>
            <a:r>
              <a:rPr lang="en-US" sz="1400"/>
              <a:t>        and enforces a code review process.</a:t>
            </a:r>
          </a:p>
          <a:p>
            <a:pPr marL="0" indent="0">
              <a:lnSpc>
                <a:spcPct val="100000"/>
              </a:lnSpc>
              <a:buNone/>
            </a:pPr>
            <a:r>
              <a:rPr lang="en-US" sz="1400" b="1"/>
              <a:t>Example Rule:</a:t>
            </a:r>
          </a:p>
          <a:p>
            <a:pPr marL="0" indent="0">
              <a:lnSpc>
                <a:spcPct val="100000"/>
              </a:lnSpc>
              <a:buNone/>
            </a:pPr>
            <a:r>
              <a:rPr lang="en-US" sz="1400"/>
              <a:t>✅ Require at least one approved review before merging.</a:t>
            </a:r>
          </a:p>
          <a:p>
            <a:pPr marL="0" indent="0">
              <a:lnSpc>
                <a:spcPct val="100000"/>
              </a:lnSpc>
              <a:buNone/>
            </a:pPr>
            <a:r>
              <a:rPr lang="en-US" sz="1400"/>
              <a:t>✅ Prevent self-approval (someone else must review the changes).</a:t>
            </a:r>
          </a:p>
          <a:p>
            <a:pPr marL="0" indent="0">
              <a:lnSpc>
                <a:spcPct val="100000"/>
              </a:lnSpc>
              <a:buNone/>
            </a:pPr>
            <a:r>
              <a:rPr lang="en-US" sz="1400"/>
              <a:t>✅ Dismiss stale approvals if new commits are added.</a:t>
            </a:r>
          </a:p>
          <a:p>
            <a:pPr marL="0" indent="0">
              <a:lnSpc>
                <a:spcPct val="100000"/>
              </a:lnSpc>
              <a:buNone/>
            </a:pPr>
            <a:r>
              <a:rPr lang="en-US" sz="1400"/>
              <a:t>💡 Use case: Ensures students get feedback before merging code.</a:t>
            </a:r>
          </a:p>
        </p:txBody>
      </p:sp>
      <p:sp>
        <p:nvSpPr>
          <p:cNvPr id="2" name="Content Placeholder 10">
            <a:extLst>
              <a:ext uri="{FF2B5EF4-FFF2-40B4-BE49-F238E27FC236}">
                <a16:creationId xmlns:a16="http://schemas.microsoft.com/office/drawing/2014/main" id="{C28C4D14-EB61-0171-FEF7-DC3C4A04B486}"/>
              </a:ext>
            </a:extLst>
          </p:cNvPr>
          <p:cNvSpPr txBox="1">
            <a:spLocks/>
          </p:cNvSpPr>
          <p:nvPr/>
        </p:nvSpPr>
        <p:spPr>
          <a:xfrm>
            <a:off x="6690360" y="1216178"/>
            <a:ext cx="5120640" cy="2700501"/>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400"/>
              <a:t>2. Require Status Checks to Pass Before Merging</a:t>
            </a:r>
          </a:p>
          <a:p>
            <a:pPr marL="0" indent="0">
              <a:lnSpc>
                <a:spcPct val="100000"/>
              </a:lnSpc>
              <a:buFont typeface="Arial" panose="020B0604020202020204" pitchFamily="34" charset="0"/>
              <a:buNone/>
            </a:pPr>
            <a:r>
              <a:rPr lang="en-US" sz="1400"/>
              <a:t>👉 Prevents merging unless automated tests (CI/CD pipelines) pass.</a:t>
            </a:r>
          </a:p>
          <a:p>
            <a:pPr marL="0" indent="0">
              <a:lnSpc>
                <a:spcPct val="100000"/>
              </a:lnSpc>
              <a:buFont typeface="Arial" panose="020B0604020202020204" pitchFamily="34" charset="0"/>
              <a:buNone/>
            </a:pPr>
            <a:r>
              <a:rPr lang="en-US" sz="1400"/>
              <a:t>Example Rule:</a:t>
            </a:r>
          </a:p>
          <a:p>
            <a:pPr marL="0" indent="0">
              <a:lnSpc>
                <a:spcPct val="100000"/>
              </a:lnSpc>
              <a:buFont typeface="Arial" panose="020B0604020202020204" pitchFamily="34" charset="0"/>
              <a:buNone/>
            </a:pPr>
            <a:r>
              <a:rPr lang="en-US" sz="1400"/>
              <a:t>✅ Require GitHub Actions tests to pass before merging.</a:t>
            </a:r>
          </a:p>
          <a:p>
            <a:pPr marL="0" indent="0">
              <a:lnSpc>
                <a:spcPct val="100000"/>
              </a:lnSpc>
              <a:buFont typeface="Arial" panose="020B0604020202020204" pitchFamily="34" charset="0"/>
              <a:buNone/>
            </a:pPr>
            <a:r>
              <a:rPr lang="en-US" sz="1400"/>
              <a:t>✅ Block merging if tests fail.</a:t>
            </a:r>
          </a:p>
          <a:p>
            <a:pPr marL="0" indent="0">
              <a:lnSpc>
                <a:spcPct val="100000"/>
              </a:lnSpc>
              <a:buFont typeface="Arial" panose="020B0604020202020204" pitchFamily="34" charset="0"/>
              <a:buNone/>
            </a:pPr>
            <a:r>
              <a:rPr lang="en-US" sz="1400"/>
              <a:t>💡 Use case: Prevents merging broken code into main.</a:t>
            </a:r>
          </a:p>
        </p:txBody>
      </p:sp>
      <p:sp>
        <p:nvSpPr>
          <p:cNvPr id="7" name="Content Placeholder 10">
            <a:extLst>
              <a:ext uri="{FF2B5EF4-FFF2-40B4-BE49-F238E27FC236}">
                <a16:creationId xmlns:a16="http://schemas.microsoft.com/office/drawing/2014/main" id="{8667FEFB-217A-B765-5314-FF01DD84E902}"/>
              </a:ext>
            </a:extLst>
          </p:cNvPr>
          <p:cNvSpPr txBox="1">
            <a:spLocks/>
          </p:cNvSpPr>
          <p:nvPr/>
        </p:nvSpPr>
        <p:spPr>
          <a:xfrm>
            <a:off x="838200" y="4369881"/>
            <a:ext cx="5364480" cy="2129979"/>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400"/>
              <a:t>3. Restrict Who Can Push to a Branch</a:t>
            </a:r>
          </a:p>
          <a:p>
            <a:pPr marL="0" indent="0">
              <a:lnSpc>
                <a:spcPct val="100000"/>
              </a:lnSpc>
              <a:buFont typeface="Arial" panose="020B0604020202020204" pitchFamily="34" charset="0"/>
              <a:buNone/>
            </a:pPr>
            <a:r>
              <a:rPr lang="en-US" sz="1400"/>
              <a:t>👉 Limits who can make direct changes to critical branches.</a:t>
            </a:r>
          </a:p>
          <a:p>
            <a:pPr marL="0" indent="0">
              <a:lnSpc>
                <a:spcPct val="100000"/>
              </a:lnSpc>
              <a:buFont typeface="Arial" panose="020B0604020202020204" pitchFamily="34" charset="0"/>
              <a:buNone/>
            </a:pPr>
            <a:r>
              <a:rPr lang="en-US" sz="1400"/>
              <a:t>Example Rule:</a:t>
            </a:r>
          </a:p>
          <a:p>
            <a:pPr marL="0" indent="0">
              <a:lnSpc>
                <a:spcPct val="100000"/>
              </a:lnSpc>
              <a:buFont typeface="Arial" panose="020B0604020202020204" pitchFamily="34" charset="0"/>
              <a:buNone/>
            </a:pPr>
            <a:r>
              <a:rPr lang="en-US" sz="1400"/>
              <a:t>✅ Only instructors can push directly to main.</a:t>
            </a:r>
          </a:p>
          <a:p>
            <a:pPr marL="0" indent="0">
              <a:lnSpc>
                <a:spcPct val="100000"/>
              </a:lnSpc>
              <a:buFont typeface="Arial" panose="020B0604020202020204" pitchFamily="34" charset="0"/>
              <a:buNone/>
            </a:pPr>
            <a:r>
              <a:rPr lang="en-US" sz="1400"/>
              <a:t>✅ Students must use feature branches and open pull requests.</a:t>
            </a:r>
          </a:p>
          <a:p>
            <a:pPr marL="0" indent="0">
              <a:lnSpc>
                <a:spcPct val="100000"/>
              </a:lnSpc>
              <a:buFont typeface="Arial" panose="020B0604020202020204" pitchFamily="34" charset="0"/>
              <a:buNone/>
            </a:pPr>
            <a:r>
              <a:rPr lang="en-US" sz="1400"/>
              <a:t>💡 Use case: Prevents accidental overwrites by students.</a:t>
            </a:r>
          </a:p>
        </p:txBody>
      </p:sp>
      <p:sp>
        <p:nvSpPr>
          <p:cNvPr id="8" name="Content Placeholder 10">
            <a:extLst>
              <a:ext uri="{FF2B5EF4-FFF2-40B4-BE49-F238E27FC236}">
                <a16:creationId xmlns:a16="http://schemas.microsoft.com/office/drawing/2014/main" id="{744BDD52-7637-CC7B-E8CA-7C7D5A271794}"/>
              </a:ext>
            </a:extLst>
          </p:cNvPr>
          <p:cNvSpPr txBox="1">
            <a:spLocks/>
          </p:cNvSpPr>
          <p:nvPr/>
        </p:nvSpPr>
        <p:spPr>
          <a:xfrm>
            <a:off x="6774180" y="4369880"/>
            <a:ext cx="5036820" cy="2129979"/>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400"/>
              <a:t>4. Prevent Deletion of Protected Branches</a:t>
            </a:r>
          </a:p>
          <a:p>
            <a:pPr marL="0" indent="0">
              <a:lnSpc>
                <a:spcPct val="100000"/>
              </a:lnSpc>
              <a:buFont typeface="Arial" panose="020B0604020202020204" pitchFamily="34" charset="0"/>
              <a:buNone/>
            </a:pPr>
            <a:r>
              <a:rPr lang="en-US" sz="1400"/>
              <a:t>👉 Stops accidental or malicious deletion of important branches.</a:t>
            </a:r>
          </a:p>
          <a:p>
            <a:pPr marL="0" indent="0">
              <a:lnSpc>
                <a:spcPct val="100000"/>
              </a:lnSpc>
              <a:buFont typeface="Arial" panose="020B0604020202020204" pitchFamily="34" charset="0"/>
              <a:buNone/>
            </a:pPr>
            <a:r>
              <a:rPr lang="en-US" sz="1400"/>
              <a:t>Example Rule:</a:t>
            </a:r>
          </a:p>
          <a:p>
            <a:pPr marL="0" indent="0">
              <a:lnSpc>
                <a:spcPct val="100000"/>
              </a:lnSpc>
              <a:buFont typeface="Arial" panose="020B0604020202020204" pitchFamily="34" charset="0"/>
              <a:buNone/>
            </a:pPr>
            <a:r>
              <a:rPr lang="en-US" sz="1400"/>
              <a:t>✅ Prevent deletion of the main and develop branches.</a:t>
            </a:r>
          </a:p>
          <a:p>
            <a:pPr marL="0" indent="0">
              <a:lnSpc>
                <a:spcPct val="100000"/>
              </a:lnSpc>
              <a:buFont typeface="Arial" panose="020B0604020202020204" pitchFamily="34" charset="0"/>
              <a:buNone/>
            </a:pPr>
            <a:r>
              <a:rPr lang="en-US" sz="1400"/>
              <a:t>💡 Use case: Ensures project stability and avoids data loss.</a:t>
            </a:r>
          </a:p>
        </p:txBody>
      </p:sp>
    </p:spTree>
    <p:extLst>
      <p:ext uri="{BB962C8B-B14F-4D97-AF65-F5344CB8AC3E}">
        <p14:creationId xmlns:p14="http://schemas.microsoft.com/office/powerpoint/2010/main" val="5436174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47B91-D324-0341-0502-5B2162A38B9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04C2249-DEFA-8756-55A2-7043C71FA497}"/>
              </a:ext>
            </a:extLst>
          </p:cNvPr>
          <p:cNvSpPr>
            <a:spLocks noGrp="1"/>
          </p:cNvSpPr>
          <p:nvPr>
            <p:ph type="title"/>
          </p:nvPr>
        </p:nvSpPr>
        <p:spPr>
          <a:xfrm>
            <a:off x="838199" y="256848"/>
            <a:ext cx="10824029" cy="848378"/>
          </a:xfrm>
        </p:spPr>
        <p:txBody>
          <a:bodyPr/>
          <a:lstStyle/>
          <a:p>
            <a:pPr marL="282575" indent="-282575"/>
            <a:r>
              <a:rPr lang="en-US" sz="4400"/>
              <a:t>Branching Strategies and Secure Workflows</a:t>
            </a:r>
          </a:p>
        </p:txBody>
      </p:sp>
      <p:sp>
        <p:nvSpPr>
          <p:cNvPr id="11" name="Content Placeholder 10">
            <a:extLst>
              <a:ext uri="{FF2B5EF4-FFF2-40B4-BE49-F238E27FC236}">
                <a16:creationId xmlns:a16="http://schemas.microsoft.com/office/drawing/2014/main" id="{AFB64EC2-884E-9EC0-089A-5B9748E29B28}"/>
              </a:ext>
            </a:extLst>
          </p:cNvPr>
          <p:cNvSpPr>
            <a:spLocks noGrp="1"/>
          </p:cNvSpPr>
          <p:nvPr>
            <p:ph idx="1"/>
          </p:nvPr>
        </p:nvSpPr>
        <p:spPr>
          <a:xfrm>
            <a:off x="838200" y="1375873"/>
            <a:ext cx="10515600" cy="4801090"/>
          </a:xfrm>
        </p:spPr>
        <p:txBody>
          <a:bodyPr>
            <a:normAutofit/>
          </a:bodyPr>
          <a:lstStyle/>
          <a:p>
            <a:pPr marL="282575" indent="-282575"/>
            <a:r>
              <a:rPr lang="en-US" sz="3200"/>
              <a:t>Introduction to branching models (GitFlow, feature branches, trunk-based development).</a:t>
            </a:r>
          </a:p>
          <a:p>
            <a:pPr marL="282575" indent="-282575"/>
            <a:r>
              <a:rPr lang="en-US" sz="3200"/>
              <a:t>Implementing protected branches to prevent unauthorized changes.</a:t>
            </a:r>
          </a:p>
          <a:p>
            <a:pPr marL="282575" indent="-282575"/>
            <a:r>
              <a:rPr lang="en-US" sz="3200"/>
              <a:t>Setting up feature branches and submitting pull requests (PRs).</a:t>
            </a:r>
          </a:p>
          <a:p>
            <a:pPr marL="282575" indent="-282575"/>
            <a:r>
              <a:rPr lang="en-US" sz="3200"/>
              <a:t>Hands-on: Configuring branch protection rules in GitHub.</a:t>
            </a:r>
          </a:p>
        </p:txBody>
      </p:sp>
    </p:spTree>
    <p:extLst>
      <p:ext uri="{BB962C8B-B14F-4D97-AF65-F5344CB8AC3E}">
        <p14:creationId xmlns:p14="http://schemas.microsoft.com/office/powerpoint/2010/main" val="22560147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0842A-AE90-0CB0-7BCD-5D3E7EB8B0F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82F1E25C-CBDF-D2BF-4EFC-BC6EA2A24318}"/>
              </a:ext>
            </a:extLst>
          </p:cNvPr>
          <p:cNvSpPr>
            <a:spLocks noGrp="1"/>
          </p:cNvSpPr>
          <p:nvPr>
            <p:ph type="title"/>
          </p:nvPr>
        </p:nvSpPr>
        <p:spPr>
          <a:xfrm>
            <a:off x="838200" y="256848"/>
            <a:ext cx="10515600" cy="848378"/>
          </a:xfrm>
        </p:spPr>
        <p:txBody>
          <a:bodyPr/>
          <a:lstStyle/>
          <a:p>
            <a:pPr marL="282575" indent="-282575"/>
            <a:r>
              <a:rPr lang="en-US" sz="4400"/>
              <a:t> Secure Code Contributions and Reviews</a:t>
            </a:r>
          </a:p>
        </p:txBody>
      </p:sp>
      <p:sp>
        <p:nvSpPr>
          <p:cNvPr id="11" name="Content Placeholder 10">
            <a:extLst>
              <a:ext uri="{FF2B5EF4-FFF2-40B4-BE49-F238E27FC236}">
                <a16:creationId xmlns:a16="http://schemas.microsoft.com/office/drawing/2014/main" id="{43BA8398-B061-1528-A071-27C58D36FC37}"/>
              </a:ext>
            </a:extLst>
          </p:cNvPr>
          <p:cNvSpPr>
            <a:spLocks noGrp="1"/>
          </p:cNvSpPr>
          <p:nvPr>
            <p:ph idx="1"/>
          </p:nvPr>
        </p:nvSpPr>
        <p:spPr>
          <a:xfrm>
            <a:off x="838200" y="1375873"/>
            <a:ext cx="10515600" cy="4801090"/>
          </a:xfrm>
        </p:spPr>
        <p:txBody>
          <a:bodyPr>
            <a:normAutofit/>
          </a:bodyPr>
          <a:lstStyle/>
          <a:p>
            <a:pPr marL="282575" indent="-282575"/>
            <a:r>
              <a:rPr lang="en-US" sz="3200"/>
              <a:t>Best practices for code reviews in a secure workflow.</a:t>
            </a:r>
          </a:p>
          <a:p>
            <a:pPr marL="282575" indent="-282575"/>
            <a:r>
              <a:rPr lang="en-US" sz="3200"/>
              <a:t>Enforcing pull request policies (e.g., requiring approvals, status checks).</a:t>
            </a:r>
          </a:p>
          <a:p>
            <a:pPr marL="282575" indent="-282575"/>
            <a:r>
              <a:rPr lang="en-US" sz="3200"/>
              <a:t>Hands-on: Conducting a secure pull request workflow (reviewing, commenting, approving).</a:t>
            </a:r>
          </a:p>
          <a:p>
            <a:pPr marL="282575" indent="-282575"/>
            <a:r>
              <a:rPr lang="en-US" sz="3200"/>
              <a:t>Exercise: Identifying security issues in a sample PR.</a:t>
            </a:r>
          </a:p>
        </p:txBody>
      </p:sp>
    </p:spTree>
    <p:extLst>
      <p:ext uri="{BB962C8B-B14F-4D97-AF65-F5344CB8AC3E}">
        <p14:creationId xmlns:p14="http://schemas.microsoft.com/office/powerpoint/2010/main" val="1091019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9BF30-7E80-2AF6-53CF-E233C84CD86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B79AAEC-F6EC-01F2-911D-9098E30DACE9}"/>
              </a:ext>
            </a:extLst>
          </p:cNvPr>
          <p:cNvSpPr>
            <a:spLocks noGrp="1"/>
          </p:cNvSpPr>
          <p:nvPr>
            <p:ph type="title"/>
          </p:nvPr>
        </p:nvSpPr>
        <p:spPr>
          <a:xfrm>
            <a:off x="838200" y="256848"/>
            <a:ext cx="10515600" cy="848378"/>
          </a:xfrm>
        </p:spPr>
        <p:txBody>
          <a:bodyPr/>
          <a:lstStyle/>
          <a:p>
            <a:r>
              <a:rPr lang="en-US"/>
              <a:t>Secrets Management / Preventing Leaks</a:t>
            </a:r>
          </a:p>
        </p:txBody>
      </p:sp>
      <p:sp>
        <p:nvSpPr>
          <p:cNvPr id="11" name="Content Placeholder 10">
            <a:extLst>
              <a:ext uri="{FF2B5EF4-FFF2-40B4-BE49-F238E27FC236}">
                <a16:creationId xmlns:a16="http://schemas.microsoft.com/office/drawing/2014/main" id="{7557BBE6-24F9-C54B-A230-9C140527B775}"/>
              </a:ext>
            </a:extLst>
          </p:cNvPr>
          <p:cNvSpPr>
            <a:spLocks noGrp="1"/>
          </p:cNvSpPr>
          <p:nvPr>
            <p:ph idx="1"/>
          </p:nvPr>
        </p:nvSpPr>
        <p:spPr>
          <a:xfrm>
            <a:off x="838200" y="1375873"/>
            <a:ext cx="10515600" cy="4801090"/>
          </a:xfrm>
        </p:spPr>
        <p:txBody>
          <a:bodyPr>
            <a:normAutofit fontScale="85000" lnSpcReduction="10000"/>
          </a:bodyPr>
          <a:lstStyle/>
          <a:p>
            <a:pPr marL="282575" indent="-282575"/>
            <a:r>
              <a:rPr lang="en-US" sz="3200"/>
              <a:t>Why API keys, credentials, and secrets should never be committed.</a:t>
            </a:r>
          </a:p>
          <a:p>
            <a:pPr marL="282575" indent="-282575"/>
            <a:r>
              <a:rPr lang="en-US" sz="3200"/>
              <a:t>Tools for detecting and preventing secret leaks (git-secrets, truffleHog).</a:t>
            </a:r>
          </a:p>
          <a:p>
            <a:pPr marL="282575" indent="-282575"/>
            <a:r>
              <a:rPr lang="en-US" sz="3200"/>
              <a:t>Hands-on: Setting up a pre-commit hook to block sensitive data.</a:t>
            </a:r>
          </a:p>
          <a:p>
            <a:pPr marL="282575" indent="-282575"/>
            <a:r>
              <a:rPr lang="en-US" sz="3200"/>
              <a:t>Exercise: Committing a "leaked" secret and scanning for exposed credentials.</a:t>
            </a:r>
          </a:p>
          <a:p>
            <a:pPr marL="282575" indent="-282575"/>
            <a:r>
              <a:rPr lang="en-US" sz="3200"/>
              <a:t>6. Automated Security Scanning</a:t>
            </a:r>
          </a:p>
          <a:p>
            <a:pPr marL="282575" indent="-282575"/>
            <a:r>
              <a:rPr lang="en-US" sz="3200"/>
              <a:t>Overview of static analysis and dependency scanning.</a:t>
            </a:r>
          </a:p>
          <a:p>
            <a:pPr marL="282575" indent="-282575"/>
            <a:r>
              <a:rPr lang="en-US" sz="3200"/>
              <a:t>Using GitHub Advanced Security, CodeQL, and Dependabot.</a:t>
            </a:r>
          </a:p>
          <a:p>
            <a:pPr marL="282575" indent="-282575"/>
            <a:r>
              <a:rPr lang="en-US" sz="3200"/>
              <a:t>Hands-on: Running a security scan on a sample repository.</a:t>
            </a:r>
          </a:p>
          <a:p>
            <a:pPr marL="282575" indent="-282575"/>
            <a:r>
              <a:rPr lang="en-US" sz="3200"/>
              <a:t>Exercise: Interpreting scan results and patching vulnerabilities.</a:t>
            </a:r>
          </a:p>
        </p:txBody>
      </p:sp>
    </p:spTree>
    <p:extLst>
      <p:ext uri="{BB962C8B-B14F-4D97-AF65-F5344CB8AC3E}">
        <p14:creationId xmlns:p14="http://schemas.microsoft.com/office/powerpoint/2010/main" val="612910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5AAEC-F798-B19F-A486-AA511756090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103457D-2CA5-DAE1-7CBD-45D8D7352057}"/>
              </a:ext>
            </a:extLst>
          </p:cNvPr>
          <p:cNvSpPr>
            <a:spLocks noGrp="1"/>
          </p:cNvSpPr>
          <p:nvPr>
            <p:ph type="title"/>
          </p:nvPr>
        </p:nvSpPr>
        <p:spPr>
          <a:xfrm>
            <a:off x="838200" y="256848"/>
            <a:ext cx="10515600" cy="848378"/>
          </a:xfrm>
        </p:spPr>
        <p:txBody>
          <a:bodyPr/>
          <a:lstStyle/>
          <a:p>
            <a:r>
              <a:rPr lang="en-US" sz="4400"/>
              <a:t>Automated Security Scanning</a:t>
            </a:r>
            <a:endParaRPr lang="en-US"/>
          </a:p>
        </p:txBody>
      </p:sp>
      <p:sp>
        <p:nvSpPr>
          <p:cNvPr id="11" name="Content Placeholder 10">
            <a:extLst>
              <a:ext uri="{FF2B5EF4-FFF2-40B4-BE49-F238E27FC236}">
                <a16:creationId xmlns:a16="http://schemas.microsoft.com/office/drawing/2014/main" id="{7E4571C4-D133-67EB-F601-1264B9876F33}"/>
              </a:ext>
            </a:extLst>
          </p:cNvPr>
          <p:cNvSpPr>
            <a:spLocks noGrp="1"/>
          </p:cNvSpPr>
          <p:nvPr>
            <p:ph idx="1"/>
          </p:nvPr>
        </p:nvSpPr>
        <p:spPr>
          <a:xfrm>
            <a:off x="838200" y="1375873"/>
            <a:ext cx="10515600" cy="4801090"/>
          </a:xfrm>
        </p:spPr>
        <p:txBody>
          <a:bodyPr>
            <a:normAutofit/>
          </a:bodyPr>
          <a:lstStyle/>
          <a:p>
            <a:pPr marL="282575" indent="-282575"/>
            <a:r>
              <a:rPr lang="en-US" sz="3200"/>
              <a:t>Overview of static analysis and dependency scanning.</a:t>
            </a:r>
          </a:p>
          <a:p>
            <a:pPr marL="282575" indent="-282575"/>
            <a:r>
              <a:rPr lang="en-US" sz="3200"/>
              <a:t>Using GitHub Advanced Security, CodeQL, and Dependabot.</a:t>
            </a:r>
          </a:p>
          <a:p>
            <a:pPr marL="282575" indent="-282575"/>
            <a:r>
              <a:rPr lang="en-US" sz="3200"/>
              <a:t>Interpreting scan results and patching vulnerabilities.</a:t>
            </a:r>
          </a:p>
          <a:p>
            <a:pPr marL="282575" indent="-282575"/>
            <a:r>
              <a:rPr lang="en-US" sz="3200"/>
              <a:t>Hands-on: Run a security scan on a sample repository.</a:t>
            </a:r>
          </a:p>
        </p:txBody>
      </p:sp>
    </p:spTree>
    <p:extLst>
      <p:ext uri="{BB962C8B-B14F-4D97-AF65-F5344CB8AC3E}">
        <p14:creationId xmlns:p14="http://schemas.microsoft.com/office/powerpoint/2010/main" val="2536463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20E9C-EBE0-98B4-D9FB-AA18E9C48655}"/>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800F0A4-1323-8F4E-057B-10ED54BA61BA}"/>
              </a:ext>
            </a:extLst>
          </p:cNvPr>
          <p:cNvSpPr>
            <a:spLocks noGrp="1"/>
          </p:cNvSpPr>
          <p:nvPr>
            <p:ph type="title"/>
          </p:nvPr>
        </p:nvSpPr>
        <p:spPr>
          <a:xfrm>
            <a:off x="838200" y="256848"/>
            <a:ext cx="10515600" cy="848378"/>
          </a:xfrm>
        </p:spPr>
        <p:txBody>
          <a:bodyPr/>
          <a:lstStyle/>
          <a:p>
            <a:r>
              <a:rPr lang="en-US" sz="4400"/>
              <a:t>Secure Commit Practices</a:t>
            </a:r>
            <a:endParaRPr lang="en-US"/>
          </a:p>
        </p:txBody>
      </p:sp>
      <p:sp>
        <p:nvSpPr>
          <p:cNvPr id="11" name="Content Placeholder 10">
            <a:extLst>
              <a:ext uri="{FF2B5EF4-FFF2-40B4-BE49-F238E27FC236}">
                <a16:creationId xmlns:a16="http://schemas.microsoft.com/office/drawing/2014/main" id="{F013569D-5CFB-6D9A-0DC8-99AFE88815A4}"/>
              </a:ext>
            </a:extLst>
          </p:cNvPr>
          <p:cNvSpPr>
            <a:spLocks noGrp="1"/>
          </p:cNvSpPr>
          <p:nvPr>
            <p:ph idx="1"/>
          </p:nvPr>
        </p:nvSpPr>
        <p:spPr>
          <a:xfrm>
            <a:off x="838200" y="1375873"/>
            <a:ext cx="10515600" cy="4801090"/>
          </a:xfrm>
        </p:spPr>
        <p:txBody>
          <a:bodyPr>
            <a:normAutofit/>
          </a:bodyPr>
          <a:lstStyle/>
          <a:p>
            <a:pPr marL="282575" indent="-282575"/>
            <a:r>
              <a:rPr lang="en-US" sz="3200"/>
              <a:t>Enforcing GPG/SSH-signed commits for authenticity.</a:t>
            </a:r>
          </a:p>
          <a:p>
            <a:pPr marL="282575" indent="-282575"/>
            <a:r>
              <a:rPr lang="en-US" sz="3200"/>
              <a:t>Implementing commit message policies (e.g., descriptive messages, linking to issues).</a:t>
            </a:r>
          </a:p>
          <a:p>
            <a:pPr marL="282575" indent="-282575"/>
            <a:r>
              <a:rPr lang="en-US" sz="3200"/>
              <a:t>Verifying signed commits in a repository.</a:t>
            </a:r>
          </a:p>
          <a:p>
            <a:pPr marL="282575" indent="-282575"/>
            <a:r>
              <a:rPr lang="en-US" sz="3200"/>
              <a:t>Hands-on: Signing commits with a GPG key.</a:t>
            </a:r>
          </a:p>
        </p:txBody>
      </p:sp>
    </p:spTree>
    <p:extLst>
      <p:ext uri="{BB962C8B-B14F-4D97-AF65-F5344CB8AC3E}">
        <p14:creationId xmlns:p14="http://schemas.microsoft.com/office/powerpoint/2010/main" val="1961916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BD3-51ED-32C0-EE63-63B7A3DE7155}"/>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05EF6AF-5F08-3FC9-A656-DE6FF562D355}"/>
              </a:ext>
            </a:extLst>
          </p:cNvPr>
          <p:cNvSpPr>
            <a:spLocks noGrp="1"/>
          </p:cNvSpPr>
          <p:nvPr>
            <p:ph type="title"/>
          </p:nvPr>
        </p:nvSpPr>
        <p:spPr>
          <a:xfrm>
            <a:off x="838200" y="256848"/>
            <a:ext cx="10515600" cy="848378"/>
          </a:xfrm>
        </p:spPr>
        <p:txBody>
          <a:bodyPr/>
          <a:lstStyle/>
          <a:p>
            <a:r>
              <a:rPr lang="en-US" sz="4400"/>
              <a:t>Access Control and Incident Response</a:t>
            </a:r>
            <a:endParaRPr lang="en-US"/>
          </a:p>
        </p:txBody>
      </p:sp>
      <p:sp>
        <p:nvSpPr>
          <p:cNvPr id="11" name="Content Placeholder 10">
            <a:extLst>
              <a:ext uri="{FF2B5EF4-FFF2-40B4-BE49-F238E27FC236}">
                <a16:creationId xmlns:a16="http://schemas.microsoft.com/office/drawing/2014/main" id="{2C8F800F-6BFA-DF82-AEED-CCACE521E4F4}"/>
              </a:ext>
            </a:extLst>
          </p:cNvPr>
          <p:cNvSpPr>
            <a:spLocks noGrp="1"/>
          </p:cNvSpPr>
          <p:nvPr>
            <p:ph idx="1"/>
          </p:nvPr>
        </p:nvSpPr>
        <p:spPr>
          <a:xfrm>
            <a:off x="838200" y="1375873"/>
            <a:ext cx="10515600" cy="4801090"/>
          </a:xfrm>
        </p:spPr>
        <p:txBody>
          <a:bodyPr>
            <a:normAutofit/>
          </a:bodyPr>
          <a:lstStyle/>
          <a:p>
            <a:pPr marL="282575" indent="-282575"/>
            <a:r>
              <a:rPr lang="en-US" sz="3200"/>
              <a:t>Applying the principle of least privilege (PoLP) in repository access.</a:t>
            </a:r>
          </a:p>
          <a:p>
            <a:pPr marL="282575" indent="-282575"/>
            <a:r>
              <a:rPr lang="en-US" sz="3200"/>
              <a:t>Monitoring repository activity with audit logs.</a:t>
            </a:r>
          </a:p>
          <a:p>
            <a:pPr marL="282575" indent="-282575"/>
            <a:r>
              <a:rPr lang="en-US" sz="3200"/>
              <a:t>Revoking access and responding to a security incident.</a:t>
            </a:r>
          </a:p>
          <a:p>
            <a:pPr marL="282575" indent="-282575"/>
            <a:r>
              <a:rPr lang="en-US" sz="3200"/>
              <a:t>Hands-on: Reviewing access logs and detecting unauthorized access.</a:t>
            </a:r>
          </a:p>
        </p:txBody>
      </p:sp>
    </p:spTree>
    <p:extLst>
      <p:ext uri="{BB962C8B-B14F-4D97-AF65-F5344CB8AC3E}">
        <p14:creationId xmlns:p14="http://schemas.microsoft.com/office/powerpoint/2010/main" val="1581064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B6DD1-A700-98CD-3110-F9749D4832B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449E33B-D790-495C-F727-BACE06C8E392}"/>
              </a:ext>
            </a:extLst>
          </p:cNvPr>
          <p:cNvSpPr>
            <a:spLocks noGrp="1"/>
          </p:cNvSpPr>
          <p:nvPr>
            <p:ph type="title"/>
          </p:nvPr>
        </p:nvSpPr>
        <p:spPr>
          <a:xfrm>
            <a:off x="838200" y="256848"/>
            <a:ext cx="10515600" cy="848378"/>
          </a:xfrm>
        </p:spPr>
        <p:txBody>
          <a:bodyPr/>
          <a:lstStyle/>
          <a:p>
            <a:r>
              <a:rPr lang="en-US" sz="4400"/>
              <a:t>Backup and Disaster Recovery</a:t>
            </a:r>
            <a:endParaRPr lang="en-US"/>
          </a:p>
        </p:txBody>
      </p:sp>
      <p:sp>
        <p:nvSpPr>
          <p:cNvPr id="11" name="Content Placeholder 10">
            <a:extLst>
              <a:ext uri="{FF2B5EF4-FFF2-40B4-BE49-F238E27FC236}">
                <a16:creationId xmlns:a16="http://schemas.microsoft.com/office/drawing/2014/main" id="{B6916D03-31CB-C2EC-B589-300DC43DD978}"/>
              </a:ext>
            </a:extLst>
          </p:cNvPr>
          <p:cNvSpPr>
            <a:spLocks noGrp="1"/>
          </p:cNvSpPr>
          <p:nvPr>
            <p:ph idx="1"/>
          </p:nvPr>
        </p:nvSpPr>
        <p:spPr>
          <a:xfrm>
            <a:off x="838200" y="1375873"/>
            <a:ext cx="10515600" cy="4801090"/>
          </a:xfrm>
        </p:spPr>
        <p:txBody>
          <a:bodyPr>
            <a:normAutofit/>
          </a:bodyPr>
          <a:lstStyle/>
          <a:p>
            <a:pPr marL="282575" indent="-282575"/>
            <a:r>
              <a:rPr lang="en-US" sz="3200"/>
              <a:t>Best practices for repository backups and mirroring.</a:t>
            </a:r>
          </a:p>
          <a:p>
            <a:pPr marL="282575" indent="-282575"/>
            <a:r>
              <a:rPr lang="en-US" sz="3200"/>
              <a:t>Recovering from a repository compromise.</a:t>
            </a:r>
          </a:p>
          <a:p>
            <a:pPr marL="282575" indent="-282575"/>
            <a:r>
              <a:rPr lang="en-US" sz="3200"/>
              <a:t>Hands-on: Cloning and mirroring a repository securely.</a:t>
            </a:r>
          </a:p>
        </p:txBody>
      </p:sp>
    </p:spTree>
    <p:extLst>
      <p:ext uri="{BB962C8B-B14F-4D97-AF65-F5344CB8AC3E}">
        <p14:creationId xmlns:p14="http://schemas.microsoft.com/office/powerpoint/2010/main" val="1716258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74C28-673E-996B-1697-55657DFC4C42}"/>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8E1ECAD-85FA-8A8C-2B50-0E937F7FA256}"/>
              </a:ext>
            </a:extLst>
          </p:cNvPr>
          <p:cNvSpPr>
            <a:spLocks noGrp="1"/>
          </p:cNvSpPr>
          <p:nvPr>
            <p:ph type="title"/>
          </p:nvPr>
        </p:nvSpPr>
        <p:spPr>
          <a:xfrm>
            <a:off x="838200" y="256848"/>
            <a:ext cx="10809718" cy="848378"/>
          </a:xfrm>
        </p:spPr>
        <p:txBody>
          <a:bodyPr>
            <a:noAutofit/>
          </a:bodyPr>
          <a:lstStyle/>
          <a:p>
            <a:r>
              <a:rPr lang="en-US" sz="4000"/>
              <a:t>Integration with Secure Development Environments</a:t>
            </a:r>
          </a:p>
        </p:txBody>
      </p:sp>
      <p:sp>
        <p:nvSpPr>
          <p:cNvPr id="11" name="Content Placeholder 10">
            <a:extLst>
              <a:ext uri="{FF2B5EF4-FFF2-40B4-BE49-F238E27FC236}">
                <a16:creationId xmlns:a16="http://schemas.microsoft.com/office/drawing/2014/main" id="{9E02B15D-6056-19E8-EBBC-D6ADA704E44A}"/>
              </a:ext>
            </a:extLst>
          </p:cNvPr>
          <p:cNvSpPr>
            <a:spLocks noGrp="1"/>
          </p:cNvSpPr>
          <p:nvPr>
            <p:ph idx="1"/>
          </p:nvPr>
        </p:nvSpPr>
        <p:spPr>
          <a:xfrm>
            <a:off x="838200" y="1375873"/>
            <a:ext cx="10515600" cy="4801090"/>
          </a:xfrm>
        </p:spPr>
        <p:txBody>
          <a:bodyPr>
            <a:normAutofit/>
          </a:bodyPr>
          <a:lstStyle/>
          <a:p>
            <a:pPr marL="282575" indent="-282575"/>
            <a:r>
              <a:rPr lang="en-US" sz="3200"/>
              <a:t>Connecting CI/CD pipelines securely (e.g., GitHub Actions, Jenkins).</a:t>
            </a:r>
          </a:p>
          <a:p>
            <a:pPr marL="282575" indent="-282575"/>
            <a:r>
              <a:rPr lang="en-US" sz="3200"/>
              <a:t>Implementing code signing and artifact verification.</a:t>
            </a:r>
          </a:p>
          <a:p>
            <a:pPr marL="282575" indent="-282575"/>
            <a:r>
              <a:rPr lang="en-US" sz="3200"/>
              <a:t>Deploying code securely with GitHub Actions.</a:t>
            </a:r>
          </a:p>
          <a:p>
            <a:pPr marL="282575" indent="-282575"/>
            <a:r>
              <a:rPr lang="en-US" sz="3200"/>
              <a:t>Hands-on: Setting up a basic CI/CD pipeline with security checks.</a:t>
            </a:r>
          </a:p>
        </p:txBody>
      </p:sp>
    </p:spTree>
    <p:extLst>
      <p:ext uri="{BB962C8B-B14F-4D97-AF65-F5344CB8AC3E}">
        <p14:creationId xmlns:p14="http://schemas.microsoft.com/office/powerpoint/2010/main" val="38387535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DDCEA-45DB-44DA-708F-0734D4A6E3B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B271F46-209C-792F-498C-B33D5F4898F0}"/>
              </a:ext>
            </a:extLst>
          </p:cNvPr>
          <p:cNvSpPr>
            <a:spLocks noGrp="1"/>
          </p:cNvSpPr>
          <p:nvPr>
            <p:ph type="title"/>
          </p:nvPr>
        </p:nvSpPr>
        <p:spPr>
          <a:xfrm>
            <a:off x="838200" y="256848"/>
            <a:ext cx="10809718" cy="848378"/>
          </a:xfrm>
        </p:spPr>
        <p:txBody>
          <a:bodyPr>
            <a:noAutofit/>
          </a:bodyPr>
          <a:lstStyle/>
          <a:p>
            <a:r>
              <a:rPr lang="en-US" sz="3600"/>
              <a:t>2.1 Secure Coding Environments</a:t>
            </a:r>
          </a:p>
        </p:txBody>
      </p:sp>
      <p:sp>
        <p:nvSpPr>
          <p:cNvPr id="11" name="Content Placeholder 10">
            <a:extLst>
              <a:ext uri="{FF2B5EF4-FFF2-40B4-BE49-F238E27FC236}">
                <a16:creationId xmlns:a16="http://schemas.microsoft.com/office/drawing/2014/main" id="{751BEDBE-E0A1-2121-74DC-7189DD37D1D5}"/>
              </a:ext>
            </a:extLst>
          </p:cNvPr>
          <p:cNvSpPr>
            <a:spLocks noGrp="1"/>
          </p:cNvSpPr>
          <p:nvPr>
            <p:ph idx="1"/>
          </p:nvPr>
        </p:nvSpPr>
        <p:spPr>
          <a:xfrm>
            <a:off x="838200" y="1219200"/>
            <a:ext cx="10515600" cy="4957763"/>
          </a:xfrm>
        </p:spPr>
        <p:txBody>
          <a:bodyPr>
            <a:normAutofit fontScale="70000" lnSpcReduction="20000"/>
          </a:bodyPr>
          <a:lstStyle/>
          <a:p>
            <a:pPr marL="282575" indent="-282575">
              <a:lnSpc>
                <a:spcPct val="120000"/>
              </a:lnSpc>
            </a:pPr>
            <a:r>
              <a:rPr lang="en-US" sz="3200"/>
              <a:t>Secure coding environments provide controlled development spaces that incorporate tools, policies, and best practices to minimize security risks during software development. </a:t>
            </a:r>
          </a:p>
          <a:p>
            <a:pPr marL="282575" indent="-282575">
              <a:lnSpc>
                <a:spcPct val="120000"/>
              </a:lnSpc>
            </a:pPr>
            <a:r>
              <a:rPr lang="en-US" sz="3200"/>
              <a:t>It includes access controls, such as Role-Based Access Control (RBAC), to restrict unauthorized modifications, code analysis tools for detecting vulnerabilities, and sandboxed environments to isolate untrusted code execution. </a:t>
            </a:r>
          </a:p>
          <a:p>
            <a:pPr marL="282575" indent="-282575">
              <a:lnSpc>
                <a:spcPct val="120000"/>
              </a:lnSpc>
            </a:pPr>
            <a:r>
              <a:rPr lang="en-US" sz="3200"/>
              <a:t>Secure development environments often integrate version control protections, like branch protection rules in GitHub, and enforce secure coding standards through automated testing, linting, and dependency scanning (e.g., with Dependabot). </a:t>
            </a:r>
          </a:p>
          <a:p>
            <a:pPr marL="282575" indent="-282575">
              <a:lnSpc>
                <a:spcPct val="120000"/>
              </a:lnSpc>
            </a:pPr>
            <a:r>
              <a:rPr lang="en-US" sz="3200"/>
              <a:t>By implementing these security measures, organizations and educators can ensure that software is developed, tested, and deployed with minimal exposure to security threats.</a:t>
            </a:r>
          </a:p>
        </p:txBody>
      </p:sp>
    </p:spTree>
    <p:extLst>
      <p:ext uri="{BB962C8B-B14F-4D97-AF65-F5344CB8AC3E}">
        <p14:creationId xmlns:p14="http://schemas.microsoft.com/office/powerpoint/2010/main" val="32155777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8E2E4-D5C3-7E0F-D680-F53B22F4D77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EF68961-14AA-FB3C-4C26-3D7775CC0332}"/>
              </a:ext>
            </a:extLst>
          </p:cNvPr>
          <p:cNvSpPr>
            <a:spLocks noGrp="1"/>
          </p:cNvSpPr>
          <p:nvPr>
            <p:ph type="title"/>
          </p:nvPr>
        </p:nvSpPr>
        <p:spPr>
          <a:xfrm>
            <a:off x="838200" y="256848"/>
            <a:ext cx="10809718" cy="848378"/>
          </a:xfrm>
        </p:spPr>
        <p:txBody>
          <a:bodyPr>
            <a:noAutofit/>
          </a:bodyPr>
          <a:lstStyle/>
          <a:p>
            <a:r>
              <a:rPr lang="en-US" sz="3600"/>
              <a:t>2.2 Using Jupyter Notebooks and Colab for Secure Coding</a:t>
            </a:r>
          </a:p>
        </p:txBody>
      </p:sp>
      <p:sp>
        <p:nvSpPr>
          <p:cNvPr id="11" name="Content Placeholder 10">
            <a:extLst>
              <a:ext uri="{FF2B5EF4-FFF2-40B4-BE49-F238E27FC236}">
                <a16:creationId xmlns:a16="http://schemas.microsoft.com/office/drawing/2014/main" id="{51B18173-9818-19D6-D961-BE1E195613E9}"/>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2905438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7F48B-00F8-D349-1620-6C4BB7C1F6E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046873F-0694-788B-C149-D5E5A12A0BA9}"/>
              </a:ext>
            </a:extLst>
          </p:cNvPr>
          <p:cNvSpPr>
            <a:spLocks noGrp="1"/>
          </p:cNvSpPr>
          <p:nvPr>
            <p:ph type="title"/>
          </p:nvPr>
        </p:nvSpPr>
        <p:spPr>
          <a:xfrm>
            <a:off x="838200" y="256848"/>
            <a:ext cx="10809718" cy="848378"/>
          </a:xfrm>
        </p:spPr>
        <p:txBody>
          <a:bodyPr>
            <a:noAutofit/>
          </a:bodyPr>
          <a:lstStyle/>
          <a:p>
            <a:r>
              <a:rPr lang="en-US" sz="3600"/>
              <a:t>2.3 Using Notebooks for Secure Data Analysis</a:t>
            </a:r>
          </a:p>
        </p:txBody>
      </p:sp>
      <p:sp>
        <p:nvSpPr>
          <p:cNvPr id="11" name="Content Placeholder 10">
            <a:extLst>
              <a:ext uri="{FF2B5EF4-FFF2-40B4-BE49-F238E27FC236}">
                <a16:creationId xmlns:a16="http://schemas.microsoft.com/office/drawing/2014/main" id="{C112198B-62A3-3CCD-BBB4-5F7A531B1EB6}"/>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38001153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745D0-D333-B88F-D500-1D01AC76B462}"/>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CE47C4D-5624-2880-F8B2-6D63802034A0}"/>
              </a:ext>
            </a:extLst>
          </p:cNvPr>
          <p:cNvSpPr>
            <a:spLocks noGrp="1"/>
          </p:cNvSpPr>
          <p:nvPr>
            <p:ph type="title"/>
          </p:nvPr>
        </p:nvSpPr>
        <p:spPr>
          <a:xfrm>
            <a:off x="838200" y="256848"/>
            <a:ext cx="10809718" cy="848378"/>
          </a:xfrm>
        </p:spPr>
        <p:txBody>
          <a:bodyPr>
            <a:noAutofit/>
          </a:bodyPr>
          <a:lstStyle/>
          <a:p>
            <a:r>
              <a:rPr lang="en-US" sz="3600"/>
              <a:t>3.1 Secure Coding Basics: Input Validation</a:t>
            </a:r>
          </a:p>
        </p:txBody>
      </p:sp>
      <p:sp>
        <p:nvSpPr>
          <p:cNvPr id="11" name="Content Placeholder 10">
            <a:extLst>
              <a:ext uri="{FF2B5EF4-FFF2-40B4-BE49-F238E27FC236}">
                <a16:creationId xmlns:a16="http://schemas.microsoft.com/office/drawing/2014/main" id="{2EB4C9A6-5396-D452-59E5-1C7A1C34B1CA}"/>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24959103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771A6-7906-ED6B-A908-BB4C04A0026F}"/>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1610D1C-9617-EF88-6B0D-23C1A2A4BCE7}"/>
              </a:ext>
            </a:extLst>
          </p:cNvPr>
          <p:cNvSpPr>
            <a:spLocks noGrp="1"/>
          </p:cNvSpPr>
          <p:nvPr>
            <p:ph type="title"/>
          </p:nvPr>
        </p:nvSpPr>
        <p:spPr>
          <a:xfrm>
            <a:off x="838200" y="256848"/>
            <a:ext cx="11216640" cy="848378"/>
          </a:xfrm>
        </p:spPr>
        <p:txBody>
          <a:bodyPr>
            <a:noAutofit/>
          </a:bodyPr>
          <a:lstStyle/>
          <a:p>
            <a:r>
              <a:rPr lang="en-US" sz="4000"/>
              <a:t>Python Coding Style Guidelines for Maintainable Code</a:t>
            </a:r>
          </a:p>
        </p:txBody>
      </p:sp>
      <p:sp>
        <p:nvSpPr>
          <p:cNvPr id="11" name="Content Placeholder 10">
            <a:extLst>
              <a:ext uri="{FF2B5EF4-FFF2-40B4-BE49-F238E27FC236}">
                <a16:creationId xmlns:a16="http://schemas.microsoft.com/office/drawing/2014/main" id="{BD147611-9C34-AD47-5210-D36D8FD398DF}"/>
              </a:ext>
            </a:extLst>
          </p:cNvPr>
          <p:cNvSpPr>
            <a:spLocks noGrp="1"/>
          </p:cNvSpPr>
          <p:nvPr>
            <p:ph idx="1"/>
          </p:nvPr>
        </p:nvSpPr>
        <p:spPr>
          <a:xfrm>
            <a:off x="838200" y="1105226"/>
            <a:ext cx="10515600" cy="5071737"/>
          </a:xfrm>
        </p:spPr>
        <p:txBody>
          <a:bodyPr>
            <a:normAutofit/>
          </a:bodyPr>
          <a:lstStyle/>
          <a:p>
            <a:pPr marL="282575" indent="-282575"/>
            <a:r>
              <a:rPr lang="en-US">
                <a:hlinkClick r:id="rId2"/>
              </a:rPr>
              <a:t>PEP 8</a:t>
            </a:r>
            <a:r>
              <a:rPr lang="en-US"/>
              <a:t>, Python’s style guide, includes several guidelines that contribute to writing maintainable and more secure Python code. </a:t>
            </a:r>
          </a:p>
          <a:p>
            <a:pPr marL="282575" indent="-282575"/>
            <a:r>
              <a:rPr lang="en-US"/>
              <a:t>As instructors of introductory programming courses, we have the opportunity to impart the need for code style discipline and best practices early in a student's learning journey. </a:t>
            </a:r>
          </a:p>
          <a:p>
            <a:pPr marL="282575" indent="-282575"/>
            <a:r>
              <a:rPr lang="en-US"/>
              <a:t>By emphasizing the importance of concepts such as the items included below, we help students develop habits that lead to more reliable and professional software. </a:t>
            </a:r>
          </a:p>
          <a:p>
            <a:pPr marL="282575" indent="-282575"/>
            <a:r>
              <a:rPr lang="en-US"/>
              <a:t>Teaching these principles not only enhances code readability but also fosters a mindset that prioritizes security and maintainability—critical skills for any aspiring developer.</a:t>
            </a:r>
          </a:p>
        </p:txBody>
      </p:sp>
    </p:spTree>
    <p:extLst>
      <p:ext uri="{BB962C8B-B14F-4D97-AF65-F5344CB8AC3E}">
        <p14:creationId xmlns:p14="http://schemas.microsoft.com/office/powerpoint/2010/main" val="316407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9FC88-F33A-42FD-C371-B86F57801480}"/>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AD6EF36-DB50-810D-4FB7-E8E20BBB4ADE}"/>
              </a:ext>
            </a:extLst>
          </p:cNvPr>
          <p:cNvSpPr>
            <a:spLocks noGrp="1"/>
          </p:cNvSpPr>
          <p:nvPr>
            <p:ph type="title"/>
          </p:nvPr>
        </p:nvSpPr>
        <p:spPr>
          <a:xfrm>
            <a:off x="838200" y="256848"/>
            <a:ext cx="11216640" cy="848378"/>
          </a:xfrm>
        </p:spPr>
        <p:txBody>
          <a:bodyPr>
            <a:noAutofit/>
          </a:bodyPr>
          <a:lstStyle/>
          <a:p>
            <a:pPr marL="0" indent="0">
              <a:buNone/>
            </a:pPr>
            <a:r>
              <a:rPr lang="en-US" sz="4000"/>
              <a:t>1. Readability and Maintainability</a:t>
            </a:r>
          </a:p>
        </p:txBody>
      </p:sp>
      <p:sp>
        <p:nvSpPr>
          <p:cNvPr id="11" name="Content Placeholder 10">
            <a:extLst>
              <a:ext uri="{FF2B5EF4-FFF2-40B4-BE49-F238E27FC236}">
                <a16:creationId xmlns:a16="http://schemas.microsoft.com/office/drawing/2014/main" id="{EE9CA143-B9D6-2815-A52C-EAB0F68BDBA6}"/>
              </a:ext>
            </a:extLst>
          </p:cNvPr>
          <p:cNvSpPr>
            <a:spLocks noGrp="1"/>
          </p:cNvSpPr>
          <p:nvPr>
            <p:ph idx="1"/>
          </p:nvPr>
        </p:nvSpPr>
        <p:spPr>
          <a:xfrm>
            <a:off x="838200" y="1105226"/>
            <a:ext cx="10515600" cy="5071737"/>
          </a:xfrm>
        </p:spPr>
        <p:txBody>
          <a:bodyPr>
            <a:normAutofit/>
          </a:bodyPr>
          <a:lstStyle/>
          <a:p>
            <a:pPr marL="457200"/>
            <a:r>
              <a:rPr lang="en-US" sz="3200"/>
              <a:t>Consistent Indentation (</a:t>
            </a:r>
            <a:r>
              <a:rPr lang="en-US" sz="3200">
                <a:hlinkClick r:id="rId2"/>
              </a:rPr>
              <a:t>PEP 8 Reference</a:t>
            </a:r>
            <a:r>
              <a:rPr lang="en-US" sz="3200"/>
              <a:t>)</a:t>
            </a:r>
          </a:p>
          <a:p>
            <a:pPr marL="914400" lvl="1"/>
            <a:r>
              <a:rPr lang="en-US" sz="2800"/>
              <a:t>Use 4 spaces per indentation level to avoid confusion that could lead to logical errors.</a:t>
            </a:r>
          </a:p>
          <a:p>
            <a:pPr marL="457200"/>
            <a:r>
              <a:rPr lang="en-US" sz="3200"/>
              <a:t>Maximum Line Length (</a:t>
            </a:r>
            <a:r>
              <a:rPr lang="en-US" sz="3200">
                <a:hlinkClick r:id="rId3"/>
              </a:rPr>
              <a:t>PEP 8 Reference</a:t>
            </a:r>
            <a:r>
              <a:rPr lang="en-US" sz="3200"/>
              <a:t>)</a:t>
            </a:r>
          </a:p>
          <a:p>
            <a:pPr marL="914400" lvl="1"/>
            <a:r>
              <a:rPr lang="en-US" sz="2800"/>
              <a:t>79 characters prevents the need for horizontal scrolling, making it easier to audit code for security flaws.</a:t>
            </a:r>
          </a:p>
        </p:txBody>
      </p:sp>
    </p:spTree>
    <p:extLst>
      <p:ext uri="{BB962C8B-B14F-4D97-AF65-F5344CB8AC3E}">
        <p14:creationId xmlns:p14="http://schemas.microsoft.com/office/powerpoint/2010/main" val="17114179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E956B-FE93-829B-E1C5-F97530C0208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4D0CB47-548A-7B7E-7032-3E15FE4AB7B9}"/>
              </a:ext>
            </a:extLst>
          </p:cNvPr>
          <p:cNvSpPr>
            <a:spLocks noGrp="1"/>
          </p:cNvSpPr>
          <p:nvPr>
            <p:ph type="title"/>
          </p:nvPr>
        </p:nvSpPr>
        <p:spPr>
          <a:xfrm>
            <a:off x="838200" y="256848"/>
            <a:ext cx="11216640" cy="848378"/>
          </a:xfrm>
        </p:spPr>
        <p:txBody>
          <a:bodyPr>
            <a:noAutofit/>
          </a:bodyPr>
          <a:lstStyle/>
          <a:p>
            <a:pPr marL="0" indent="0">
              <a:buNone/>
            </a:pPr>
            <a:r>
              <a:rPr lang="en-US" sz="4000"/>
              <a:t>2. Naming Conventions for Clarity and Security </a:t>
            </a:r>
          </a:p>
        </p:txBody>
      </p:sp>
      <p:sp>
        <p:nvSpPr>
          <p:cNvPr id="11" name="Content Placeholder 10">
            <a:extLst>
              <a:ext uri="{FF2B5EF4-FFF2-40B4-BE49-F238E27FC236}">
                <a16:creationId xmlns:a16="http://schemas.microsoft.com/office/drawing/2014/main" id="{A76534E0-5320-F76B-C2D5-3CD1A3F7135F}"/>
              </a:ext>
            </a:extLst>
          </p:cNvPr>
          <p:cNvSpPr>
            <a:spLocks noGrp="1"/>
          </p:cNvSpPr>
          <p:nvPr>
            <p:ph idx="1"/>
          </p:nvPr>
        </p:nvSpPr>
        <p:spPr>
          <a:xfrm>
            <a:off x="838200" y="1105226"/>
            <a:ext cx="10515600" cy="5071737"/>
          </a:xfrm>
        </p:spPr>
        <p:txBody>
          <a:bodyPr>
            <a:normAutofit/>
          </a:bodyPr>
          <a:lstStyle/>
          <a:p>
            <a:pPr marL="685800" indent="-457200"/>
            <a:r>
              <a:rPr lang="en-US" sz="3200">
                <a:hlinkClick r:id="rId2"/>
              </a:rPr>
              <a:t>PEP 8 Reference</a:t>
            </a:r>
            <a:endParaRPr lang="en-US" sz="3200"/>
          </a:p>
          <a:p>
            <a:pPr marL="685800" indent="-457200"/>
            <a:r>
              <a:rPr lang="en-US" sz="3200"/>
              <a:t>Use meaningful names for variables, functions, and classes.</a:t>
            </a:r>
          </a:p>
          <a:p>
            <a:pPr marL="685800" indent="-457200"/>
            <a:r>
              <a:rPr lang="en-US" sz="3200"/>
              <a:t>Avoid names that resemble Python built-ins (e.g., don’t name a variable id, list, or eval).</a:t>
            </a:r>
          </a:p>
          <a:p>
            <a:pPr marL="685800" indent="-457200"/>
            <a:r>
              <a:rPr lang="en-US" sz="3200"/>
              <a:t>Use CAPITALIZED_NAMES for constants that shouldn’t be modified.</a:t>
            </a:r>
          </a:p>
        </p:txBody>
      </p:sp>
    </p:spTree>
    <p:extLst>
      <p:ext uri="{BB962C8B-B14F-4D97-AF65-F5344CB8AC3E}">
        <p14:creationId xmlns:p14="http://schemas.microsoft.com/office/powerpoint/2010/main" val="3073900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5BAA2-4F2C-E02D-C826-A3DE5DD9060C}"/>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D920FB9B-7D0A-9704-A56C-68BCF3D1FB10}"/>
              </a:ext>
            </a:extLst>
          </p:cNvPr>
          <p:cNvSpPr>
            <a:spLocks noGrp="1"/>
          </p:cNvSpPr>
          <p:nvPr>
            <p:ph type="title"/>
          </p:nvPr>
        </p:nvSpPr>
        <p:spPr>
          <a:xfrm>
            <a:off x="838200" y="256848"/>
            <a:ext cx="11216640" cy="848378"/>
          </a:xfrm>
        </p:spPr>
        <p:txBody>
          <a:bodyPr>
            <a:noAutofit/>
          </a:bodyPr>
          <a:lstStyle/>
          <a:p>
            <a:pPr marL="0" indent="0">
              <a:buNone/>
            </a:pPr>
            <a:r>
              <a:rPr lang="en-US" sz="4000"/>
              <a:t>3. Avoid wildcard imports</a:t>
            </a:r>
          </a:p>
        </p:txBody>
      </p:sp>
      <p:sp>
        <p:nvSpPr>
          <p:cNvPr id="11" name="Content Placeholder 10">
            <a:extLst>
              <a:ext uri="{FF2B5EF4-FFF2-40B4-BE49-F238E27FC236}">
                <a16:creationId xmlns:a16="http://schemas.microsoft.com/office/drawing/2014/main" id="{0B70714E-72E3-047C-F20A-822A4744D2CA}"/>
              </a:ext>
            </a:extLst>
          </p:cNvPr>
          <p:cNvSpPr>
            <a:spLocks noGrp="1"/>
          </p:cNvSpPr>
          <p:nvPr>
            <p:ph idx="1"/>
          </p:nvPr>
        </p:nvSpPr>
        <p:spPr>
          <a:xfrm>
            <a:off x="838200" y="1105226"/>
            <a:ext cx="10515600" cy="5071737"/>
          </a:xfrm>
        </p:spPr>
        <p:txBody>
          <a:bodyPr>
            <a:normAutofit/>
          </a:bodyPr>
          <a:lstStyle/>
          <a:p>
            <a:pPr marL="685800" indent="-457200"/>
            <a:r>
              <a:rPr lang="en-US" sz="3200">
                <a:hlinkClick r:id="rId2"/>
              </a:rPr>
              <a:t>PEP 8 Reference</a:t>
            </a:r>
            <a:endParaRPr lang="en-US" sz="3200"/>
          </a:p>
          <a:p>
            <a:pPr marL="685800" indent="-457200"/>
            <a:r>
              <a:rPr lang="en-US" sz="3200"/>
              <a:t>Avoid</a:t>
            </a:r>
          </a:p>
          <a:p>
            <a:pPr marL="685800" indent="0">
              <a:buNone/>
            </a:pPr>
            <a:endParaRPr lang="en-US" sz="1400">
              <a:latin typeface="Consolas" panose="020B0609020204030204" pitchFamily="49" charset="0"/>
            </a:endParaRPr>
          </a:p>
          <a:p>
            <a:pPr marL="1371600" indent="0">
              <a:buNone/>
            </a:pPr>
            <a:r>
              <a:rPr lang="en-US" sz="3200">
                <a:latin typeface="Consolas" panose="020B0609020204030204" pitchFamily="49" charset="0"/>
              </a:rPr>
              <a:t>from module import *</a:t>
            </a:r>
          </a:p>
          <a:p>
            <a:pPr marL="685800" indent="0">
              <a:buNone/>
            </a:pPr>
            <a:endParaRPr lang="en-US" sz="1400">
              <a:latin typeface="Consolas" panose="020B0609020204030204" pitchFamily="49" charset="0"/>
            </a:endParaRPr>
          </a:p>
          <a:p>
            <a:pPr marL="685800" indent="-457200"/>
            <a:r>
              <a:rPr lang="en-US" sz="3200"/>
              <a:t>This can introduce unintended variables and functions into the namespace, leading to unpredictable behavior.</a:t>
            </a:r>
          </a:p>
        </p:txBody>
      </p:sp>
    </p:spTree>
    <p:extLst>
      <p:ext uri="{BB962C8B-B14F-4D97-AF65-F5344CB8AC3E}">
        <p14:creationId xmlns:p14="http://schemas.microsoft.com/office/powerpoint/2010/main" val="29320589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9BEF1-D61E-0DC1-DF36-7DFDB0C8B22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72B159BB-6236-2170-CED9-22CD9345C4D3}"/>
              </a:ext>
            </a:extLst>
          </p:cNvPr>
          <p:cNvSpPr>
            <a:spLocks noGrp="1"/>
          </p:cNvSpPr>
          <p:nvPr>
            <p:ph type="title"/>
          </p:nvPr>
        </p:nvSpPr>
        <p:spPr>
          <a:xfrm>
            <a:off x="838200" y="256848"/>
            <a:ext cx="11216640" cy="848378"/>
          </a:xfrm>
        </p:spPr>
        <p:txBody>
          <a:bodyPr>
            <a:noAutofit/>
          </a:bodyPr>
          <a:lstStyle/>
          <a:p>
            <a:pPr marL="0" indent="0">
              <a:buNone/>
            </a:pPr>
            <a:r>
              <a:rPr lang="en-US" sz="4000"/>
              <a:t>4. Whitespace and Readability to Avoid Logical Errors </a:t>
            </a:r>
          </a:p>
        </p:txBody>
      </p:sp>
      <p:sp>
        <p:nvSpPr>
          <p:cNvPr id="11" name="Content Placeholder 10">
            <a:extLst>
              <a:ext uri="{FF2B5EF4-FFF2-40B4-BE49-F238E27FC236}">
                <a16:creationId xmlns:a16="http://schemas.microsoft.com/office/drawing/2014/main" id="{174C0219-E75C-B2EF-E289-9B7A03AB3526}"/>
              </a:ext>
            </a:extLst>
          </p:cNvPr>
          <p:cNvSpPr>
            <a:spLocks noGrp="1"/>
          </p:cNvSpPr>
          <p:nvPr>
            <p:ph idx="1"/>
          </p:nvPr>
        </p:nvSpPr>
        <p:spPr>
          <a:xfrm>
            <a:off x="838200" y="1105226"/>
            <a:ext cx="10515600" cy="5495926"/>
          </a:xfrm>
        </p:spPr>
        <p:txBody>
          <a:bodyPr>
            <a:normAutofit fontScale="77500" lnSpcReduction="20000"/>
          </a:bodyPr>
          <a:lstStyle/>
          <a:p>
            <a:pPr marL="685800" indent="-457200"/>
            <a:r>
              <a:rPr lang="en-US" sz="3200">
                <a:hlinkClick r:id="rId2"/>
              </a:rPr>
              <a:t>PEP 8 Reference</a:t>
            </a:r>
            <a:endParaRPr lang="en-US" sz="3200"/>
          </a:p>
          <a:p>
            <a:pPr marL="685800" indent="-457200"/>
            <a:r>
              <a:rPr lang="en-US" sz="3200"/>
              <a:t>Use spaces around operators and after commas to improve readability. Do this:</a:t>
            </a:r>
          </a:p>
          <a:p>
            <a:pPr marL="685800" indent="-457200"/>
            <a:endParaRPr lang="en-US" sz="1600">
              <a:latin typeface="Consolas" panose="020B0609020204030204" pitchFamily="49" charset="0"/>
            </a:endParaRPr>
          </a:p>
          <a:p>
            <a:pPr marL="1431925" indent="0">
              <a:buNone/>
            </a:pPr>
            <a:r>
              <a:rPr lang="en-US" sz="2600" b="1">
                <a:latin typeface="Consolas" panose="020B0609020204030204" pitchFamily="49" charset="0"/>
              </a:rPr>
              <a:t>x = a + b</a:t>
            </a:r>
          </a:p>
          <a:p>
            <a:pPr marL="685800" indent="0">
              <a:buNone/>
            </a:pPr>
            <a:endParaRPr lang="en-US" sz="1600"/>
          </a:p>
          <a:p>
            <a:pPr marL="685800" indent="0">
              <a:buNone/>
            </a:pPr>
            <a:r>
              <a:rPr lang="en-US" sz="3200"/>
              <a:t>instead of:</a:t>
            </a:r>
          </a:p>
          <a:p>
            <a:pPr marL="685800" indent="0">
              <a:buNone/>
            </a:pPr>
            <a:endParaRPr lang="en-US" sz="1600" b="1">
              <a:latin typeface="Consolas" panose="020B0609020204030204" pitchFamily="49" charset="0"/>
            </a:endParaRPr>
          </a:p>
          <a:p>
            <a:pPr marL="1431925" indent="0">
              <a:buNone/>
            </a:pPr>
            <a:r>
              <a:rPr lang="en-US" sz="2600" b="1">
                <a:latin typeface="Consolas" panose="020B0609020204030204" pitchFamily="49" charset="0"/>
              </a:rPr>
              <a:t>x=a+b</a:t>
            </a:r>
          </a:p>
          <a:p>
            <a:pPr marL="1431925" indent="0">
              <a:buNone/>
            </a:pPr>
            <a:endParaRPr lang="en-US" sz="1600" b="1">
              <a:latin typeface="Consolas" panose="020B0609020204030204" pitchFamily="49" charset="0"/>
            </a:endParaRPr>
          </a:p>
          <a:p>
            <a:pPr marL="685800" indent="-457200"/>
            <a:r>
              <a:rPr lang="en-US" sz="3200"/>
              <a:t>Avoid extraneous whitespace in expressions. Instead of:</a:t>
            </a:r>
          </a:p>
          <a:p>
            <a:pPr marL="685800" indent="-457200"/>
            <a:endParaRPr lang="en-US" sz="1400"/>
          </a:p>
          <a:p>
            <a:pPr marL="1431925" indent="0">
              <a:buNone/>
            </a:pPr>
            <a:r>
              <a:rPr lang="en-US" b="1">
                <a:latin typeface="Consolas" panose="020B0609020204030204" pitchFamily="49" charset="0"/>
              </a:rPr>
              <a:t>x = (a + b ) # (trailing space inside parentheses)</a:t>
            </a:r>
          </a:p>
          <a:p>
            <a:pPr marL="685800" indent="-457200"/>
            <a:endParaRPr lang="en-US" sz="1400" b="1">
              <a:latin typeface="Consolas" panose="020B0609020204030204" pitchFamily="49" charset="0"/>
            </a:endParaRPr>
          </a:p>
          <a:p>
            <a:pPr marL="685800" indent="-457200"/>
            <a:r>
              <a:rPr lang="en-US" sz="3200"/>
              <a:t>Do this: </a:t>
            </a:r>
          </a:p>
          <a:p>
            <a:pPr marL="685800" indent="-457200"/>
            <a:endParaRPr lang="en-US" sz="1400"/>
          </a:p>
          <a:p>
            <a:pPr marL="1431925" indent="0">
              <a:buNone/>
            </a:pPr>
            <a:r>
              <a:rPr lang="en-US" sz="2700" b="1">
                <a:latin typeface="Consolas" panose="020B0609020204030204" pitchFamily="49" charset="0"/>
              </a:rPr>
              <a:t>x = (a + b)</a:t>
            </a:r>
          </a:p>
          <a:p>
            <a:pPr marL="685800" indent="-457200"/>
            <a:endParaRPr lang="en-US" sz="3200"/>
          </a:p>
        </p:txBody>
      </p:sp>
    </p:spTree>
    <p:extLst>
      <p:ext uri="{BB962C8B-B14F-4D97-AF65-F5344CB8AC3E}">
        <p14:creationId xmlns:p14="http://schemas.microsoft.com/office/powerpoint/2010/main" val="26220096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0BDED-B964-D3D7-586F-05FA224BB6A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574C39F-7009-4DB0-2A93-DF354FB1A564}"/>
              </a:ext>
            </a:extLst>
          </p:cNvPr>
          <p:cNvSpPr>
            <a:spLocks noGrp="1"/>
          </p:cNvSpPr>
          <p:nvPr>
            <p:ph type="title"/>
          </p:nvPr>
        </p:nvSpPr>
        <p:spPr>
          <a:xfrm>
            <a:off x="838200" y="256848"/>
            <a:ext cx="11216640" cy="848378"/>
          </a:xfrm>
        </p:spPr>
        <p:txBody>
          <a:bodyPr>
            <a:noAutofit/>
          </a:bodyPr>
          <a:lstStyle/>
          <a:p>
            <a:pPr marL="0" indent="0">
              <a:buNone/>
            </a:pPr>
            <a:r>
              <a:rPr lang="en-US" sz="4000"/>
              <a:t>5. Proper Exception Handling </a:t>
            </a:r>
          </a:p>
        </p:txBody>
      </p:sp>
      <p:sp>
        <p:nvSpPr>
          <p:cNvPr id="11" name="Content Placeholder 10">
            <a:extLst>
              <a:ext uri="{FF2B5EF4-FFF2-40B4-BE49-F238E27FC236}">
                <a16:creationId xmlns:a16="http://schemas.microsoft.com/office/drawing/2014/main" id="{1976C4E8-FC6E-C449-CCCA-57B322B26A42}"/>
              </a:ext>
            </a:extLst>
          </p:cNvPr>
          <p:cNvSpPr>
            <a:spLocks noGrp="1"/>
          </p:cNvSpPr>
          <p:nvPr>
            <p:ph idx="1"/>
          </p:nvPr>
        </p:nvSpPr>
        <p:spPr>
          <a:xfrm>
            <a:off x="838200" y="1105226"/>
            <a:ext cx="10515600" cy="5495926"/>
          </a:xfrm>
        </p:spPr>
        <p:txBody>
          <a:bodyPr>
            <a:normAutofit fontScale="92500" lnSpcReduction="10000"/>
          </a:bodyPr>
          <a:lstStyle/>
          <a:p>
            <a:pPr marL="288925" indent="-288925"/>
            <a:r>
              <a:rPr lang="en-US" sz="3200">
                <a:hlinkClick r:id="rId2"/>
              </a:rPr>
              <a:t>PEP 8 Reference</a:t>
            </a:r>
            <a:endParaRPr lang="en-US" sz="3200"/>
          </a:p>
          <a:p>
            <a:pPr marL="288925" indent="-288925"/>
            <a:r>
              <a:rPr lang="en-US" sz="3200"/>
              <a:t>Don’t use "bare except" statements. </a:t>
            </a:r>
            <a:r>
              <a:rPr lang="en-US" sz="2900"/>
              <a:t>Instead of:</a:t>
            </a:r>
          </a:p>
          <a:p>
            <a:pPr marL="288925" indent="-288925"/>
            <a:endParaRPr lang="en-US" sz="1300"/>
          </a:p>
          <a:p>
            <a:pPr marL="914400" indent="0">
              <a:buNone/>
            </a:pPr>
            <a:r>
              <a:rPr lang="en-US" sz="2400" b="1">
                <a:latin typeface="Consolas" panose="020B0609020204030204" pitchFamily="49" charset="0"/>
              </a:rPr>
              <a:t>try:</a:t>
            </a:r>
          </a:p>
          <a:p>
            <a:pPr marL="914400" indent="0">
              <a:buNone/>
            </a:pPr>
            <a:r>
              <a:rPr lang="en-US" sz="2400" b="1">
                <a:latin typeface="Consolas" panose="020B0609020204030204" pitchFamily="49" charset="0"/>
              </a:rPr>
              <a:t>    process_data()</a:t>
            </a:r>
          </a:p>
          <a:p>
            <a:pPr marL="914400" indent="0">
              <a:buNone/>
            </a:pPr>
            <a:r>
              <a:rPr lang="en-US" sz="2400" b="1">
                <a:latin typeface="Consolas" panose="020B0609020204030204" pitchFamily="49" charset="0"/>
              </a:rPr>
              <a:t>except:</a:t>
            </a:r>
          </a:p>
          <a:p>
            <a:pPr marL="914400" indent="0">
              <a:buNone/>
            </a:pPr>
            <a:r>
              <a:rPr lang="en-US" sz="2400" b="1">
                <a:latin typeface="Consolas" panose="020B0609020204030204" pitchFamily="49" charset="0"/>
              </a:rPr>
              <a:t>    pass # Silently ignores errors (including critical ones)</a:t>
            </a:r>
          </a:p>
          <a:p>
            <a:pPr marL="288925" indent="-288925">
              <a:buNone/>
            </a:pPr>
            <a:endParaRPr lang="en-US" sz="1200" b="1">
              <a:latin typeface="Consolas" panose="020B0609020204030204" pitchFamily="49" charset="0"/>
            </a:endParaRPr>
          </a:p>
          <a:p>
            <a:pPr marL="288925" indent="-288925"/>
            <a:r>
              <a:rPr lang="en-US" sz="2900"/>
              <a:t>Do this:</a:t>
            </a:r>
          </a:p>
          <a:p>
            <a:pPr marL="288925" indent="-288925"/>
            <a:endParaRPr lang="en-US" sz="1300"/>
          </a:p>
          <a:p>
            <a:pPr marL="914400" indent="0">
              <a:buNone/>
            </a:pPr>
            <a:r>
              <a:rPr lang="en-US" sz="2200" b="1">
                <a:latin typeface="Consolas" panose="020B0609020204030204" pitchFamily="49" charset="0"/>
              </a:rPr>
              <a:t>try:</a:t>
            </a:r>
          </a:p>
          <a:p>
            <a:pPr marL="914400" indent="0">
              <a:buNone/>
            </a:pPr>
            <a:r>
              <a:rPr lang="en-US" sz="2200" b="1">
                <a:latin typeface="Consolas" panose="020B0609020204030204" pitchFamily="49" charset="0"/>
              </a:rPr>
              <a:t>    process_data()</a:t>
            </a:r>
          </a:p>
          <a:p>
            <a:pPr marL="914400" indent="0">
              <a:buNone/>
            </a:pPr>
            <a:r>
              <a:rPr lang="en-US" sz="2200" b="1">
                <a:latin typeface="Consolas" panose="020B0609020204030204" pitchFamily="49" charset="0"/>
              </a:rPr>
              <a:t>except (ValueError, KeyError) as e:</a:t>
            </a:r>
          </a:p>
          <a:p>
            <a:pPr marL="914400" indent="0">
              <a:buNone/>
            </a:pPr>
            <a:r>
              <a:rPr lang="en-US" sz="2200" b="1">
                <a:latin typeface="Consolas" panose="020B0609020204030204" pitchFamily="49" charset="0"/>
              </a:rPr>
              <a:t>    logger.error(f"Processing failed: {e}")  # Log the issue</a:t>
            </a:r>
          </a:p>
        </p:txBody>
      </p:sp>
    </p:spTree>
    <p:extLst>
      <p:ext uri="{BB962C8B-B14F-4D97-AF65-F5344CB8AC3E}">
        <p14:creationId xmlns:p14="http://schemas.microsoft.com/office/powerpoint/2010/main" val="6483906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EB5AC-59C6-DBA6-55E4-5A60CEB5421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51EB25D-1BE3-4F96-5F47-E5C5FFA06BFA}"/>
              </a:ext>
            </a:extLst>
          </p:cNvPr>
          <p:cNvSpPr>
            <a:spLocks noGrp="1"/>
          </p:cNvSpPr>
          <p:nvPr>
            <p:ph type="title"/>
          </p:nvPr>
        </p:nvSpPr>
        <p:spPr>
          <a:xfrm>
            <a:off x="838200" y="256848"/>
            <a:ext cx="11216640" cy="848378"/>
          </a:xfrm>
        </p:spPr>
        <p:txBody>
          <a:bodyPr>
            <a:noAutofit/>
          </a:bodyPr>
          <a:lstStyle/>
          <a:p>
            <a:pPr marL="0" indent="0">
              <a:buNone/>
            </a:pPr>
            <a:r>
              <a:rPr lang="en-US" sz="4000"/>
              <a:t>5. Proper Exception Handling (cont)</a:t>
            </a:r>
          </a:p>
        </p:txBody>
      </p:sp>
      <p:sp>
        <p:nvSpPr>
          <p:cNvPr id="11" name="Content Placeholder 10">
            <a:extLst>
              <a:ext uri="{FF2B5EF4-FFF2-40B4-BE49-F238E27FC236}">
                <a16:creationId xmlns:a16="http://schemas.microsoft.com/office/drawing/2014/main" id="{F202EDF0-0974-BE06-35AF-822C7CABCAB9}"/>
              </a:ext>
            </a:extLst>
          </p:cNvPr>
          <p:cNvSpPr>
            <a:spLocks noGrp="1"/>
          </p:cNvSpPr>
          <p:nvPr>
            <p:ph idx="1"/>
          </p:nvPr>
        </p:nvSpPr>
        <p:spPr>
          <a:xfrm>
            <a:off x="838200" y="1105226"/>
            <a:ext cx="10515600" cy="5495926"/>
          </a:xfrm>
        </p:spPr>
        <p:txBody>
          <a:bodyPr>
            <a:normAutofit/>
          </a:bodyPr>
          <a:lstStyle/>
          <a:p>
            <a:pPr marL="457200" indent="-457200"/>
            <a:r>
              <a:rPr lang="en-US" sz="3000"/>
              <a:t>Raise exceptions explicitly. Instead of: </a:t>
            </a:r>
          </a:p>
          <a:p>
            <a:pPr marL="457200" indent="-457200"/>
            <a:endParaRPr lang="en-US" sz="2200" b="1">
              <a:latin typeface="Consolas" panose="020B0609020204030204" pitchFamily="49" charset="0"/>
            </a:endParaRPr>
          </a:p>
          <a:p>
            <a:pPr marL="860425" indent="0">
              <a:buNone/>
            </a:pPr>
            <a:r>
              <a:rPr lang="en-US" sz="2200" b="1">
                <a:latin typeface="Consolas" panose="020B0609020204030204" pitchFamily="49" charset="0"/>
              </a:rPr>
              <a:t>raise "Error occurred" # (raises a string -- invalid)</a:t>
            </a:r>
          </a:p>
          <a:p>
            <a:pPr marL="457200" indent="-457200"/>
            <a:endParaRPr lang="en-US" sz="2200" b="1">
              <a:latin typeface="Consolas" panose="020B0609020204030204" pitchFamily="49" charset="0"/>
            </a:endParaRPr>
          </a:p>
          <a:p>
            <a:pPr marL="457200" indent="-457200"/>
            <a:r>
              <a:rPr lang="en-US" sz="3000"/>
              <a:t>Do this: </a:t>
            </a:r>
          </a:p>
          <a:p>
            <a:pPr marL="457200" indent="-457200"/>
            <a:endParaRPr lang="en-US" sz="2200" b="1">
              <a:latin typeface="Consolas" panose="020B0609020204030204" pitchFamily="49" charset="0"/>
            </a:endParaRPr>
          </a:p>
          <a:p>
            <a:pPr marL="860425" indent="0">
              <a:buNone/>
            </a:pPr>
            <a:r>
              <a:rPr lang="en-US" sz="2200" b="1">
                <a:latin typeface="Consolas" panose="020B0609020204030204" pitchFamily="49" charset="0"/>
              </a:rPr>
              <a:t>raise ValueError("Invalid input")</a:t>
            </a:r>
          </a:p>
          <a:p>
            <a:pPr marL="685800" indent="-457200"/>
            <a:endParaRPr lang="en-US" sz="2200" b="1">
              <a:latin typeface="Consolas" panose="020B0609020204030204" pitchFamily="49" charset="0"/>
            </a:endParaRPr>
          </a:p>
        </p:txBody>
      </p:sp>
    </p:spTree>
    <p:extLst>
      <p:ext uri="{BB962C8B-B14F-4D97-AF65-F5344CB8AC3E}">
        <p14:creationId xmlns:p14="http://schemas.microsoft.com/office/powerpoint/2010/main" val="2502104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2DE55-5EC5-191C-809B-2854B2FA6FA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DA42000D-7743-50AD-E803-BC091F2D5D3A}"/>
              </a:ext>
            </a:extLst>
          </p:cNvPr>
          <p:cNvSpPr>
            <a:spLocks noGrp="1"/>
          </p:cNvSpPr>
          <p:nvPr>
            <p:ph type="title"/>
          </p:nvPr>
        </p:nvSpPr>
        <p:spPr>
          <a:xfrm>
            <a:off x="838200" y="256848"/>
            <a:ext cx="11216640" cy="848378"/>
          </a:xfrm>
        </p:spPr>
        <p:txBody>
          <a:bodyPr>
            <a:noAutofit/>
          </a:bodyPr>
          <a:lstStyle/>
          <a:p>
            <a:pPr marL="0" indent="0">
              <a:buNone/>
            </a:pPr>
            <a:r>
              <a:rPr lang="en-US" sz="4000"/>
              <a:t>6. Mutability Awareness </a:t>
            </a:r>
          </a:p>
        </p:txBody>
      </p:sp>
      <p:sp>
        <p:nvSpPr>
          <p:cNvPr id="11" name="Content Placeholder 10">
            <a:extLst>
              <a:ext uri="{FF2B5EF4-FFF2-40B4-BE49-F238E27FC236}">
                <a16:creationId xmlns:a16="http://schemas.microsoft.com/office/drawing/2014/main" id="{8EB84410-A3F1-BA12-2B47-CC9E27560371}"/>
              </a:ext>
            </a:extLst>
          </p:cNvPr>
          <p:cNvSpPr>
            <a:spLocks noGrp="1"/>
          </p:cNvSpPr>
          <p:nvPr>
            <p:ph idx="1"/>
          </p:nvPr>
        </p:nvSpPr>
        <p:spPr>
          <a:xfrm>
            <a:off x="838200" y="1105226"/>
            <a:ext cx="10515600" cy="5495926"/>
          </a:xfrm>
        </p:spPr>
        <p:txBody>
          <a:bodyPr>
            <a:normAutofit fontScale="92500" lnSpcReduction="20000"/>
          </a:bodyPr>
          <a:lstStyle/>
          <a:p>
            <a:pPr marL="342900" indent="-342900"/>
            <a:r>
              <a:rPr lang="en-US" sz="3000"/>
              <a:t>PEP 8 Reference</a:t>
            </a:r>
          </a:p>
          <a:p>
            <a:pPr marL="342900" indent="-342900"/>
            <a:r>
              <a:rPr lang="en-US" sz="3000"/>
              <a:t>Don’t use mutable default arguments</a:t>
            </a:r>
          </a:p>
          <a:p>
            <a:pPr marL="342900" indent="-342900"/>
            <a:r>
              <a:rPr lang="en-US" sz="3000"/>
              <a:t>This can lead to unintended state retention. Instead of this:</a:t>
            </a:r>
          </a:p>
          <a:p>
            <a:pPr marL="342900" indent="-342900"/>
            <a:r>
              <a:rPr lang="en-US" sz="3000"/>
              <a:t>def insecure_function(data=[]):</a:t>
            </a:r>
          </a:p>
          <a:p>
            <a:pPr marL="342900" indent="-342900"/>
            <a:r>
              <a:rPr lang="en-US" sz="3000"/>
              <a:t>    data.append("new_value")</a:t>
            </a:r>
          </a:p>
          <a:p>
            <a:pPr marL="342900" indent="-342900"/>
            <a:r>
              <a:rPr lang="en-US" sz="3000"/>
              <a:t>    return data</a:t>
            </a:r>
          </a:p>
          <a:p>
            <a:pPr marL="342900" indent="-342900"/>
            <a:r>
              <a:rPr lang="en-US" sz="3000"/>
              <a:t>Do this:</a:t>
            </a:r>
          </a:p>
          <a:p>
            <a:pPr marL="342900" indent="-342900"/>
            <a:r>
              <a:rPr lang="en-US" sz="3000"/>
              <a:t>def secure_function(data=None):</a:t>
            </a:r>
          </a:p>
          <a:p>
            <a:pPr marL="342900" indent="-342900"/>
            <a:r>
              <a:rPr lang="en-US" sz="3000"/>
              <a:t>    if data is None:</a:t>
            </a:r>
          </a:p>
          <a:p>
            <a:pPr marL="342900" indent="-342900"/>
            <a:r>
              <a:rPr lang="en-US" sz="3000"/>
              <a:t>        data = []</a:t>
            </a:r>
          </a:p>
          <a:p>
            <a:pPr marL="342900" indent="-342900"/>
            <a:r>
              <a:rPr lang="en-US" sz="3000"/>
              <a:t>    data.append("new_value")</a:t>
            </a:r>
          </a:p>
          <a:p>
            <a:pPr marL="342900" indent="-342900"/>
            <a:r>
              <a:rPr lang="en-US" sz="3000"/>
              <a:t>    return data</a:t>
            </a:r>
          </a:p>
          <a:p>
            <a:pPr marL="685800" indent="-457200"/>
            <a:endParaRPr lang="en-US" sz="2200" b="1">
              <a:latin typeface="Consolas" panose="020B0609020204030204" pitchFamily="49" charset="0"/>
            </a:endParaRPr>
          </a:p>
        </p:txBody>
      </p:sp>
    </p:spTree>
    <p:extLst>
      <p:ext uri="{BB962C8B-B14F-4D97-AF65-F5344CB8AC3E}">
        <p14:creationId xmlns:p14="http://schemas.microsoft.com/office/powerpoint/2010/main" val="28238084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BAC92-0FFA-2002-63DC-2B6685E429DF}"/>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7B59CD57-5A9B-6077-DDF0-8EE7A3C52A11}"/>
              </a:ext>
            </a:extLst>
          </p:cNvPr>
          <p:cNvSpPr>
            <a:spLocks noGrp="1"/>
          </p:cNvSpPr>
          <p:nvPr>
            <p:ph type="title"/>
          </p:nvPr>
        </p:nvSpPr>
        <p:spPr>
          <a:xfrm>
            <a:off x="838200" y="256848"/>
            <a:ext cx="11216640" cy="848378"/>
          </a:xfrm>
        </p:spPr>
        <p:txBody>
          <a:bodyPr>
            <a:noAutofit/>
          </a:bodyPr>
          <a:lstStyle/>
          <a:p>
            <a:pPr marL="0" indent="0">
              <a:buNone/>
            </a:pPr>
            <a:r>
              <a:rPr lang="en-US" sz="4000"/>
              <a:t>7. Code Organization and Modularization</a:t>
            </a:r>
          </a:p>
        </p:txBody>
      </p:sp>
      <p:sp>
        <p:nvSpPr>
          <p:cNvPr id="11" name="Content Placeholder 10">
            <a:extLst>
              <a:ext uri="{FF2B5EF4-FFF2-40B4-BE49-F238E27FC236}">
                <a16:creationId xmlns:a16="http://schemas.microsoft.com/office/drawing/2014/main" id="{6450C374-8195-C5CE-90CD-329F4B10C4CA}"/>
              </a:ext>
            </a:extLst>
          </p:cNvPr>
          <p:cNvSpPr>
            <a:spLocks noGrp="1"/>
          </p:cNvSpPr>
          <p:nvPr>
            <p:ph idx="1"/>
          </p:nvPr>
        </p:nvSpPr>
        <p:spPr>
          <a:xfrm>
            <a:off x="838200" y="1105226"/>
            <a:ext cx="10515600" cy="5495926"/>
          </a:xfrm>
        </p:spPr>
        <p:txBody>
          <a:bodyPr>
            <a:normAutofit/>
          </a:bodyPr>
          <a:lstStyle/>
          <a:p>
            <a:pPr marL="342900" indent="-342900"/>
            <a:r>
              <a:rPr lang="en-US" sz="3000"/>
              <a:t>7. Code Organization and Modularization (PEP 8 Reference)</a:t>
            </a:r>
          </a:p>
          <a:p>
            <a:pPr marL="342900" indent="-342900"/>
            <a:r>
              <a:rPr lang="en-US" sz="3000"/>
              <a:t>•	Break large functions into smaller ones</a:t>
            </a:r>
          </a:p>
          <a:p>
            <a:pPr marL="342900" indent="-342900"/>
            <a:r>
              <a:rPr lang="en-US" sz="3000"/>
              <a:t>o	Easier to audit and test for vulnerabilities.</a:t>
            </a:r>
          </a:p>
          <a:p>
            <a:pPr marL="342900" indent="-342900"/>
            <a:r>
              <a:rPr lang="en-US" sz="3000"/>
              <a:t>•	Use consistent module structure</a:t>
            </a:r>
          </a:p>
          <a:p>
            <a:pPr marL="342900" indent="-342900"/>
            <a:r>
              <a:rPr lang="en-US" sz="3000"/>
              <a:t>o	If security-critical logic is mixed with non-security functions, it can be harder to spot vulnerabilities.</a:t>
            </a:r>
          </a:p>
          <a:p>
            <a:pPr marL="685800" indent="-457200"/>
            <a:endParaRPr lang="en-US" sz="2200" b="1">
              <a:latin typeface="Consolas" panose="020B0609020204030204" pitchFamily="49" charset="0"/>
            </a:endParaRPr>
          </a:p>
        </p:txBody>
      </p:sp>
    </p:spTree>
    <p:extLst>
      <p:ext uri="{BB962C8B-B14F-4D97-AF65-F5344CB8AC3E}">
        <p14:creationId xmlns:p14="http://schemas.microsoft.com/office/powerpoint/2010/main" val="33733324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ED473-CF35-D995-81FE-830B0C85BA27}"/>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AA92F330-A04C-2055-0F5D-DA4DF7A4BD8A}"/>
              </a:ext>
            </a:extLst>
          </p:cNvPr>
          <p:cNvSpPr>
            <a:spLocks noGrp="1"/>
          </p:cNvSpPr>
          <p:nvPr>
            <p:ph type="title"/>
          </p:nvPr>
        </p:nvSpPr>
        <p:spPr>
          <a:xfrm>
            <a:off x="838200" y="256848"/>
            <a:ext cx="11216640" cy="848378"/>
          </a:xfrm>
        </p:spPr>
        <p:txBody>
          <a:bodyPr>
            <a:noAutofit/>
          </a:bodyPr>
          <a:lstStyle/>
          <a:p>
            <a:pPr marL="342900" indent="-342900"/>
            <a:r>
              <a:rPr lang="en-US" sz="4000"/>
              <a:t>8. Documentation and Comments</a:t>
            </a:r>
          </a:p>
        </p:txBody>
      </p:sp>
      <p:sp>
        <p:nvSpPr>
          <p:cNvPr id="11" name="Content Placeholder 10">
            <a:extLst>
              <a:ext uri="{FF2B5EF4-FFF2-40B4-BE49-F238E27FC236}">
                <a16:creationId xmlns:a16="http://schemas.microsoft.com/office/drawing/2014/main" id="{C77371AF-8EDF-A1E7-ED70-08FE2C872AC6}"/>
              </a:ext>
            </a:extLst>
          </p:cNvPr>
          <p:cNvSpPr>
            <a:spLocks noGrp="1"/>
          </p:cNvSpPr>
          <p:nvPr>
            <p:ph idx="1"/>
          </p:nvPr>
        </p:nvSpPr>
        <p:spPr>
          <a:xfrm>
            <a:off x="838200" y="1105226"/>
            <a:ext cx="10515600" cy="5495926"/>
          </a:xfrm>
        </p:spPr>
        <p:txBody>
          <a:bodyPr>
            <a:normAutofit/>
          </a:bodyPr>
          <a:lstStyle/>
          <a:p>
            <a:pPr marL="342900" indent="-342900"/>
            <a:r>
              <a:rPr lang="en-US" sz="3000"/>
              <a:t>8. Documentation (PEP 8 Reference) and Comments (PEP 8 Reference)</a:t>
            </a:r>
          </a:p>
          <a:p>
            <a:pPr marL="342900" indent="-342900"/>
            <a:r>
              <a:rPr lang="en-US" sz="3000"/>
              <a:t>•	Use docstrings for function behavior and security concerns</a:t>
            </a:r>
          </a:p>
          <a:p>
            <a:pPr marL="342900" indent="-342900"/>
            <a:r>
              <a:rPr lang="en-US" sz="3000"/>
              <a:t>•	Avoid inline comments disclosing security-sensitive information</a:t>
            </a:r>
          </a:p>
          <a:p>
            <a:pPr marL="342900" indent="-342900"/>
            <a:r>
              <a:rPr lang="en-US" sz="3000"/>
              <a:t>o	Instead of: # Hashing passwords with MD5 (insecure)</a:t>
            </a:r>
          </a:p>
          <a:p>
            <a:pPr marL="342900" indent="-342900"/>
            <a:r>
              <a:rPr lang="en-US" sz="3000"/>
              <a:t>o	Do This: # Securely hashing passwords using bcrypt</a:t>
            </a:r>
          </a:p>
          <a:p>
            <a:pPr marL="685800" indent="-457200"/>
            <a:endParaRPr lang="en-US" sz="2200" b="1">
              <a:latin typeface="Consolas" panose="020B0609020204030204" pitchFamily="49" charset="0"/>
            </a:endParaRPr>
          </a:p>
        </p:txBody>
      </p:sp>
    </p:spTree>
    <p:extLst>
      <p:ext uri="{BB962C8B-B14F-4D97-AF65-F5344CB8AC3E}">
        <p14:creationId xmlns:p14="http://schemas.microsoft.com/office/powerpoint/2010/main" val="32029171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644</TotalTime>
  <Words>2321</Words>
  <Application>Microsoft Office PowerPoint</Application>
  <PresentationFormat>Widescreen</PresentationFormat>
  <Paragraphs>228</Paragraphs>
  <Slides>32</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Aptos Display</vt:lpstr>
      <vt:lpstr>Arial</vt:lpstr>
      <vt:lpstr>Consolas</vt:lpstr>
      <vt:lpstr>Office Theme</vt:lpstr>
      <vt:lpstr>Summer Working  Connections 2025</vt:lpstr>
      <vt:lpstr>Day 1: Introductory Topics</vt:lpstr>
      <vt:lpstr>Introduction to Secure Version Control</vt:lpstr>
      <vt:lpstr>Introduction to Secure Version Control</vt:lpstr>
      <vt:lpstr>Introduction to Secure Version Control</vt:lpstr>
      <vt:lpstr>Secure Repository Setup</vt:lpstr>
      <vt:lpstr>Role-Based Access Control (RBAC)</vt:lpstr>
      <vt:lpstr>Student Repository Roles</vt:lpstr>
      <vt:lpstr>How to Create Branch Protection Rules in GitHub</vt:lpstr>
      <vt:lpstr>Branch Protection Rule Examples</vt:lpstr>
      <vt:lpstr>Branching Strategies and Secure Workflows</vt:lpstr>
      <vt:lpstr> Secure Code Contributions and Reviews</vt:lpstr>
      <vt:lpstr>Secrets Management / Preventing Leaks</vt:lpstr>
      <vt:lpstr>Automated Security Scanning</vt:lpstr>
      <vt:lpstr>Secure Commit Practices</vt:lpstr>
      <vt:lpstr>Access Control and Incident Response</vt:lpstr>
      <vt:lpstr>Backup and Disaster Recovery</vt:lpstr>
      <vt:lpstr>Integration with Secure Development Environments</vt:lpstr>
      <vt:lpstr>2.1 Secure Coding Environments</vt:lpstr>
      <vt:lpstr>2.2 Using Jupyter Notebooks and Colab for Secure Coding</vt:lpstr>
      <vt:lpstr>2.3 Using Notebooks for Secure Data Analysis</vt:lpstr>
      <vt:lpstr>3.1 Secure Coding Basics: Input Validation</vt:lpstr>
      <vt:lpstr>Python Coding Style Guidelines for Maintainable Code</vt:lpstr>
      <vt:lpstr>1. Readability and Maintainability</vt:lpstr>
      <vt:lpstr>2. Naming Conventions for Clarity and Security </vt:lpstr>
      <vt:lpstr>3. Avoid wildcard imports</vt:lpstr>
      <vt:lpstr>4. Whitespace and Readability to Avoid Logical Errors </vt:lpstr>
      <vt:lpstr>5. Proper Exception Handling </vt:lpstr>
      <vt:lpstr>5. Proper Exception Handling (cont)</vt:lpstr>
      <vt:lpstr>6. Mutability Awareness </vt:lpstr>
      <vt:lpstr>7. Code Organization and Modularization</vt:lpstr>
      <vt:lpstr>8. Documentation and Comments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33</cp:revision>
  <dcterms:created xsi:type="dcterms:W3CDTF">2025-02-10T02:34:02Z</dcterms:created>
  <dcterms:modified xsi:type="dcterms:W3CDTF">2025-02-26T18:57:29Z</dcterms:modified>
</cp:coreProperties>
</file>